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y="5143500" cx="9144000"/>
  <p:notesSz cx="5143500" cy="9144000"/>
  <p:embeddedFontLst>
    <p:embeddedFont>
      <p:font typeface="Roboto Slab"/>
      <p:regular r:id="rId84"/>
      <p:bold r:id="rId85"/>
    </p:embeddedFont>
    <p:embeddedFont>
      <p:font typeface="Roboto"/>
      <p:regular r:id="rId86"/>
      <p:bold r:id="rId87"/>
      <p:italic r:id="rId88"/>
      <p:boldItalic r:id="rId89"/>
    </p:embeddedFont>
    <p:embeddedFont>
      <p:font typeface="REM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370855-B6DB-492E-9220-44FD4A8FBF73}">
  <a:tblStyle styleId="{A7370855-B6DB-492E-9220-44FD4A8FBF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Slab-regular.fntdata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font" Target="fonts/Roboto-regular.fntdata"/><Relationship Id="rId41" Type="http://schemas.openxmlformats.org/officeDocument/2006/relationships/slide" Target="slides/slide36.xml"/><Relationship Id="rId85" Type="http://schemas.openxmlformats.org/officeDocument/2006/relationships/font" Target="fonts/RobotoSlab-bold.fntdata"/><Relationship Id="rId44" Type="http://schemas.openxmlformats.org/officeDocument/2006/relationships/slide" Target="slides/slide39.xml"/><Relationship Id="rId88" Type="http://schemas.openxmlformats.org/officeDocument/2006/relationships/font" Target="fonts/Roboto-italic.fntdata"/><Relationship Id="rId43" Type="http://schemas.openxmlformats.org/officeDocument/2006/relationships/slide" Target="slides/slide38.xml"/><Relationship Id="rId87" Type="http://schemas.openxmlformats.org/officeDocument/2006/relationships/font" Target="fonts/Roboto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EM-bold.fntdata"/><Relationship Id="rId90" Type="http://schemas.openxmlformats.org/officeDocument/2006/relationships/font" Target="fonts/REM-regular.fntdata"/><Relationship Id="rId93" Type="http://schemas.openxmlformats.org/officeDocument/2006/relationships/font" Target="fonts/REM-boldItalic.fntdata"/><Relationship Id="rId92" Type="http://schemas.openxmlformats.org/officeDocument/2006/relationships/font" Target="fonts/REM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6" name="Google Shape;1046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6" name="Google Shape;1146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6" name="Google Shape;116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0" name="Google Shape;121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9" name="Google Shape;123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5" name="Google Shape;136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4" name="Google Shape;138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2" name="Google Shape;1402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2" name="Google Shape;1442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1" name="Google Shape;1461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3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jp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jpg"/><Relationship Id="rId4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jpg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Relationship Id="rId4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Relationship Id="rId7" Type="http://schemas.openxmlformats.org/officeDocument/2006/relationships/image" Target="../media/image44.png"/><Relationship Id="rId8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jpg"/><Relationship Id="rId4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3.png"/><Relationship Id="rId4" Type="http://schemas.openxmlformats.org/officeDocument/2006/relationships/image" Target="../media/image58.png"/><Relationship Id="rId5" Type="http://schemas.openxmlformats.org/officeDocument/2006/relationships/image" Target="../media/image60.png"/><Relationship Id="rId6" Type="http://schemas.openxmlformats.org/officeDocument/2006/relationships/image" Target="../media/image70.png"/><Relationship Id="rId7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png"/><Relationship Id="rId4" Type="http://schemas.openxmlformats.org/officeDocument/2006/relationships/image" Target="../media/image72.png"/><Relationship Id="rId5" Type="http://schemas.openxmlformats.org/officeDocument/2006/relationships/image" Target="../media/image56.png"/><Relationship Id="rId6" Type="http://schemas.openxmlformats.org/officeDocument/2006/relationships/image" Target="../media/image66.png"/><Relationship Id="rId7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Relationship Id="rId11" Type="http://schemas.openxmlformats.org/officeDocument/2006/relationships/image" Target="../media/image73.png"/><Relationship Id="rId10" Type="http://schemas.openxmlformats.org/officeDocument/2006/relationships/image" Target="../media/image76.png"/><Relationship Id="rId12" Type="http://schemas.openxmlformats.org/officeDocument/2006/relationships/image" Target="../media/image80.png"/><Relationship Id="rId9" Type="http://schemas.openxmlformats.org/officeDocument/2006/relationships/image" Target="../media/image75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Relationship Id="rId7" Type="http://schemas.openxmlformats.org/officeDocument/2006/relationships/image" Target="../media/image86.png"/><Relationship Id="rId8" Type="http://schemas.openxmlformats.org/officeDocument/2006/relationships/image" Target="../media/image6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7.jpg"/><Relationship Id="rId4" Type="http://schemas.openxmlformats.org/officeDocument/2006/relationships/image" Target="../media/image6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9.jpg"/><Relationship Id="rId4" Type="http://schemas.openxmlformats.org/officeDocument/2006/relationships/image" Target="../media/image53.png"/><Relationship Id="rId5" Type="http://schemas.openxmlformats.org/officeDocument/2006/relationships/image" Target="../media/image6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9.jpg"/><Relationship Id="rId4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3.png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87.png"/><Relationship Id="rId13" Type="http://schemas.openxmlformats.org/officeDocument/2006/relationships/image" Target="../media/image90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8.png"/><Relationship Id="rId4" Type="http://schemas.openxmlformats.org/officeDocument/2006/relationships/image" Target="../media/image103.png"/><Relationship Id="rId9" Type="http://schemas.openxmlformats.org/officeDocument/2006/relationships/image" Target="../media/image78.png"/><Relationship Id="rId15" Type="http://schemas.openxmlformats.org/officeDocument/2006/relationships/image" Target="../media/image97.png"/><Relationship Id="rId14" Type="http://schemas.openxmlformats.org/officeDocument/2006/relationships/image" Target="../media/image91.png"/><Relationship Id="rId16" Type="http://schemas.openxmlformats.org/officeDocument/2006/relationships/image" Target="../media/image112.png"/><Relationship Id="rId5" Type="http://schemas.openxmlformats.org/officeDocument/2006/relationships/image" Target="../media/image92.png"/><Relationship Id="rId6" Type="http://schemas.openxmlformats.org/officeDocument/2006/relationships/image" Target="../media/image84.png"/><Relationship Id="rId7" Type="http://schemas.openxmlformats.org/officeDocument/2006/relationships/image" Target="../media/image82.png"/><Relationship Id="rId8" Type="http://schemas.openxmlformats.org/officeDocument/2006/relationships/image" Target="../media/image8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5.jpg"/><Relationship Id="rId4" Type="http://schemas.openxmlformats.org/officeDocument/2006/relationships/image" Target="../media/image1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4.jpg"/><Relationship Id="rId4" Type="http://schemas.openxmlformats.org/officeDocument/2006/relationships/image" Target="../media/image10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8.jpg"/><Relationship Id="rId4" Type="http://schemas.openxmlformats.org/officeDocument/2006/relationships/image" Target="../media/image96.png"/><Relationship Id="rId5" Type="http://schemas.openxmlformats.org/officeDocument/2006/relationships/image" Target="../media/image100.png"/><Relationship Id="rId6" Type="http://schemas.openxmlformats.org/officeDocument/2006/relationships/image" Target="../media/image1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6.png"/><Relationship Id="rId4" Type="http://schemas.openxmlformats.org/officeDocument/2006/relationships/image" Target="../media/image102.png"/><Relationship Id="rId5" Type="http://schemas.openxmlformats.org/officeDocument/2006/relationships/image" Target="../media/image101.png"/><Relationship Id="rId6" Type="http://schemas.openxmlformats.org/officeDocument/2006/relationships/image" Target="../media/image105.png"/><Relationship Id="rId7" Type="http://schemas.openxmlformats.org/officeDocument/2006/relationships/image" Target="../media/image111.png"/><Relationship Id="rId8" Type="http://schemas.openxmlformats.org/officeDocument/2006/relationships/image" Target="../media/image10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7.png"/><Relationship Id="rId4" Type="http://schemas.openxmlformats.org/officeDocument/2006/relationships/image" Target="../media/image108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13.png"/><Relationship Id="rId8" Type="http://schemas.openxmlformats.org/officeDocument/2006/relationships/image" Target="../media/image11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6.png"/><Relationship Id="rId4" Type="http://schemas.openxmlformats.org/officeDocument/2006/relationships/image" Target="../media/image115.png"/><Relationship Id="rId5" Type="http://schemas.openxmlformats.org/officeDocument/2006/relationships/image" Target="../media/image109.png"/><Relationship Id="rId6" Type="http://schemas.openxmlformats.org/officeDocument/2006/relationships/image" Target="../media/image126.png"/><Relationship Id="rId7" Type="http://schemas.openxmlformats.org/officeDocument/2006/relationships/image" Target="../media/image120.png"/><Relationship Id="rId8" Type="http://schemas.openxmlformats.org/officeDocument/2006/relationships/image" Target="../media/image11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7.jpg"/><Relationship Id="rId4" Type="http://schemas.openxmlformats.org/officeDocument/2006/relationships/image" Target="../media/image134.png"/><Relationship Id="rId5" Type="http://schemas.openxmlformats.org/officeDocument/2006/relationships/image" Target="../media/image13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2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33.png"/><Relationship Id="rId4" Type="http://schemas.openxmlformats.org/officeDocument/2006/relationships/image" Target="../media/image12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18.png"/><Relationship Id="rId4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8.jpg"/><Relationship Id="rId4" Type="http://schemas.openxmlformats.org/officeDocument/2006/relationships/image" Target="../media/image12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32.jp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3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0.jpg"/><Relationship Id="rId4" Type="http://schemas.openxmlformats.org/officeDocument/2006/relationships/image" Target="../media/image14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9.jpg"/><Relationship Id="rId4" Type="http://schemas.openxmlformats.org/officeDocument/2006/relationships/image" Target="../media/image135.png"/><Relationship Id="rId5" Type="http://schemas.openxmlformats.org/officeDocument/2006/relationships/image" Target="../media/image148.png"/></Relationships>
</file>

<file path=ppt/slides/_rels/slide7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4.png"/><Relationship Id="rId10" Type="http://schemas.openxmlformats.org/officeDocument/2006/relationships/image" Target="../media/image142.png"/><Relationship Id="rId13" Type="http://schemas.openxmlformats.org/officeDocument/2006/relationships/image" Target="../media/image153.png"/><Relationship Id="rId1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6.png"/><Relationship Id="rId4" Type="http://schemas.openxmlformats.org/officeDocument/2006/relationships/image" Target="../media/image138.png"/><Relationship Id="rId9" Type="http://schemas.openxmlformats.org/officeDocument/2006/relationships/image" Target="../media/image147.png"/><Relationship Id="rId14" Type="http://schemas.openxmlformats.org/officeDocument/2006/relationships/image" Target="../media/image150.png"/><Relationship Id="rId5" Type="http://schemas.openxmlformats.org/officeDocument/2006/relationships/image" Target="../media/image141.png"/><Relationship Id="rId6" Type="http://schemas.openxmlformats.org/officeDocument/2006/relationships/image" Target="../media/image149.png"/><Relationship Id="rId7" Type="http://schemas.openxmlformats.org/officeDocument/2006/relationships/image" Target="../media/image136.png"/><Relationship Id="rId8" Type="http://schemas.openxmlformats.org/officeDocument/2006/relationships/image" Target="../media/image15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59.jpg"/><Relationship Id="rId4" Type="http://schemas.openxmlformats.org/officeDocument/2006/relationships/image" Target="../media/image15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5.jpg"/><Relationship Id="rId4" Type="http://schemas.openxmlformats.org/officeDocument/2006/relationships/image" Target="../media/image154.png"/><Relationship Id="rId5" Type="http://schemas.openxmlformats.org/officeDocument/2006/relationships/image" Target="../media/image166.png"/><Relationship Id="rId6" Type="http://schemas.openxmlformats.org/officeDocument/2006/relationships/image" Target="../media/image156.png"/><Relationship Id="rId7" Type="http://schemas.openxmlformats.org/officeDocument/2006/relationships/image" Target="../media/image161.png"/><Relationship Id="rId8" Type="http://schemas.openxmlformats.org/officeDocument/2006/relationships/image" Target="../media/image15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1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58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63.png"/><Relationship Id="rId4" Type="http://schemas.openxmlformats.org/officeDocument/2006/relationships/image" Target="../media/image12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62.png"/><Relationship Id="rId4" Type="http://schemas.openxmlformats.org/officeDocument/2006/relationships/image" Target="../media/image164.png"/><Relationship Id="rId5" Type="http://schemas.openxmlformats.org/officeDocument/2006/relationships/image" Target="../media/image160.png"/><Relationship Id="rId6" Type="http://schemas.openxmlformats.org/officeDocument/2006/relationships/image" Target="../media/image16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3925119" y="607442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클론 코딩으로 오늘 MVP까지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925119" y="1181026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강사가 만든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앱 하나를 골라 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거꾸로 기획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 →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바이브 코딩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으로 →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배포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까지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925119" y="1519014"/>
            <a:ext cx="496119" cy="744215"/>
          </a:xfrm>
          <a:prstGeom prst="roundRect">
            <a:avLst>
              <a:gd fmla="val 500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0123" y="179806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4545211" y="1642988"/>
            <a:ext cx="4102671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0단계 기획 · 선택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925119" y="2387203"/>
            <a:ext cx="496119" cy="744215"/>
          </a:xfrm>
          <a:prstGeom prst="roundRect">
            <a:avLst>
              <a:gd fmla="val 500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0123" y="2666256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4545211" y="2511177"/>
            <a:ext cx="4102671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1단계 개발 프로세스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925119" y="3255392"/>
            <a:ext cx="496119" cy="744215"/>
          </a:xfrm>
          <a:prstGeom prst="roundRect">
            <a:avLst>
              <a:gd fmla="val 500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80123" y="3534445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545211" y="3379366"/>
            <a:ext cx="4102671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2단계 클론 실습 · MVP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925119" y="4139133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오늘은 90분 동안 쉬지 않고 한 줄로 갑니다. 앱 하나를 고르고, 그 앱이 어떻게 기획됐는지 거꾸로 뽑아내고, 똑같이 돌아가는 MVP를 만들어 인터넷에 올립니다.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496119" y="353318"/>
            <a:ext cx="4722763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0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P02 · 클론 코딩이란? — 명화 따라 그리기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791021"/>
            <a:ext cx="4722763" cy="267258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3450575" y="1126299"/>
            <a:ext cx="1079886" cy="134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잘 만든 것 관찰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450575" y="1333153"/>
            <a:ext cx="165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 앱의 흐름과 UI를 꼼꼼히 살펴본다.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84465" y="1653568"/>
            <a:ext cx="1079886" cy="134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구조 뜯어보기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08526" y="1860422"/>
            <a:ext cx="165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컴포넌트와 데이터 흐름을 분해해 이해한다.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450575" y="2182187"/>
            <a:ext cx="1079886" cy="134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설계도로 옮기기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450575" y="2389041"/>
            <a:ext cx="16557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구성과 연결도를 다이어그램으로 기록한다.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85215" y="2710131"/>
            <a:ext cx="1079886" cy="134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따라 만들기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09276" y="2916985"/>
            <a:ext cx="165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설계대로 코드를 구현하고 동작을 확인한다.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96119" y="3637583"/>
            <a:ext cx="2238449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🙅</a:t>
            </a:r>
            <a:r>
              <a:rPr b="0" i="0" lang="ko-KR" sz="1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그냥 복사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6119" y="3881661"/>
            <a:ext cx="2238449" cy="495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통째로 붙여넣기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남는 것: 파일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 이름·로고 그대로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912641" y="3555727"/>
            <a:ext cx="2383557" cy="850106"/>
          </a:xfrm>
          <a:prstGeom prst="roundRect">
            <a:avLst>
              <a:gd fmla="val 177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013397" y="3637583"/>
            <a:ext cx="2182044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🙆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클론 코딩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013397" y="3881661"/>
            <a:ext cx="2182044" cy="495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왜 이렇게 만들었는지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뜯어보고 다시 짓기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남는 것: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설계하는 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5240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"○○를 따라 만든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학습용 클론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"이라고 밝히기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96119" y="4497958"/>
            <a:ext cx="4722763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화가들도 명화를 따라 그리며 배웁니다. 오늘 따라 만들 원본은 강사가 직접 만든 앱이라 마음껏 뜯어봐도 됩니다. 단, 배포할 때는 "</a:t>
            </a:r>
            <a:r>
              <a:rPr b="1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학습용 클론"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이라고 밝힙니다.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3925119" y="756865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P03 · 오늘의 90분 — 바통 릴레이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344737"/>
            <a:ext cx="620167" cy="7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4669259" y="1468710"/>
            <a:ext cx="39786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0단계 · 기획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669259" y="1741736"/>
            <a:ext cx="39786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 1개 선택 · 역기획 → 클론 기획 캔버스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088952"/>
            <a:ext cx="620167" cy="91789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4669259" y="2212925"/>
            <a:ext cx="39786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1단계 · 개발 프로세스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669259" y="2485951"/>
            <a:ext cx="397862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캔버스를 프롬프트와 파이프라인으로 → v0 마스터 프롬프트 + 파이프라인 지도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3006849"/>
            <a:ext cx="620167" cy="7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4669259" y="3130823"/>
            <a:ext cx="39786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2단계 · 실습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69259" y="3403848"/>
            <a:ext cx="39786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v0 클론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배포 → CI/CD → 토론 → MVP 주소 + 다음 버전 백로그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925119" y="3890590"/>
            <a:ext cx="4722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49092" y="407037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4328071" y="4045521"/>
            <a:ext cx="4653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앞 단계의 결과물이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다음 단계의 재료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예요. 빠뜨리면 다음 주자가 못 뛰어요.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496119" y="362694"/>
            <a:ext cx="8151763" cy="3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00"/>
              <a:buFont typeface="Roboto Slab"/>
              <a:buNone/>
            </a:pPr>
            <a:r>
              <a:rPr b="0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P04 · </a:t>
            </a:r>
            <a:r>
              <a:rPr b="0" i="0" lang="ko-KR" sz="2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90분 타임라인 (쉬는 시간 없음)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64856" y="967011"/>
            <a:ext cx="14288" cy="350229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098652" y="1092845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439022" y="967011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483336" y="989149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96119" y="1007641"/>
            <a:ext cx="348473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00 – 25분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96119" y="1269429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0단계 기획 — </a:t>
            </a:r>
            <a:r>
              <a:rPr b="0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3앱 체험 · 1개 선택 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· 역기획 7단계 · 캔버스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690690" y="1791072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439022" y="1665238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483336" y="1687376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163145" y="1705868"/>
            <a:ext cx="348473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25 – 50분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163145" y="1967657"/>
            <a:ext cx="3484736" cy="369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1단계 개발 프로세스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b="0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바이브 코딩 · v0 · GitHub · 코딩 에이전트 · Vercel · CI/CD</a:t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098652" y="2396951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439022" y="2271117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483336" y="2293255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96119" y="2311747"/>
            <a:ext cx="348473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50 – 72분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96119" y="2573536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2단계 v0 클론 실습 — 뼈대 · 데이터 · 엔진 · 탐정 · 배포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690690" y="3002831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439022" y="2876996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483336" y="2899135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163145" y="2917627"/>
            <a:ext cx="348473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72 – 80분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163145" y="3179415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CI/CD 연결 시연 — GitHub · 에이전트 · Preview ·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098652" y="3608710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439022" y="3482876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483336" y="3505014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96119" y="3523506"/>
            <a:ext cx="348473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🟢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80 – 90분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96119" y="3785295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MVP 갤러리 · 토론 · 다음 버전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96119" y="4596036"/>
            <a:ext cx="860896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타임라인을 칠판 옆에 계속 띄워 둡니다. 밀리면 72~80분의 CI/CD 시연을 강사 시연 3분으로 줄입니다. 토론 10분은 지킵니다.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496119" y="777925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P05 · 오늘 끝에 보게 될 그림 — 먼저 보여 주기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96119" y="1863030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오늘 만들 MVP 구조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96119" y="2269406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82079" y="2201168"/>
            <a:ext cx="20241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손님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우리팀-클론.vercel.app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96119" y="2715890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82079" y="2725753"/>
            <a:ext cx="2024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화면 (v0)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repo.ts ·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engine.ts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96119" y="3360837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82079" y="3292599"/>
            <a:ext cx="20241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시드 JSON ·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localStorage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013546" y="1863030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오늘 연결할 파이프라인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013546" y="2269406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199507" y="2201168"/>
            <a:ext cx="20241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기획 캔버스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v0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🐙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013546" y="2914352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199507" y="2846115"/>
            <a:ext cx="20241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코딩 에이전트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CI 검사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013546" y="3360837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199507" y="3292599"/>
            <a:ext cx="20241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Vercel 자동 배포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URL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🙋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피드백 → 다시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96119" y="3968576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목적지를 먼저 보여 주면 90분 동안 길을 잃지 않습니다.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위는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"무엇을 짓나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", 아래는 "어떻게 짓나"입니다.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3925119" y="485403"/>
            <a:ext cx="90532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3999533" y="526292"/>
            <a:ext cx="121369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00:00 – 25:00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925119" y="723528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P06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0단계 · 기획 — 하나를 고르고, 거꾸로 기획한다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698947"/>
            <a:ext cx="4722763" cy="21251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4636554" y="1787213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i="0" lang="ko-KR" sz="10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3앱 체험</a:t>
            </a:r>
            <a:endParaRPr i="0" sz="1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636554" y="1951257"/>
            <a:ext cx="826463" cy="20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 앱을 빠르게 사용해본다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53935" y="3432193"/>
            <a:ext cx="831005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강사 기획 보기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53935" y="3596237"/>
            <a:ext cx="831005" cy="102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강사의 기획을 관찰한다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262234" y="1822406"/>
            <a:ext cx="826464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i="0" lang="ko-KR" sz="10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1개 선택</a:t>
            </a:r>
            <a:endParaRPr i="0" sz="1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262234" y="1986450"/>
            <a:ext cx="826464" cy="102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하나를 골라 집중한다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079616" y="3432193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역기획·클론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7079616" y="3596237"/>
            <a:ext cx="826463" cy="102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역기획 후 캔버스에 정리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925119" y="3963665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9092" y="414344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4328071" y="4118595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단계에서는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키보드를 잡지 않습니다.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눈 · 손가락 · 종이만 사용합니다. 0단계 25분은 전부 기획입니다. 노트북은 닫아 두세요.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3925119" y="358453"/>
            <a:ext cx="4722763" cy="554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00"/>
              <a:buFont typeface="Roboto Slab"/>
              <a:buNone/>
            </a:pPr>
            <a:r>
              <a:rPr b="0" i="0" lang="ko-KR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P07 · 강사가 직접 만든 앱 3개 — 지금 열어 보세요 </a:t>
            </a:r>
            <a:r>
              <a:rPr b="0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3925119" y="1004962"/>
            <a:ext cx="2330723" cy="655067"/>
          </a:xfrm>
          <a:prstGeom prst="roundRect">
            <a:avLst>
              <a:gd fmla="val 1997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4021857" y="1068228"/>
            <a:ext cx="2137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틴스파크AI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021857" y="1284238"/>
            <a:ext cx="2137246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답은 끝까지, 질문은 넓게 —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질문 코칭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askback-omega.vercel.app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317159" y="1004962"/>
            <a:ext cx="2330723" cy="655067"/>
          </a:xfrm>
          <a:prstGeom prst="roundRect">
            <a:avLst>
              <a:gd fmla="val 1997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413897" y="1068228"/>
            <a:ext cx="2137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🎭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TeenDramaro · 마음무대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13897" y="1284238"/>
            <a:ext cx="2137246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타로 × 사이코드라마 × AI 디렉터 —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이야기 연출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teen-dramaro.vercel.app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925119" y="1721346"/>
            <a:ext cx="4722763" cy="645542"/>
          </a:xfrm>
          <a:prstGeom prst="roundRect">
            <a:avLst>
              <a:gd fmla="val 2027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021857" y="1784612"/>
            <a:ext cx="45294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🅠 DeepQ · 딥큐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021857" y="1991097"/>
            <a:ext cx="4529286" cy="279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객관식 사진 → 서술형 + 루브릭 채점 —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문제 변환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deepq-omega.vercel.app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435870"/>
            <a:ext cx="4722763" cy="216143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7541347" y="4084029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한 문장 말하기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423920" y="4084029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체험 2분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312565" y="4084029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약 1분 읽기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176919" y="4084029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lang="ko-KR" sz="10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url 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ko-KR" sz="10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입력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925119" y="4666283"/>
            <a:ext cx="5179963" cy="11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팀원 3명이 각자 다른 앱을 하나씩 맡아 3분 체험한 뒤 서로 한 문장으로 소개하면 시간이 절약됩니다.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496119" y="355699"/>
            <a:ext cx="8151763" cy="296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50"/>
              <a:buFont typeface="Roboto Slab"/>
              <a:buNone/>
            </a:pPr>
            <a:r>
              <a:rPr b="0" i="0" lang="ko-KR" sz="18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P08 · 세 앱의 공통 비밀 — 서버 0 · 로그인 0 · AI 호출 0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797868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7002209" y="3040009"/>
            <a:ext cx="1190147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답변 제공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502299" y="3040009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생각 중…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010540" y="3040009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JSON 선택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518781" y="3040009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규칙 적용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994415" y="3040009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사용자 입력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0"/>
          <p:cNvGraphicFramePr/>
          <p:nvPr/>
        </p:nvGraphicFramePr>
        <p:xfrm>
          <a:off x="496119" y="38405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717750"/>
                <a:gridCol w="2717000"/>
                <a:gridCol w="2717000"/>
              </a:tblGrid>
              <a:tr h="23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질문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기술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Next.js + Vercel AI처럼 보이는 원리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JSON 시나리오 + 규칙 + 로딩 딜레이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Rule Engine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사용자 기록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브라우저 localStorage (이 기기에만)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Web Storage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그럼 핵심은?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코드가 아니라 기획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무엇을, 어떤 순서로, 어떤 답을 준비했나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4975" marL="949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496119" y="838423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P09 · MVP란? — 오늘 만드는 "가장 작은 진짜"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96119" y="1923529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🙅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케이크를 층별로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96119" y="2246114"/>
            <a:ext cx="221009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1층(빵)만 만들면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먹을 수 없음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 만들어야 쓸 수 있음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2924249" y="1799555"/>
            <a:ext cx="2388691" cy="955104"/>
          </a:xfrm>
          <a:prstGeom prst="roundRect">
            <a:avLst>
              <a:gd fmla="val 194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3048223" y="1923529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🙆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바퀴 → 킥보드 → 자전거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048223" y="2246114"/>
            <a:ext cx="214074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킥보드도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탈 수 있음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매 단계 쓸 수 있음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82154" y="3033713"/>
            <a:ext cx="4536728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MVP (Minimum Viable Product)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= 핵심 경험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하나</a:t>
            </a:r>
            <a:r>
              <a:rPr b="0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가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처음부터 끝까지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되는 가장 작은 제품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 MVP = 원본의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흐름 1개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 똑같이 돌아가게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96119" y="2894186"/>
            <a:ext cx="14288" cy="87444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96119" y="3908152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 앱의 기능을 전부 따라 하면 90분 안에 못 끝납니다. 핵심 흐름 하나만 끝까지 되게 하는 것이 오늘의 MVP입니다.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496119" y="378321"/>
            <a:ext cx="8151763" cy="351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P10 · 강사는 이렇게 기획했다 — 기획 8단계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933376"/>
            <a:ext cx="4024908" cy="7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/>
          <p:nvPr/>
        </p:nvSpPr>
        <p:spPr>
          <a:xfrm>
            <a:off x="2441153" y="1017687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22771" y="1382985"/>
            <a:ext cx="3771602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문제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899" y="933376"/>
            <a:ext cx="4024982" cy="7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/>
          <p:nvPr/>
        </p:nvSpPr>
        <p:spPr>
          <a:xfrm>
            <a:off x="6567934" y="1017687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749552" y="1382985"/>
            <a:ext cx="3771677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787128"/>
            <a:ext cx="4024908" cy="98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/>
          <p:nvPr/>
        </p:nvSpPr>
        <p:spPr>
          <a:xfrm>
            <a:off x="2441153" y="1871439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22771" y="2236738"/>
            <a:ext cx="3771602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한 줄 정의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2899" y="1787128"/>
            <a:ext cx="4024982" cy="98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6567934" y="1871439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749552" y="2236738"/>
            <a:ext cx="3771677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패턴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749552" y="2473449"/>
            <a:ext cx="37716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대화 루프 · 막 · 위자드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873425"/>
            <a:ext cx="4024908" cy="7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2441153" y="2957736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22771" y="3323034"/>
            <a:ext cx="3771602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흐름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899" y="2873425"/>
            <a:ext cx="4024982" cy="7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6567934" y="2957736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749552" y="3323034"/>
            <a:ext cx="3771677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기능 정의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727177"/>
            <a:ext cx="4024908" cy="7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/>
          <p:nvPr/>
        </p:nvSpPr>
        <p:spPr>
          <a:xfrm>
            <a:off x="2441153" y="3811488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22771" y="4176787"/>
            <a:ext cx="3771602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데이터 · 가짜 AI 규칙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899" y="3727177"/>
            <a:ext cx="4024982" cy="75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/>
          <p:nvPr/>
        </p:nvSpPr>
        <p:spPr>
          <a:xfrm>
            <a:off x="6567934" y="3811488"/>
            <a:ext cx="134838" cy="16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749552" y="4176787"/>
            <a:ext cx="3771677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안 만들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96119" y="4593654"/>
            <a:ext cx="86089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 앱 모두 이 순서로 기획했습니다. 키보드를 잡기 전에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⑧까지 종이 위에서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끝났습니다. 우리는 이걸 거꾸로 거슬러 올라갑니다. 그게 역기획입니다.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3" name="Google Shape;2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496119" y="345207"/>
            <a:ext cx="4722763" cy="7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P11 · 기획 vs 역기획 — 클론 코딩의 기획은 거꾸로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96119" y="1387153"/>
            <a:ext cx="2214786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➡️</a:t>
            </a:r>
            <a:r>
              <a:rPr b="0" i="0" lang="ko-KR" sz="1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기획 (강사)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96119" y="1696045"/>
            <a:ext cx="2214786" cy="649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558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문제 → … → 화면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558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상상해서 설계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558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빈 종이에서 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2922315" y="1270769"/>
            <a:ext cx="2387873" cy="1115095"/>
          </a:xfrm>
          <a:prstGeom prst="roundRect">
            <a:avLst>
              <a:gd fmla="val 161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3042419" y="1387153"/>
            <a:ext cx="2147664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⬅️</a:t>
            </a:r>
            <a:r>
              <a:rPr b="0" i="0" lang="ko-KR" sz="14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역기획 (우리)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3042419" y="1696045"/>
            <a:ext cx="2147664" cy="649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558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•"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 → … → 문제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558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•"/>
            </a:pP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써 보고 관찰해서</a:t>
            </a: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설계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558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Char char="•"/>
            </a:pP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완성품에서</a:t>
            </a: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516758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/>
          <p:nvPr/>
        </p:nvSpPr>
        <p:spPr>
          <a:xfrm>
            <a:off x="4312044" y="385871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MVP 자르기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414322" y="385871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기능 뽑기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2521479" y="385871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상태 흐름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628635" y="385871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지도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716276" y="385871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써 보기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96119" y="4419823"/>
            <a:ext cx="4722763" cy="37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역기획은 처음 기획보다 쉽습니다. </a:t>
            </a:r>
            <a:b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이미 정답(완성품)이 눈앞에 있으니까요. 그래서 첫 프로젝트로 클론 코딩이 좋습니다.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/>
          <p:nvPr/>
        </p:nvSpPr>
        <p:spPr>
          <a:xfrm>
            <a:off x="496125" y="482275"/>
            <a:ext cx="40836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앱 ① 틴스파크AI — 기획 카드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14"/>
          <p:cNvGraphicFramePr/>
          <p:nvPr/>
        </p:nvGraphicFramePr>
        <p:xfrm>
          <a:off x="496119" y="1187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963500"/>
                <a:gridCol w="1963500"/>
              </a:tblGrid>
              <a:tr h="34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기획 칸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내용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문제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학생들이 AI에게 "짜줘"만 하고, </a:t>
                      </a:r>
                      <a:r>
                        <a:rPr b="1" lang="ko-KR" sz="1050" u="none" cap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무엇을 왜 만드는지 설계를 안 한다</a:t>
                      </a:r>
                      <a:endParaRPr sz="1050" u="none" cap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페르소나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프로젝트를 시작하는 청소년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한 줄 정의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답은 끝까지, </a:t>
                      </a:r>
                      <a:r>
                        <a:rPr b="1" lang="ko-KR" sz="1050" u="none" cap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질문은 넓게</a:t>
                      </a: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— 질문하는 법을 코칭하는 AI 기획 코치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Before → After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"앱 만들어 줘" → "센서값 400은 어디서 왔지?"까지 스스로 묻기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패턴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대화 루프 + 턴 카운터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안 만든 것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가입 · 비밀번호 · 서버 저장 (기록은 이 기기에만)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2100" marL="122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254" name="Google Shape;2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5665" y="497309"/>
            <a:ext cx="3926979" cy="3926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/>
          <p:nvPr/>
        </p:nvSpPr>
        <p:spPr>
          <a:xfrm>
            <a:off x="496119" y="345058"/>
            <a:ext cx="8151763" cy="282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00"/>
              <a:buFont typeface="Roboto Slab"/>
              <a:buNone/>
            </a:pPr>
            <a:r>
              <a:rPr b="0" i="0" lang="ko-KR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P13 · </a:t>
            </a:r>
            <a:r>
              <a:rPr b="0" i="0" lang="ko-KR" sz="1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틴스파크 — 화면 흐름 · 핵심 기능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749722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5"/>
          <p:cNvSpPr/>
          <p:nvPr/>
        </p:nvSpPr>
        <p:spPr>
          <a:xfrm>
            <a:off x="7002209" y="2846819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2턴마다 역질문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5502299" y="2846819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답+되묻기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010540" y="2846819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질문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518781" y="2846819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형식 선택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994415" y="2846819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새 프로젝트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15"/>
          <p:cNvGraphicFramePr/>
          <p:nvPr/>
        </p:nvGraphicFramePr>
        <p:xfrm>
          <a:off x="496119" y="37796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717750"/>
                <a:gridCol w="2717000"/>
                <a:gridCol w="2717000"/>
              </a:tblGrid>
              <a:tr h="20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기능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가짜 AI 규칙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클론 난이도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질문 수준 O1~O5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"짜줘" = O1 · 조건어 의문문 = O3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★★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 + 되묻기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키워드 → 답 템플릿 + followUp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★★★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여섯 축 버튼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왜 · 맥락 · 제약 · 기준 · 검증 · 버릴 것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15"/>
          <p:cNvSpPr/>
          <p:nvPr/>
        </p:nvSpPr>
        <p:spPr>
          <a:xfrm>
            <a:off x="496119" y="4679677"/>
            <a:ext cx="8608963" cy="11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자유 질문에 답해야 해서 가짜로 만들기 가장 어렵습니다. 이 앱을 고른 팀에는 "여섯 축 버튼"부터 클론하라고 안내하세요.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>
            <a:off x="496119" y="489272"/>
            <a:ext cx="3938736" cy="712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P14 ·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🎭</a:t>
            </a:r>
            <a:r>
              <a:rPr b="0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앱 ② TeenDramaro · 마음무대 — 기획 카드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p16"/>
          <p:cNvGraphicFramePr/>
          <p:nvPr/>
        </p:nvGraphicFramePr>
        <p:xfrm>
          <a:off x="496119" y="131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969375"/>
                <a:gridCol w="1969375"/>
              </a:tblGrid>
              <a:tr h="30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기획 칸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내용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2"/>
                    </a:solidFill>
                  </a:tcPr>
                </a:tc>
              </a:tr>
              <a:tr h="47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문제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고민을 말로 꺼내기 어렵고, </a:t>
                      </a:r>
                      <a:r>
                        <a:rPr b="1"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늘 같은 선택을 반복</a:t>
                      </a: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한다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페르소나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관계 · 마음 고민이 있는 청소년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한 줄 정의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내가 만든 캐릭터를 무대에 올려, </a:t>
                      </a:r>
                      <a:r>
                        <a:rPr b="1"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늘 하던 선택을 찾고 다른 선택을 해 본다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Before → After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"몰라, 그냥 그래" → "다음엔 이렇게 말해 볼래" 한 문장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패턴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시나리오 막 머신 + 안전 가드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안 만든 것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서버 저장 · 진단 · 점술 </a:t>
                      </a:r>
                      <a:b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(타로는 </a:t>
                      </a:r>
                      <a:r>
                        <a:rPr b="1"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말문 여는 소품</a:t>
                      </a: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안전 약속</a:t>
                      </a:r>
                      <a:endParaRPr sz="10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50"/>
                        <a:buFont typeface="Roboto"/>
                        <a:buNone/>
                      </a:pPr>
                      <a:r>
                        <a:rPr lang="ko-KR" sz="10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한 판 25분 · 하루 3번 · 위험 신호 시 109 · 1388 안내</a:t>
                      </a:r>
                      <a:endParaRPr sz="10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2425" marL="1124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276" name="Google Shape;2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3908" y="501997"/>
            <a:ext cx="3938736" cy="393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/>
          <p:nvPr/>
        </p:nvSpPr>
        <p:spPr>
          <a:xfrm>
            <a:off x="496119" y="362024"/>
            <a:ext cx="8151763" cy="372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P15 · </a:t>
            </a:r>
            <a:r>
              <a:rPr b="0" i="0" lang="ko-KR" sz="2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🎭</a:t>
            </a: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TeenDramaro — 화면 흐름 · 안전 설계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952946"/>
            <a:ext cx="8151763" cy="2157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/>
          <p:cNvSpPr/>
          <p:nvPr/>
        </p:nvSpPr>
        <p:spPr>
          <a:xfrm>
            <a:off x="1124863" y="1682284"/>
            <a:ext cx="1232236" cy="22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접수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124863" y="1965675"/>
            <a:ext cx="1232236" cy="34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주제칩 입력 및 안전검사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2536915" y="1755093"/>
            <a:ext cx="1232236" cy="22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캐릭터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2536915" y="2038484"/>
            <a:ext cx="1232236" cy="34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인물 설정과 속성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3948967" y="1682284"/>
            <a:ext cx="1232236" cy="22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카드 뽑기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3948967" y="1965675"/>
            <a:ext cx="1232236" cy="34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난이도·가짜 AI 규칙 결정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5361019" y="1755093"/>
            <a:ext cx="1232236" cy="22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1막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5361019" y="2038484"/>
            <a:ext cx="1232236" cy="341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초기 장면과 </a:t>
            </a:r>
            <a:b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디렉터 질문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6780916" y="1682284"/>
            <a:ext cx="1232236" cy="22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2막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6780916" y="1965675"/>
            <a:ext cx="1232236" cy="1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전개와 갈등 심화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96119" y="3232621"/>
            <a:ext cx="8151763" cy="445368"/>
          </a:xfrm>
          <a:prstGeom prst="roundRect">
            <a:avLst>
              <a:gd fmla="val 3917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353" y="3387998"/>
            <a:ext cx="145331" cy="11623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7"/>
          <p:cNvSpPr/>
          <p:nvPr/>
        </p:nvSpPr>
        <p:spPr>
          <a:xfrm>
            <a:off x="873919" y="3370659"/>
            <a:ext cx="8114928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🛡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모든 입력 → </a:t>
            </a:r>
            <a:r>
              <a:rPr b="1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safety 검사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→ (위험) 안전 멈춤 · 상담전화 / (통과) →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디렉터 질문. 이 앱을 고른 팀은 safety 검사를 반드시 넣어야 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7"/>
          <p:cNvGraphicFramePr/>
          <p:nvPr/>
        </p:nvGraphicFramePr>
        <p:xfrm>
          <a:off x="496119" y="3800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758225"/>
                <a:gridCol w="3676525"/>
                <a:gridCol w="2717000"/>
              </a:tblGrid>
              <a:tr h="3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기능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가짜 AI 규칙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클론 난이도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막별 디렉터 질문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막마다 준비한 질문을 순서대로 · {이름} 치환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★★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4막 거울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사용자가 쓴 문장만 다시 보여 주기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3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</a:t>
                      </a:r>
                      <a:endParaRPr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496125" y="458475"/>
            <a:ext cx="4002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🅠 앱 ③ DeepQ · 딥큐 — 기획 카드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4" name="Google Shape;304;p18"/>
          <p:cNvGraphicFramePr/>
          <p:nvPr/>
        </p:nvGraphicFramePr>
        <p:xfrm>
          <a:off x="496119" y="989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967025"/>
                <a:gridCol w="1967025"/>
              </a:tblGrid>
              <a:tr h="3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기획 칸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내용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문제</a:t>
                      </a:r>
                      <a:endParaRPr sz="9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객관식만으로는 생각하는 힘을 보기 어렵고, </a:t>
                      </a:r>
                      <a:r>
                        <a:rPr b="1"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서술형은 만들기 · 채점이 힘들다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페르소나</a:t>
                      </a:r>
                      <a:endParaRPr sz="9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서술형 평가를 준비하는 선생님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한 줄 정의</a:t>
                      </a:r>
                      <a:endParaRPr sz="9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객관식 </a:t>
                      </a:r>
                      <a:r>
                        <a:rPr b="1"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사진 한 장</a:t>
                      </a: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→ 서술형 문제 + 루브릭 채점 + 공유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Before → After</a:t>
                      </a:r>
                      <a:endParaRPr sz="9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문제 하나에 30분 → 샘플 하나로 1분 만에 서술형 + 채점 기준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패턴</a:t>
                      </a:r>
                      <a:endParaRPr sz="9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🅲 </a:t>
                      </a:r>
                      <a:r>
                        <a:rPr b="1"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위자드 파이프라인 + 버전 + 채점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안 만든 것</a:t>
                      </a:r>
                      <a:endParaRPr sz="9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실제 OCR · 실제 AI 채점 · 다른 기기 공유 (→ 샘플 텍스트 · 키워드 규칙으로 대체)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305" name="Google Shape;3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596" y="472083"/>
            <a:ext cx="3934048" cy="393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P17 · 🅠 DeepQ — 화면 흐름 · 핵심 기능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596950"/>
            <a:ext cx="8151763" cy="366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9"/>
          <p:cNvSpPr/>
          <p:nvPr/>
        </p:nvSpPr>
        <p:spPr>
          <a:xfrm>
            <a:off x="1724067" y="793393"/>
            <a:ext cx="1426538" cy="2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업로드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1724077" y="1076550"/>
            <a:ext cx="18150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사진·직접입력·샘플 업로드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3134929" y="3610708"/>
            <a:ext cx="1434376" cy="2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OCR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3134929" y="3893860"/>
            <a:ext cx="1434376" cy="132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샘플텍스트 추출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4530115" y="832093"/>
            <a:ext cx="1426538" cy="2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변환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4530115" y="1115245"/>
            <a:ext cx="1426538" cy="132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서술형 4유형 변환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5940977" y="3610708"/>
            <a:ext cx="1426539" cy="2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다듬기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5940977" y="3893860"/>
            <a:ext cx="1426539" cy="132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v1 → v2 → v3 개선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19"/>
          <p:cNvGraphicFramePr/>
          <p:nvPr/>
        </p:nvGraphicFramePr>
        <p:xfrm>
          <a:off x="496119" y="4300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981350"/>
                <a:gridCol w="3453400"/>
                <a:gridCol w="2717000"/>
              </a:tblGrid>
              <a:tr h="12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기능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가짜 AI 규칙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클론 난이도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샘플로 바로 시작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samples.json 3개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변환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샘플 id → 미리 써 둔 서술형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루브릭 채점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항목별 키워드 포함 → 점수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★★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496119" y="986061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P18 · 세 앱 한눈에 — 무엇이 다르고, 무엇이 어렵나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8" name="Google Shape;328;p20"/>
          <p:cNvGraphicFramePr/>
          <p:nvPr/>
        </p:nvGraphicFramePr>
        <p:xfrm>
          <a:off x="496119" y="1621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653975"/>
                <a:gridCol w="2179400"/>
                <a:gridCol w="1896475"/>
                <a:gridCol w="242195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틴스파크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TeenDramaro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🅠 DeepQ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패턴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대화 루프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막 머신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🅲 위자드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 단계는 누가?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턴 수가 자동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사용자 버튼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사용자 버튼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가짜 AI 핵심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분류 + 답 + 되묻기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막별 질문 + 되돌려주기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템플릿 변환 + 키워드 채점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시드 JSON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formats · responses · quiz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cards · acts · safety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samples · templates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특별 모듈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내보내기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안전 · 이용 제한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2회 채점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90분 클론 난이도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★★★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★★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57B8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3257B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★ 추천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/>
          <p:nvPr/>
        </p:nvSpPr>
        <p:spPr>
          <a:xfrm>
            <a:off x="496119" y="354434"/>
            <a:ext cx="8151763" cy="288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50"/>
              <a:buFont typeface="Roboto Slab"/>
              <a:buNone/>
            </a:pPr>
            <a:r>
              <a:rPr b="0" i="0" lang="ko-KR" sz="1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P19 · </a:t>
            </a:r>
            <a:r>
              <a:rPr b="0" i="0" lang="ko-KR" sz="1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✋</a:t>
            </a:r>
            <a:r>
              <a:rPr b="0" i="0" lang="ko-KR" sz="1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하나를 고른다 — 선택 사다리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70632"/>
            <a:ext cx="6553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1"/>
          <p:cNvSpPr/>
          <p:nvPr/>
        </p:nvSpPr>
        <p:spPr>
          <a:xfrm>
            <a:off x="496119" y="4500265"/>
            <a:ext cx="8151763" cy="288801"/>
          </a:xfrm>
          <a:prstGeom prst="roundRect">
            <a:avLst>
              <a:gd fmla="val 463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67" y="4589487"/>
            <a:ext cx="111398" cy="8914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1"/>
          <p:cNvSpPr/>
          <p:nvPr/>
        </p:nvSpPr>
        <p:spPr>
          <a:xfrm>
            <a:off x="785813" y="4586585"/>
            <a:ext cx="8230121" cy="1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🗳</a:t>
            </a:r>
            <a:r>
              <a:rPr b="0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팀원 3명이 </a:t>
            </a:r>
            <a:r>
              <a:rPr b="1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손가락으로 동시에</a:t>
            </a:r>
            <a:r>
              <a:rPr b="0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가리키기 → 다르면 </a:t>
            </a:r>
            <a:r>
              <a:rPr b="1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난이도 낮은 쪽</a:t>
            </a:r>
            <a:r>
              <a:rPr b="0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으로. 고르는 데 1분 이상 쓰지 않게 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/>
          <p:nvPr/>
        </p:nvSpPr>
        <p:spPr>
          <a:xfrm>
            <a:off x="496119" y="852413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P20 · 선택했다면 — 오늘의 클론 목표를 한 줄로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22"/>
          <p:cNvGraphicFramePr/>
          <p:nvPr/>
        </p:nvGraphicFramePr>
        <p:xfrm>
          <a:off x="496119" y="1487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702450"/>
                <a:gridCol w="37323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선택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오늘 클론할 핵심 흐름 (MVP)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 버전으로 미룰 것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🅠 DeepQ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샘플 선택 → 서술형 변환 → 답안 입력 → </a:t>
                      </a:r>
                      <a:r>
                        <a:rPr b="1" lang="ko-KR" sz="1250" u="none" cap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루브릭 채점</a:t>
                      </a:r>
                      <a:endParaRPr sz="1250" u="none" cap="none" strike="noStrike">
                        <a:solidFill>
                          <a:srgbClr val="FF0000"/>
                        </a:solidFill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다듬기 버전 · 2회 채점 · 라이브러리 · Fork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TeenDramaro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주제 칩 → 캐릭터 → </a:t>
                      </a:r>
                      <a:r>
                        <a:rPr b="1" lang="ko-KR" sz="1250" u="none" cap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1~3막 질문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→ 거울 → 커튼콜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4·5막 리플레이 · 이용 제한 · 예시 무대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틴스파크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형식 선택 → 질문 → </a:t>
                      </a:r>
                      <a:r>
                        <a:rPr b="1" lang="ko-KR" sz="1250" u="none" cap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 + 되묻기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(키워드 5개)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O단계 진단 · 2문 1역 · 10문 리포트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6" name="Google Shape;346;p22"/>
          <p:cNvSpPr/>
          <p:nvPr/>
        </p:nvSpPr>
        <p:spPr>
          <a:xfrm>
            <a:off x="682154" y="3615035"/>
            <a:ext cx="8422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🎯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"우리는 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의 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흐름을, 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까지 되게 클론한다."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496119" y="3475509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96119" y="4092550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한 줄이 오늘의 MVP 정의입니다. 클론 기획 캔버스 맨 위에 그대로 적습니다.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/>
          <p:nvPr/>
        </p:nvSpPr>
        <p:spPr>
          <a:xfrm>
            <a:off x="496119" y="356964"/>
            <a:ext cx="8151763" cy="266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P21 · 역기획 ① 써 보기 — 사용자가 되어 3분 관찰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100" y="740643"/>
            <a:ext cx="4787801" cy="28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3"/>
          <p:cNvSpPr/>
          <p:nvPr/>
        </p:nvSpPr>
        <p:spPr>
          <a:xfrm>
            <a:off x="5510481" y="2766897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순서대로기록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4010581" y="2766897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처음부터끝까지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2486226" y="2766897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9" name="Google Shape;359;p23"/>
          <p:cNvGraphicFramePr/>
          <p:nvPr/>
        </p:nvGraphicFramePr>
        <p:xfrm>
          <a:off x="529744" y="3455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502400"/>
                <a:gridCol w="2573500"/>
                <a:gridCol w="2037950"/>
                <a:gridCol w="2037950"/>
              </a:tblGrid>
              <a:tr h="24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내가 한 행동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앱이 보여 준 것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그때 화면 주소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4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샘플 문제 클릭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문제 텍스트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 → 서술형 4유형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변환된 문제 카드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 (2단계)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답안 입력 · 채점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항목별 점수 + 힌트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 (6단계)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5275" marL="852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23"/>
          <p:cNvSpPr/>
          <p:nvPr/>
        </p:nvSpPr>
        <p:spPr>
          <a:xfrm>
            <a:off x="496119" y="4729442"/>
            <a:ext cx="8151900" cy="269100"/>
          </a:xfrm>
          <a:prstGeom prst="roundRect">
            <a:avLst>
              <a:gd fmla="val 475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397" y="4810851"/>
            <a:ext cx="106561" cy="8527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3"/>
          <p:cNvSpPr/>
          <p:nvPr/>
        </p:nvSpPr>
        <p:spPr>
          <a:xfrm>
            <a:off x="773237" y="4809289"/>
            <a:ext cx="82467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관찰 팁 — </a:t>
            </a:r>
            <a:r>
              <a:rPr b="1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주소창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바뀌는지, </a:t>
            </a:r>
            <a:r>
              <a:rPr b="1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새로고침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해도 남는지 꼭 보기. 역할을 나눕니다: 한 명은 사용, 한 명은 기록, 한 명은 주소창과 새로고침 담당입니다.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/>
          <p:nvPr/>
        </p:nvSpPr>
        <p:spPr>
          <a:xfrm>
            <a:off x="496119" y="710357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P22 · 역기획 ② 화면 지도 — 라우트 맵 그리기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496119" y="1407914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화면 구조 (DeepQ 클론 예시)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46052"/>
            <a:ext cx="1900312" cy="99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4"/>
          <p:cNvSpPr/>
          <p:nvPr/>
        </p:nvSpPr>
        <p:spPr>
          <a:xfrm>
            <a:off x="691530" y="1884313"/>
            <a:ext cx="156663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/ — 위자드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691530" y="2206898"/>
            <a:ext cx="156663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샘플 → 변환 → 채점 (핵심 흐름)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3" name="Google Shape;3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0404" y="1746052"/>
            <a:ext cx="1900312" cy="99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4"/>
          <p:cNvSpPr/>
          <p:nvPr/>
        </p:nvSpPr>
        <p:spPr>
          <a:xfrm>
            <a:off x="2715816" y="1884313"/>
            <a:ext cx="156663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📚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/problems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2715816" y="2206898"/>
            <a:ext cx="156663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만든 문제 목록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866058"/>
            <a:ext cx="1900312" cy="79757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4"/>
          <p:cNvSpPr/>
          <p:nvPr/>
        </p:nvSpPr>
        <p:spPr>
          <a:xfrm>
            <a:off x="691530" y="3004319"/>
            <a:ext cx="156663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🔖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/about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691530" y="3326904"/>
            <a:ext cx="156663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소개 스토리 (정적)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9" name="Google Shape;3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404" y="2866058"/>
            <a:ext cx="1900312" cy="79757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/>
          <p:nvPr/>
        </p:nvSpPr>
        <p:spPr>
          <a:xfrm>
            <a:off x="2715816" y="3004319"/>
            <a:ext cx="156663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⏭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/library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2715816" y="3326904"/>
            <a:ext cx="156663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공유 라이브러리 → </a:t>
            </a:r>
            <a:r>
              <a:rPr b="1" i="0" lang="ko-KR" sz="10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다음 버전</a:t>
            </a:r>
            <a:endParaRPr b="0" i="0" sz="10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4728046" y="1407914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라우트 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24"/>
          <p:cNvGraphicFramePr/>
          <p:nvPr/>
        </p:nvGraphicFramePr>
        <p:xfrm>
          <a:off x="4728046" y="1746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051825"/>
                <a:gridCol w="2278750"/>
                <a:gridCol w="59402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라우트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역할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오늘?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위자드 (샘플 → 변환 → 채점)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/problems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내가 만든 문제 목록 (localStorage)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/about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소개 스토리 (정적)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/library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공유 · Fork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4" name="Google Shape;384;p24"/>
          <p:cNvSpPr/>
          <p:nvPr/>
        </p:nvSpPr>
        <p:spPr>
          <a:xfrm>
            <a:off x="496119" y="4446756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지도는 v0 프롬프트의 [라우트] 칸이 됩니다. 점선 방(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⏭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)은 오늘 안 짓습니다.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P23 · 역기획 ③ 상태 흐름 — "지금 몇 단계?"를 그린다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679" y="596950"/>
            <a:ext cx="8084567" cy="348622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/>
          <p:nvPr/>
        </p:nvSpPr>
        <p:spPr>
          <a:xfrm>
            <a:off x="1073714" y="3422055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답안 입력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1073714" y="2615051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서술형 변환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1073714" y="1816198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문제 보기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1073714" y="1009193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샘플 선택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6" name="Google Shape;396;p25"/>
          <p:cNvGraphicFramePr/>
          <p:nvPr/>
        </p:nvGraphicFramePr>
        <p:xfrm>
          <a:off x="496119" y="411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717750"/>
                <a:gridCol w="2717000"/>
                <a:gridCol w="2717000"/>
              </a:tblGrid>
              <a:tr h="12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패턴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상태 단위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다음으로 넘기는 것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틴스파크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turn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턴 수 (자동)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TeenDramaro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다음 장면 버튼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🅲 DeepQ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 → 버튼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7" name="Google Shape;397;p25"/>
          <p:cNvSpPr/>
          <p:nvPr/>
        </p:nvSpPr>
        <p:spPr>
          <a:xfrm>
            <a:off x="496119" y="4939857"/>
            <a:ext cx="8151900" cy="164100"/>
          </a:xfrm>
          <a:prstGeom prst="roundRect">
            <a:avLst>
              <a:gd fmla="val 566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05" y="4986291"/>
            <a:ext cx="77465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5"/>
          <p:cNvSpPr/>
          <p:nvPr/>
        </p:nvSpPr>
        <p:spPr>
          <a:xfrm>
            <a:off x="697557" y="4987787"/>
            <a:ext cx="83454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화살표 위에 "무엇을 하면 넘어가는지"를 꼭 적게 하세요. 그게 버튼이 됩니다. 상태 이름 = 화면 위 </a:t>
            </a:r>
            <a:r>
              <a:rPr b="1" i="0" lang="ko-KR" sz="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진행 바</a:t>
            </a:r>
            <a:r>
              <a:rPr b="0" i="0" lang="ko-KR" sz="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의 칸 이름입니다.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"/>
          <p:cNvSpPr/>
          <p:nvPr/>
        </p:nvSpPr>
        <p:spPr>
          <a:xfrm>
            <a:off x="496119" y="341114"/>
            <a:ext cx="8151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P24 · 역기획 ④ 기능 뽑기 → MVP로 자르기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✂️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208" y="601712"/>
            <a:ext cx="7107585" cy="461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6"/>
          <p:cNvSpPr/>
          <p:nvPr/>
        </p:nvSpPr>
        <p:spPr>
          <a:xfrm>
            <a:off x="1301493" y="1501463"/>
            <a:ext cx="1402078" cy="2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모든 기능 적기</a:t>
            </a:r>
            <a:endParaRPr b="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1301493" y="1795940"/>
            <a:ext cx="1402078" cy="275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보이는 기능을 포스트잇에 모두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1627558" y="3746723"/>
            <a:ext cx="1402078" cy="2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Must</a:t>
            </a: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우선순위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1627558" y="4041200"/>
            <a:ext cx="1402078" cy="13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Must는 3~5개로 제한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6437011" y="2479657"/>
            <a:ext cx="1402078" cy="2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분류: </a:t>
            </a:r>
            <a:r>
              <a:rPr b="0" i="0" lang="ko-KR" sz="14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Must/Later</a:t>
            </a:r>
            <a:endParaRPr b="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6437011" y="2774134"/>
            <a:ext cx="1402078" cy="275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각 포스트잇을 Must 또는 Later로 구분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26"/>
          <p:cNvGraphicFramePr/>
          <p:nvPr/>
        </p:nvGraphicFramePr>
        <p:xfrm>
          <a:off x="496119" y="524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630350"/>
                <a:gridCol w="1630350"/>
                <a:gridCol w="1630350"/>
                <a:gridCol w="1630350"/>
                <a:gridCol w="1630350"/>
              </a:tblGrid>
              <a:tr h="12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기능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처리 (가짜)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저장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오늘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F-01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샘플 시작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samples.json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Must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F-02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서술형 변환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templates.json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localStorage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Must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F-03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루브릭 채점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키워드 규칙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localStorage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Must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F-04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힌트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0점 항목 → "+2점" 문장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Must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F-05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다듬기 v1~v3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Later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공유 · Fork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Later</a:t>
                      </a:r>
                      <a:endParaRPr sz="8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P25 · 역기획 ⑤ 데이터 뽑기 — 화면에 보인 글은 어디서 왔을까?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596950"/>
            <a:ext cx="8151763" cy="45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/>
          <p:nvPr/>
        </p:nvSpPr>
        <p:spPr>
          <a:xfrm>
            <a:off x="496119" y="5180409"/>
            <a:ext cx="8151763" cy="817811"/>
          </a:xfrm>
          <a:prstGeom prst="roundRect">
            <a:avLst>
              <a:gd fmla="val 1138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570533" y="5242396"/>
            <a:ext cx="8002935" cy="69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data/samples.json — 샘플 3개 (빈 화면 금지)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[{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"id": "sci-01",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"subject": "과학",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"title": "광합성에 필요한 요소",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"text": "다음 중 광합성에 필요한 요소가 아닌 것은? ① 빛 ② 물 ③ 이산화탄소 ④ 산소"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}]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496119" y="6034541"/>
            <a:ext cx="860896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질문 하나로 데이터 자리가 정해집니다. "모두에게 똑같나?" 샘플은 꼭 3개 이상 준비합니다. localStorage 키: </a:t>
            </a:r>
            <a:r>
              <a:rPr b="0" i="0" lang="ko-KR" sz="4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mq:problems · mq:submissions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8"/>
          <p:cNvSpPr/>
          <p:nvPr/>
        </p:nvSpPr>
        <p:spPr>
          <a:xfrm>
            <a:off x="496119" y="354062"/>
            <a:ext cx="8151763" cy="260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P26 · 역기획 ⑥ 가짜 AI 규칙 뽑기 — 응답 규칙표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0" name="Google Shape;4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407" y="726504"/>
            <a:ext cx="6339185" cy="29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/>
          <p:nvPr/>
        </p:nvSpPr>
        <p:spPr>
          <a:xfrm>
            <a:off x="6256361" y="2938803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default 추가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4756456" y="2938803"/>
            <a:ext cx="1190143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규칙 표기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3264702" y="2938803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응답 변화 찾기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1740341" y="2938803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입력 변형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5" name="Google Shape;435;p28"/>
          <p:cNvGraphicFramePr/>
          <p:nvPr/>
        </p:nvGraphicFramePr>
        <p:xfrm>
          <a:off x="496119" y="3690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088075"/>
                <a:gridCol w="2462375"/>
                <a:gridCol w="1815625"/>
                <a:gridCol w="2785725"/>
              </a:tblGrid>
              <a:tr h="2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입력 (답안)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매칭 키워드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앱의 답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"빛이 없어서 양분을 못 만들어서"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광합성 · 양분 · 빛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개념 3/3 · 근거 2/2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"시들었다"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(없음)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0/3 ·  "광합성과 연결하면 +3점"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default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그 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"조금 더 자세히 써 볼까요?"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"/>
          <p:cNvSpPr/>
          <p:nvPr/>
        </p:nvSpPr>
        <p:spPr>
          <a:xfrm>
            <a:off x="496119" y="1192262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P27 · 역기획 ⑦ 나만의 한 끗 · 안 만들 것 · 정직한 고지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496119" y="1827833"/>
            <a:ext cx="2634555" cy="917897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620092" y="1929491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✨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한 끗 1개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620092" y="2224832"/>
            <a:ext cx="238660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원본과 다른 점 하나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(과목 · 색 · 대상 · 샘플 주제)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3254648" y="1827833"/>
            <a:ext cx="2634630" cy="917897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9"/>
          <p:cNvSpPr/>
          <p:nvPr/>
        </p:nvSpPr>
        <p:spPr>
          <a:xfrm>
            <a:off x="3378622" y="1929491"/>
            <a:ext cx="2386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🚫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안 만들 것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3378622" y="2224832"/>
            <a:ext cx="23866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Later로 미룬 기능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+ 서버 · 로그인 · 실제 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6013252" y="1827833"/>
            <a:ext cx="2634555" cy="917897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9"/>
          <p:cNvSpPr/>
          <p:nvPr/>
        </p:nvSpPr>
        <p:spPr>
          <a:xfrm>
            <a:off x="6137225" y="1929491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🏷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정직한 고지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6137225" y="2224832"/>
            <a:ext cx="238660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"○○를 따라 만든 학습용 클론 · 규칙 기반 시뮬레이션 · 데이터는 이 브라우저에만"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1" name="Google Shape;451;p29"/>
          <p:cNvGraphicFramePr/>
          <p:nvPr/>
        </p:nvGraphicFramePr>
        <p:xfrm>
          <a:off x="496119" y="2885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037950"/>
                <a:gridCol w="2037950"/>
                <a:gridCol w="2037950"/>
                <a:gridCol w="203795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한 끗 예시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🅠 DeepQ 클론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TeenDramaro 클론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틴스파크 클론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대상 바꾸기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초등 과학 →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중학 사회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친구 관계 →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발표 불안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서비스 →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발명품 기획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2" name="Google Shape;452;p29"/>
          <p:cNvSpPr/>
          <p:nvPr/>
        </p:nvSpPr>
        <p:spPr>
          <a:xfrm>
            <a:off x="496119" y="3752701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끗은 딱 하나만. 원본 이름·로고는 쓰지 않고, 우리 앱 이름을 새로 짓습니다.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"/>
          <p:cNvSpPr/>
          <p:nvPr/>
        </p:nvSpPr>
        <p:spPr>
          <a:xfrm>
            <a:off x="496119" y="434876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P28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클론 기획 캔버스 — 0단계의 결과물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496119" y="1084734"/>
            <a:ext cx="4013895" cy="946472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0" name="Google Shape;460;p30"/>
          <p:cNvSpPr/>
          <p:nvPr/>
        </p:nvSpPr>
        <p:spPr>
          <a:xfrm>
            <a:off x="634380" y="1222995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🎯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클론 목표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634380" y="1496020"/>
            <a:ext cx="37373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 의 ____ 흐름을 ____ 까지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4633987" y="1084734"/>
            <a:ext cx="4013895" cy="946472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3" name="Google Shape;463;p30"/>
          <p:cNvSpPr/>
          <p:nvPr/>
        </p:nvSpPr>
        <p:spPr>
          <a:xfrm>
            <a:off x="4772248" y="1222995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🏷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이름 · 패턴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4772248" y="1496020"/>
            <a:ext cx="373737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앱 이름 : 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패턴 : ☐ A 대화 루프 ☐ B 막 머신 ☐ C 위자드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496119" y="2155180"/>
            <a:ext cx="4013895" cy="946472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6" name="Google Shape;466;p30"/>
          <p:cNvSpPr/>
          <p:nvPr/>
        </p:nvSpPr>
        <p:spPr>
          <a:xfrm>
            <a:off x="634380" y="2293441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라우트 · 상태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0"/>
          <p:cNvSpPr/>
          <p:nvPr/>
        </p:nvSpPr>
        <p:spPr>
          <a:xfrm>
            <a:off x="634380" y="2566467"/>
            <a:ext cx="373737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/ ____ /about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[____] → [____] → [____] → [결과]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4633987" y="2155180"/>
            <a:ext cx="4013895" cy="946472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9" name="Google Shape;469;p30"/>
          <p:cNvSpPr/>
          <p:nvPr/>
        </p:nvSpPr>
        <p:spPr>
          <a:xfrm>
            <a:off x="4772248" y="2293441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🧩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Must 기능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4772248" y="2566467"/>
            <a:ext cx="37373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F-01 ____ F-02 ____ F-03 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0"/>
          <p:cNvSpPr/>
          <p:nvPr/>
        </p:nvSpPr>
        <p:spPr>
          <a:xfrm>
            <a:off x="496119" y="3225626"/>
            <a:ext cx="4013895" cy="1144935"/>
          </a:xfrm>
          <a:prstGeom prst="roundRect">
            <a:avLst>
              <a:gd fmla="val 1625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2" name="Google Shape;472;p30"/>
          <p:cNvSpPr/>
          <p:nvPr/>
        </p:nvSpPr>
        <p:spPr>
          <a:xfrm>
            <a:off x="634380" y="3363888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데이터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634380" y="3636913"/>
            <a:ext cx="3737372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시드 JSON : ____.json (샘플 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저장 키 : ____:____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 : 키워드 → 답 3줄 + default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4633987" y="3225626"/>
            <a:ext cx="4013895" cy="1144935"/>
          </a:xfrm>
          <a:prstGeom prst="roundRect">
            <a:avLst>
              <a:gd fmla="val 1625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75" name="Google Shape;475;p30"/>
          <p:cNvSpPr/>
          <p:nvPr/>
        </p:nvSpPr>
        <p:spPr>
          <a:xfrm>
            <a:off x="4772248" y="3363888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✨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한 끗 · </a:t>
            </a: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🚫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안 만들 것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4772248" y="3636913"/>
            <a:ext cx="373737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끗 : 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안 만들 것 : 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496119" y="4510088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앞의 역기획 7장을 한 장으로 모은 것입니다. 이 캔버스가 첫 번째 바통입니다.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"/>
          <p:cNvSpPr/>
          <p:nvPr/>
        </p:nvSpPr>
        <p:spPr>
          <a:xfrm>
            <a:off x="496119" y="448121"/>
            <a:ext cx="3948261" cy="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50"/>
              <a:buFont typeface="Roboto Slab"/>
              <a:buNone/>
            </a:pPr>
            <a:r>
              <a:rPr b="0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P29 · 캔버스 예시 — 🅠 DeepQ 클론 "미니딥큐"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4" name="Google Shape;484;p31"/>
          <p:cNvGraphicFramePr/>
          <p:nvPr/>
        </p:nvGraphicFramePr>
        <p:xfrm>
          <a:off x="496119" y="12015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943400"/>
                <a:gridCol w="3004850"/>
              </a:tblGrid>
              <a:tr h="27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작성 예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클론 목표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DeepQ의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샘플 → 변환 → 채점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흐름을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점수와 힌트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까지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이름 · 패턴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미니딥큐 · 🅲 위자드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라우트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 위자드 · /problems 내 문제 · /about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상태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[샘플 선택] → [서술형 보기] → [답안 입력] → [결과 · 힌트]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Must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F-01 샘플 시작 · F-02 변환 · F-03 루브릭 채점 · F-04 힌트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시드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samples.json (3) · templates.json (변환 + 루브릭)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저장 키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mq:problems · mq:submissions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한 끗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과목을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중학 사회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로 ·  다듬기 · 공유 · 2회 채점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4675" marL="1046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5" name="Google Shape;485;p31"/>
          <p:cNvSpPr/>
          <p:nvPr/>
        </p:nvSpPr>
        <p:spPr>
          <a:xfrm>
            <a:off x="496119" y="4549676"/>
            <a:ext cx="4405461" cy="1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이후 1단계 · 2단계의 모든 예시는 이 "미니딥큐"로 이어집니다.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4383" y="459209"/>
            <a:ext cx="3948261" cy="394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2" name="Google Shape;4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2"/>
          <p:cNvSpPr/>
          <p:nvPr/>
        </p:nvSpPr>
        <p:spPr>
          <a:xfrm>
            <a:off x="496119" y="344909"/>
            <a:ext cx="4722763" cy="266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P30 · 캔버스 예시 — 시드 JSON + 루브릭 규칙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2"/>
          <p:cNvSpPr/>
          <p:nvPr/>
        </p:nvSpPr>
        <p:spPr>
          <a:xfrm>
            <a:off x="496119" y="699269"/>
            <a:ext cx="4722763" cy="2080171"/>
          </a:xfrm>
          <a:prstGeom prst="roundRect">
            <a:avLst>
              <a:gd fmla="val 615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2"/>
          <p:cNvSpPr/>
          <p:nvPr/>
        </p:nvSpPr>
        <p:spPr>
          <a:xfrm>
            <a:off x="598438" y="784547"/>
            <a:ext cx="4518124" cy="190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data/templates.json — 샘플별 변환 결과 + 루브릭 (= 가짜 AI의 두뇌)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"sci-01": {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"converted": [{ "type": "원리 설명",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"text": "식물을 빛이 없는 상자에 3일간 두었더니 잎이 시들었다.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       그 이유를 광합성과 연결하여 설명하시오." }],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"rubric": [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{ "name": "핵심 개념", "max": 3, "keywords": ["광합성","양분","포도당"] 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{ "name": "논리", "max": 3, "keywords": ["때문에","그래서","따라서"] 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{ "name": "근거", "max": 2, "keywords": ["빛","에너지"] },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{ "name": "완성도", "max": 2, "minLength": 30 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650"/>
              <a:buFont typeface="Consolas"/>
              <a:buNone/>
            </a:pPr>
            <a:r>
              <a:rPr b="0" i="0" lang="ko-KR" sz="6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6" name="Google Shape;4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845371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2"/>
          <p:cNvSpPr/>
          <p:nvPr/>
        </p:nvSpPr>
        <p:spPr>
          <a:xfrm>
            <a:off x="4312044" y="4187330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힌트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2"/>
          <p:cNvSpPr/>
          <p:nvPr/>
        </p:nvSpPr>
        <p:spPr>
          <a:xfrm>
            <a:off x="3414322" y="4187330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0점 항목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2"/>
          <p:cNvSpPr/>
          <p:nvPr/>
        </p:nvSpPr>
        <p:spPr>
          <a:xfrm>
            <a:off x="2521479" y="4187330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점수 합계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1628635" y="4187330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키워드 검사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716276" y="4187330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답안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496119" y="4683472"/>
            <a:ext cx="5179963" cy="115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JSON은 종이에 대충 써 와도 됩니다. 2단계에서 v0에 그대로 붙여넣습니다.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8" name="Google Shape;5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3"/>
          <p:cNvSpPr/>
          <p:nvPr/>
        </p:nvSpPr>
        <p:spPr>
          <a:xfrm>
            <a:off x="496119" y="522908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P31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🏃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바통 ① — 0단계 → 1단계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3"/>
          <p:cNvSpPr/>
          <p:nvPr/>
        </p:nvSpPr>
        <p:spPr>
          <a:xfrm>
            <a:off x="682154" y="1250305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 기획 캔버스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(목표 · 라우트 · 상태 · Must 기능 · 시드 JSON · 규칙 · 한 끗) →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1단계에서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 마스터 프롬프트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와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 파이프라인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으로 바뀝니다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3"/>
          <p:cNvSpPr/>
          <p:nvPr/>
        </p:nvSpPr>
        <p:spPr>
          <a:xfrm>
            <a:off x="496119" y="1110779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899145" y="1968922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클론 목표 한 줄이 있다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3"/>
          <p:cNvSpPr/>
          <p:nvPr/>
        </p:nvSpPr>
        <p:spPr>
          <a:xfrm>
            <a:off x="899145" y="2495996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Must 기능이 5개 이하다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3"/>
          <p:cNvSpPr/>
          <p:nvPr/>
        </p:nvSpPr>
        <p:spPr>
          <a:xfrm>
            <a:off x="899145" y="3023071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샘플 3개 + default 규칙이 있다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3"/>
          <p:cNvSpPr/>
          <p:nvPr/>
        </p:nvSpPr>
        <p:spPr>
          <a:xfrm>
            <a:off x="899145" y="3550146"/>
            <a:ext cx="431973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안 만들 것이 적혀 있다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3"/>
          <p:cNvSpPr/>
          <p:nvPr/>
        </p:nvSpPr>
        <p:spPr>
          <a:xfrm>
            <a:off x="496119" y="3926086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7" name="Google Shape;51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10587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3"/>
          <p:cNvSpPr/>
          <p:nvPr/>
        </p:nvSpPr>
        <p:spPr>
          <a:xfrm>
            <a:off x="899071" y="4081016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25분 지점입니다. 캔버스가 비어 있는 팀은 "미니딥큐" 예시를 그대로 가져가도 됩니다. 흐름이 끊기지 않는 것이 더 중요합니다.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4" name="Google Shape;52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4"/>
          <p:cNvSpPr/>
          <p:nvPr/>
        </p:nvSpPr>
        <p:spPr>
          <a:xfrm>
            <a:off x="496119" y="810667"/>
            <a:ext cx="90532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4"/>
          <p:cNvSpPr/>
          <p:nvPr/>
        </p:nvSpPr>
        <p:spPr>
          <a:xfrm>
            <a:off x="570533" y="851555"/>
            <a:ext cx="121369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25:00 – 50:00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496119" y="1048792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P32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1단계 · 개발 프로세스 — 캔버스가 인터넷 주소가 되기까지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8" name="Google Shape;52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024211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4"/>
          <p:cNvSpPr/>
          <p:nvPr/>
        </p:nvSpPr>
        <p:spPr>
          <a:xfrm>
            <a:off x="4312044" y="336617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코딩 에이전트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3414322" y="336617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GitHub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4"/>
          <p:cNvSpPr/>
          <p:nvPr/>
        </p:nvSpPr>
        <p:spPr>
          <a:xfrm>
            <a:off x="2521479" y="336617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4"/>
          <p:cNvSpPr/>
          <p:nvPr/>
        </p:nvSpPr>
        <p:spPr>
          <a:xfrm>
            <a:off x="1628635" y="336617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4"/>
          <p:cNvSpPr/>
          <p:nvPr/>
        </p:nvSpPr>
        <p:spPr>
          <a:xfrm>
            <a:off x="716276" y="336617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캔버스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4"/>
          <p:cNvSpPr/>
          <p:nvPr/>
        </p:nvSpPr>
        <p:spPr>
          <a:xfrm>
            <a:off x="496119" y="3935909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단계는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지도를 머리에 넣는 시간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입니다. 손은 2단계에서 움직입니다. 0단계에서 만든 캔버스를 책상 위에 펼친 채로 1단계를 들으세요. 모든 설명이 그 캔버스와 연결됩니다.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"/>
          <p:cNvSpPr/>
          <p:nvPr/>
        </p:nvSpPr>
        <p:spPr>
          <a:xfrm>
            <a:off x="496119" y="341114"/>
            <a:ext cx="8151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P33 · 바이브 코딩 = 말한다 → 본다 → 다듬는다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/>
          <p:nvPr/>
        </p:nvSpPr>
        <p:spPr>
          <a:xfrm>
            <a:off x="496119" y="617190"/>
            <a:ext cx="4000277" cy="1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🔄</a:t>
            </a:r>
            <a:r>
              <a:rPr b="0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반복 순환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2" name="Google Shape;5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69" y="753666"/>
            <a:ext cx="3200177" cy="320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3" name="Google Shape;5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6411" y="2114662"/>
            <a:ext cx="92794" cy="9279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5"/>
          <p:cNvSpPr/>
          <p:nvPr/>
        </p:nvSpPr>
        <p:spPr>
          <a:xfrm>
            <a:off x="427899" y="2500363"/>
            <a:ext cx="13707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🗣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말한다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5" name="Google Shape;54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169" y="753666"/>
            <a:ext cx="3200177" cy="320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68290" y="1447986"/>
            <a:ext cx="92794" cy="92794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5"/>
          <p:cNvSpPr/>
          <p:nvPr/>
        </p:nvSpPr>
        <p:spPr>
          <a:xfrm>
            <a:off x="3027549" y="1096562"/>
            <a:ext cx="13707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본다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8" name="Google Shape;548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6169" y="753666"/>
            <a:ext cx="3200177" cy="3200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9" name="Google Shape;549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34767" y="3359088"/>
            <a:ext cx="92794" cy="9279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5"/>
          <p:cNvSpPr/>
          <p:nvPr/>
        </p:nvSpPr>
        <p:spPr>
          <a:xfrm>
            <a:off x="3261074" y="3354636"/>
            <a:ext cx="13707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🔧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다듬는다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4756700" y="2435825"/>
            <a:ext cx="4387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🎼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지휘자와 연주자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4756700" y="2921913"/>
            <a:ext cx="33900" cy="882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53" name="Google Shape;553;p35"/>
          <p:cNvSpPr/>
          <p:nvPr/>
        </p:nvSpPr>
        <p:spPr>
          <a:xfrm>
            <a:off x="4824602" y="2824782"/>
            <a:ext cx="43194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🎼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 = 지휘자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(무엇을 · 왜 · 누구를 위해 · 써도 안전한가)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4756700" y="3328047"/>
            <a:ext cx="33900" cy="882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55" name="Google Shape;555;p35"/>
          <p:cNvSpPr/>
          <p:nvPr/>
        </p:nvSpPr>
        <p:spPr>
          <a:xfrm>
            <a:off x="4824602" y="3213312"/>
            <a:ext cx="43194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v0 = 화면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5"/>
          <p:cNvSpPr/>
          <p:nvPr/>
        </p:nvSpPr>
        <p:spPr>
          <a:xfrm>
            <a:off x="4756700" y="3734182"/>
            <a:ext cx="33900" cy="882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57" name="Google Shape;557;p35"/>
          <p:cNvSpPr/>
          <p:nvPr/>
        </p:nvSpPr>
        <p:spPr>
          <a:xfrm>
            <a:off x="4824602" y="3601845"/>
            <a:ext cx="43194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🎺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코딩 에이전트 = 코드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5"/>
          <p:cNvSpPr/>
          <p:nvPr/>
        </p:nvSpPr>
        <p:spPr>
          <a:xfrm>
            <a:off x="4756700" y="4140316"/>
            <a:ext cx="33900" cy="882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59" name="Google Shape;559;p35"/>
          <p:cNvSpPr/>
          <p:nvPr/>
        </p:nvSpPr>
        <p:spPr>
          <a:xfrm>
            <a:off x="4824602" y="3990374"/>
            <a:ext cx="43194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Vercel = 배포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5"/>
          <p:cNvSpPr/>
          <p:nvPr/>
        </p:nvSpPr>
        <p:spPr>
          <a:xfrm>
            <a:off x="4756700" y="4546450"/>
            <a:ext cx="33900" cy="882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61" name="Google Shape;561;p35"/>
          <p:cNvSpPr/>
          <p:nvPr/>
        </p:nvSpPr>
        <p:spPr>
          <a:xfrm>
            <a:off x="4824602" y="4378907"/>
            <a:ext cx="43194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🐙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GitHub = 악보 보관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7" name="Google Shape;5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6"/>
          <p:cNvSpPr/>
          <p:nvPr/>
        </p:nvSpPr>
        <p:spPr>
          <a:xfrm>
            <a:off x="3925119" y="347439"/>
            <a:ext cx="4722763" cy="714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P34 · 기획서가 있는 바이브 코딩 vs 그냥 시키기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3925119" y="1325612"/>
            <a:ext cx="2221929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그냥 시키기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6"/>
          <p:cNvSpPr/>
          <p:nvPr/>
        </p:nvSpPr>
        <p:spPr>
          <a:xfrm>
            <a:off x="3925119" y="1614413"/>
            <a:ext cx="2221929" cy="813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"딥큐 같은 앱 만들어 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AI가 상상해서 매번 다른 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고칠 때 어디를 고칠지 모름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· 로그인까지 멋대로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6"/>
          <p:cNvSpPr/>
          <p:nvPr/>
        </p:nvSpPr>
        <p:spPr>
          <a:xfrm>
            <a:off x="6348412" y="1220242"/>
            <a:ext cx="2386533" cy="1420713"/>
          </a:xfrm>
          <a:prstGeom prst="roundRect">
            <a:avLst>
              <a:gd fmla="val 120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6"/>
          <p:cNvSpPr/>
          <p:nvPr/>
        </p:nvSpPr>
        <p:spPr>
          <a:xfrm>
            <a:off x="6462712" y="1325612"/>
            <a:ext cx="2157933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😎</a:t>
            </a:r>
            <a:r>
              <a:rPr b="0" i="0" lang="ko-KR" sz="1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기획서가 있는 바이브 코딩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6462712" y="1614413"/>
            <a:ext cx="2157933" cy="98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캔버스의 </a:t>
            </a: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목표 · 라우트 · 상태 · 기능 · 데이터 · 규칙</a:t>
            </a: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을 프롬프트로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원본과 </a:t>
            </a: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같은 흐름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캔버스 </a:t>
            </a: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칸 단위로</a:t>
            </a: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고침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Char char="•"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만들지 말 것</a:t>
            </a: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"까지 지정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4" name="Google Shape;57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759497"/>
            <a:ext cx="4722763" cy="2036564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6"/>
          <p:cNvSpPr/>
          <p:nvPr/>
        </p:nvSpPr>
        <p:spPr>
          <a:xfrm>
            <a:off x="4242912" y="4409852"/>
            <a:ext cx="1071435" cy="13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v0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6"/>
          <p:cNvSpPr/>
          <p:nvPr/>
        </p:nvSpPr>
        <p:spPr>
          <a:xfrm>
            <a:off x="4242912" y="3938420"/>
            <a:ext cx="1071435" cy="13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마스터 프롬프트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6"/>
          <p:cNvSpPr/>
          <p:nvPr/>
        </p:nvSpPr>
        <p:spPr>
          <a:xfrm>
            <a:off x="4242912" y="3471751"/>
            <a:ext cx="1071435" cy="13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변환표 작성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6"/>
          <p:cNvSpPr/>
          <p:nvPr/>
        </p:nvSpPr>
        <p:spPr>
          <a:xfrm>
            <a:off x="4242912" y="3000319"/>
            <a:ext cx="1071435" cy="13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캔버스 정의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7"/>
          <p:cNvSpPr/>
          <p:nvPr/>
        </p:nvSpPr>
        <p:spPr>
          <a:xfrm>
            <a:off x="496119" y="341114"/>
            <a:ext cx="8151763" cy="385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P35 · 전체 개발 파이프라인 — 한 장 지도 </a:t>
            </a:r>
            <a:r>
              <a:rPr b="0" i="0" lang="ko-KR" sz="2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5" name="Google Shape;5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148574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7"/>
          <p:cNvSpPr/>
          <p:nvPr/>
        </p:nvSpPr>
        <p:spPr>
          <a:xfrm>
            <a:off x="616223" y="1745598"/>
            <a:ext cx="2477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기획 캔버스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7" name="Google Shape;58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148574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7"/>
          <p:cNvSpPr/>
          <p:nvPr/>
        </p:nvSpPr>
        <p:spPr>
          <a:xfrm>
            <a:off x="3333452" y="1745598"/>
            <a:ext cx="2477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3333452" y="2007907"/>
            <a:ext cx="2477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프로토타입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0" name="Google Shape;59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148574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7"/>
          <p:cNvSpPr/>
          <p:nvPr/>
        </p:nvSpPr>
        <p:spPr>
          <a:xfrm>
            <a:off x="6050682" y="1745598"/>
            <a:ext cx="2477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🐙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6050682" y="2007907"/>
            <a:ext cx="2477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 보관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3" name="Google Shape;59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730072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7"/>
          <p:cNvSpPr/>
          <p:nvPr/>
        </p:nvSpPr>
        <p:spPr>
          <a:xfrm>
            <a:off x="616223" y="3327096"/>
            <a:ext cx="2477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에이전트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616223" y="3589406"/>
            <a:ext cx="2477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구조 정리 · 기능 추가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6" name="Google Shape;596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3348" y="2730072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7"/>
          <p:cNvSpPr/>
          <p:nvPr/>
        </p:nvSpPr>
        <p:spPr>
          <a:xfrm>
            <a:off x="3333452" y="3327096"/>
            <a:ext cx="2477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CI · </a:t>
            </a: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Vercel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3333452" y="3589406"/>
            <a:ext cx="2477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검사 → 자동 배포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8"/>
          <p:cNvSpPr/>
          <p:nvPr/>
        </p:nvSpPr>
        <p:spPr>
          <a:xfrm>
            <a:off x="496119" y="891480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P36 · 도구 5개의 역할 — 가게 짓기 비유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5" name="Google Shape;605;p38"/>
          <p:cNvGraphicFramePr/>
          <p:nvPr/>
        </p:nvGraphicFramePr>
        <p:xfrm>
          <a:off x="496119" y="154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613975"/>
                <a:gridCol w="2004475"/>
                <a:gridCol w="3075575"/>
                <a:gridCol w="14577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도구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비유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하는 일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오늘 누가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v0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인테리어 디자이너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말과 그림으로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화면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만들기 · 미리보기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팀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설계도 금고 · 세이브 파일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보관 · 기록 · 협업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강사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코딩 에이전트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시공팀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코드를 읽고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고치고 실행해서 확인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강사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Vercel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상가 건물주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가게 자리 +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주소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빌려주기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팀 (Publish)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CI/CD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자동 검수 컨베이어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올리면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자동 검사 → 자동 개점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강사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6" name="Google Shape;606;p38"/>
          <p:cNvSpPr/>
          <p:nvPr/>
        </p:nvSpPr>
        <p:spPr>
          <a:xfrm>
            <a:off x="535044" y="4343657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팀이 직접 만지는 건 v0와 Vercel Publish입니다. </a:t>
            </a:r>
            <a:r>
              <a:rPr b="0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GitHub · 에이전트 · CI/CD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는 강사 시연으로 흐름을 봅니다.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9"/>
          <p:cNvSpPr/>
          <p:nvPr/>
        </p:nvSpPr>
        <p:spPr>
          <a:xfrm>
            <a:off x="496119" y="369317"/>
            <a:ext cx="815176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0" i="0" lang="ko-KR" sz="2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P37 · 클론할 구조 — 원본 3개가 공유하는 5개 레이어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9"/>
          <p:cNvSpPr/>
          <p:nvPr/>
        </p:nvSpPr>
        <p:spPr>
          <a:xfrm>
            <a:off x="496119" y="911349"/>
            <a:ext cx="815132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9"/>
          <p:cNvSpPr/>
          <p:nvPr/>
        </p:nvSpPr>
        <p:spPr>
          <a:xfrm>
            <a:off x="825996" y="1126480"/>
            <a:ext cx="155302" cy="194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1421681" y="1021779"/>
            <a:ext cx="7115770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데이터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9"/>
          <p:cNvSpPr/>
          <p:nvPr/>
        </p:nvSpPr>
        <p:spPr>
          <a:xfrm>
            <a:off x="1421681" y="1291665"/>
            <a:ext cx="71157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data/*.json (←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시드) · localStorage (←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저장 키)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9"/>
          <p:cNvSpPr/>
          <p:nvPr/>
        </p:nvSpPr>
        <p:spPr>
          <a:xfrm>
            <a:off x="1366465" y="1529804"/>
            <a:ext cx="7226201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9"/>
          <p:cNvSpPr/>
          <p:nvPr/>
        </p:nvSpPr>
        <p:spPr>
          <a:xfrm>
            <a:off x="496119" y="1590973"/>
            <a:ext cx="1630338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1233636" y="1806104"/>
            <a:ext cx="155302" cy="194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9"/>
          <p:cNvSpPr/>
          <p:nvPr/>
        </p:nvSpPr>
        <p:spPr>
          <a:xfrm>
            <a:off x="2236887" y="1701403"/>
            <a:ext cx="6300564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데이터 출입구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9"/>
          <p:cNvSpPr/>
          <p:nvPr/>
        </p:nvSpPr>
        <p:spPr>
          <a:xfrm>
            <a:off x="2236887" y="1971289"/>
            <a:ext cx="630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lib/repo.ts — 읽기·쓰기 단일 통로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9"/>
          <p:cNvSpPr/>
          <p:nvPr/>
        </p:nvSpPr>
        <p:spPr>
          <a:xfrm>
            <a:off x="2181671" y="2209428"/>
            <a:ext cx="6410995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9"/>
          <p:cNvSpPr/>
          <p:nvPr/>
        </p:nvSpPr>
        <p:spPr>
          <a:xfrm>
            <a:off x="496119" y="2270596"/>
            <a:ext cx="2445469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9"/>
          <p:cNvSpPr/>
          <p:nvPr/>
        </p:nvSpPr>
        <p:spPr>
          <a:xfrm>
            <a:off x="1641202" y="2485727"/>
            <a:ext cx="155302" cy="194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052018" y="2381027"/>
            <a:ext cx="5485433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가짜 AI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3052018" y="2650912"/>
            <a:ext cx="54855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lib/engine.ts — 규칙으로 답 고르기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2996803" y="2889052"/>
            <a:ext cx="5595863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9"/>
          <p:cNvSpPr/>
          <p:nvPr/>
        </p:nvSpPr>
        <p:spPr>
          <a:xfrm>
            <a:off x="496119" y="2950220"/>
            <a:ext cx="3260675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9"/>
          <p:cNvSpPr/>
          <p:nvPr/>
        </p:nvSpPr>
        <p:spPr>
          <a:xfrm>
            <a:off x="2048768" y="3165351"/>
            <a:ext cx="155302" cy="194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3867224" y="3060650"/>
            <a:ext cx="4670227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상태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3867224" y="3330536"/>
            <a:ext cx="46701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hooks/useFlow.ts — 지금 몇 단계?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3812009" y="3568675"/>
            <a:ext cx="4780657" cy="714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9"/>
          <p:cNvSpPr/>
          <p:nvPr/>
        </p:nvSpPr>
        <p:spPr>
          <a:xfrm>
            <a:off x="496119" y="3629844"/>
            <a:ext cx="4075881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9"/>
          <p:cNvSpPr/>
          <p:nvPr/>
        </p:nvSpPr>
        <p:spPr>
          <a:xfrm>
            <a:off x="2456408" y="3844975"/>
            <a:ext cx="155302" cy="194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4682430" y="3740274"/>
            <a:ext cx="3855021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EM"/>
              <a:buNone/>
            </a:pPr>
            <a:r>
              <a:rPr b="0" i="0" lang="ko-KR" sz="1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</a:t>
            </a: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UI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9"/>
          <p:cNvSpPr/>
          <p:nvPr/>
        </p:nvSpPr>
        <p:spPr>
          <a:xfrm>
            <a:off x="4682430" y="4010160"/>
            <a:ext cx="38550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app/ · components/ — 화면·버튼·진행 바 (← v0)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496119" y="4364906"/>
            <a:ext cx="8151763" cy="409277"/>
          </a:xfrm>
          <a:prstGeom prst="roundRect">
            <a:avLst>
              <a:gd fmla="val 404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8" name="Google Shape;63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549" y="4503762"/>
            <a:ext cx="138038" cy="11043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9"/>
          <p:cNvSpPr/>
          <p:nvPr/>
        </p:nvSpPr>
        <p:spPr>
          <a:xfrm>
            <a:off x="855018" y="4490889"/>
            <a:ext cx="813963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캔버스의 칸이 </a:t>
            </a:r>
            <a:r>
              <a:rPr b="1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그대로 레이어 하나씩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됩니다. 0단계 캔버스 → 1단계 레이어. 이 연결이 보이면 바이브 코딩이 "감"이 아니라 "설계"가 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0"/>
          <p:cNvSpPr/>
          <p:nvPr/>
        </p:nvSpPr>
        <p:spPr>
          <a:xfrm>
            <a:off x="496119" y="1283866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P40 · STEP 1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v0 — 왜 화면을 먼저 만들까?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6" name="Google Shape;64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933724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0"/>
          <p:cNvSpPr/>
          <p:nvPr/>
        </p:nvSpPr>
        <p:spPr>
          <a:xfrm>
            <a:off x="961206" y="1933724"/>
            <a:ext cx="214878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⚡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빠름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961200" y="2206750"/>
            <a:ext cx="221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말하면 1~2분 만에 미리보기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9" name="Google Shape;64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933724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0"/>
          <p:cNvSpPr/>
          <p:nvPr/>
        </p:nvSpPr>
        <p:spPr>
          <a:xfrm>
            <a:off x="3730079" y="1933724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🖼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그림을 알아봄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3814922" y="2206750"/>
            <a:ext cx="221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원본 화면 캡처 · 손그림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첨부하면 비슷하게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2" name="Google Shape;65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933724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0"/>
          <p:cNvSpPr/>
          <p:nvPr/>
        </p:nvSpPr>
        <p:spPr>
          <a:xfrm>
            <a:off x="6499027" y="1933724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되돌리기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6668721" y="2206750"/>
            <a:ext cx="221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버전 기록 = 세이브 포인트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5" name="Google Shape;65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063684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0"/>
          <p:cNvSpPr/>
          <p:nvPr/>
        </p:nvSpPr>
        <p:spPr>
          <a:xfrm>
            <a:off x="961206" y="3063684"/>
            <a:ext cx="2148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🏭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진짜 코드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0"/>
          <p:cNvSpPr/>
          <p:nvPr/>
        </p:nvSpPr>
        <p:spPr>
          <a:xfrm>
            <a:off x="961200" y="3336712"/>
            <a:ext cx="221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Next.js · Tailwind 코드 → 그대로 GitHub로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8" name="Google Shape;65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3063684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0"/>
          <p:cNvSpPr/>
          <p:nvPr/>
        </p:nvSpPr>
        <p:spPr>
          <a:xfrm>
            <a:off x="3730079" y="3063684"/>
            <a:ext cx="2148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바로 배포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3814922" y="3336712"/>
            <a:ext cx="221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Publish → Vercel 주소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500019" y="4315722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 코딩에서는 원본 화면 캡처를 첨부하는 게 큰 무기입니다. 단, 원본 이름·로고는 빼 달라고 말합니다.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1"/>
          <p:cNvSpPr/>
          <p:nvPr/>
        </p:nvSpPr>
        <p:spPr>
          <a:xfrm>
            <a:off x="496119" y="343793"/>
            <a:ext cx="8151763" cy="284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50"/>
              <a:buFont typeface="Roboto Slab"/>
              <a:buNone/>
            </a:pPr>
            <a:r>
              <a:rPr b="0" i="0" lang="ko-KR" sz="1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P43 · v0와 대화하는 규칙 — 한 번에 하나 · 고치는 공식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1"/>
          <p:cNvSpPr/>
          <p:nvPr/>
        </p:nvSpPr>
        <p:spPr>
          <a:xfrm>
            <a:off x="496119" y="1359843"/>
            <a:ext cx="251266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🧾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주문 1개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762223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0" name="Google Shape;67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8809" y="1403449"/>
            <a:ext cx="136252" cy="136252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1"/>
          <p:cNvSpPr/>
          <p:nvPr/>
        </p:nvSpPr>
        <p:spPr>
          <a:xfrm>
            <a:off x="6135142" y="1112565"/>
            <a:ext cx="2512740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원본과 비교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2" name="Google Shape;67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762223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3" name="Google Shape;67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1008" y="1238027"/>
            <a:ext cx="136252" cy="136252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41"/>
          <p:cNvSpPr/>
          <p:nvPr/>
        </p:nvSpPr>
        <p:spPr>
          <a:xfrm>
            <a:off x="6180683" y="2105323"/>
            <a:ext cx="2467198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📝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다른 점 1개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5" name="Google Shape;675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762223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6" name="Google Shape;676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7516" y="2292251"/>
            <a:ext cx="136252" cy="136252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1"/>
          <p:cNvSpPr/>
          <p:nvPr/>
        </p:nvSpPr>
        <p:spPr>
          <a:xfrm>
            <a:off x="6135142" y="3105671"/>
            <a:ext cx="2512740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🔧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고치는 주문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8" name="Google Shape;678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5408" y="762223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9" name="Google Shape;679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4479" y="3109168"/>
            <a:ext cx="136252" cy="13625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1"/>
          <p:cNvSpPr/>
          <p:nvPr/>
        </p:nvSpPr>
        <p:spPr>
          <a:xfrm>
            <a:off x="496119" y="2771477"/>
            <a:ext cx="251266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1"/>
          <p:cNvSpPr/>
          <p:nvPr/>
        </p:nvSpPr>
        <p:spPr>
          <a:xfrm>
            <a:off x="496119" y="2963391"/>
            <a:ext cx="2512665" cy="12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망가지면 </a:t>
            </a:r>
            <a:r>
              <a:rPr b="0" i="0" lang="ko-KR" sz="10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되돌리기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2" name="Google Shape;682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5408" y="762223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3" name="Google Shape;683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06998" y="2559918"/>
            <a:ext cx="136252" cy="136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4" name="Google Shape;684;p41"/>
          <p:cNvGraphicFramePr/>
          <p:nvPr/>
        </p:nvGraphicFramePr>
        <p:xfrm>
          <a:off x="496119" y="3690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4075875"/>
                <a:gridCol w="4075875"/>
              </a:tblGrid>
              <a:tr h="28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규칙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예시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한 번에 한 가지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화면 → 데이터 → 엔진 → 소개 순서로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고치는 공식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○○할 때 △△가 돼. □□로 고쳐 줘.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지키는 말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다른 부분은 바꾸지 마.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구조로 말하기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"page.tsx 에서 JSON을 직접 읽지 말고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repo.ts 를 거치게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해 줘"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91100" marL="911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2"/>
          <p:cNvSpPr/>
          <p:nvPr/>
        </p:nvSpPr>
        <p:spPr>
          <a:xfrm>
            <a:off x="496119" y="341114"/>
            <a:ext cx="8151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P44 · STEP 2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🐙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GitHub — 왜 v0 다음에 GitHub일까?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797" y="356252"/>
            <a:ext cx="6298332" cy="4340423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2"/>
          <p:cNvSpPr/>
          <p:nvPr/>
        </p:nvSpPr>
        <p:spPr>
          <a:xfrm>
            <a:off x="1480117" y="2832132"/>
            <a:ext cx="1721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코드 저장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2"/>
          <p:cNvSpPr/>
          <p:nvPr/>
        </p:nvSpPr>
        <p:spPr>
          <a:xfrm>
            <a:off x="3047219" y="1379379"/>
            <a:ext cx="177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GitHub 업로드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4240176" y="3535044"/>
            <a:ext cx="1721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도구·에이전트 접근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5767990" y="1814560"/>
            <a:ext cx="1721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Vercel 자동배포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6" name="Google Shape;696;p42"/>
          <p:cNvGraphicFramePr/>
          <p:nvPr/>
        </p:nvGraphicFramePr>
        <p:xfrm>
          <a:off x="574219" y="3961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3395275"/>
                <a:gridCol w="4756475"/>
              </a:tblGrid>
              <a:tr h="20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GitHub이 주는 것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비유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모든 변경 기록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게임 세이브 파일이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수백 개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여러 도구 · 여러 사람이 같은 코드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설계도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원본 금고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실험은 따로, 합치기는 검토 후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연습장 → 검사 → 본 공책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자동화의 출발점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올리면 → 자동 검사 → 자동 배포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62025" marL="620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2" name="Google Shape;7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3"/>
          <p:cNvSpPr/>
          <p:nvPr/>
        </p:nvSpPr>
        <p:spPr>
          <a:xfrm>
            <a:off x="496119" y="378916"/>
            <a:ext cx="4722763" cy="7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P45 · GitHub 단어 4개 — 저장소 · 커밋 · 브랜치 · PR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96119" y="1304479"/>
            <a:ext cx="270346" cy="27034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3"/>
          <p:cNvSpPr/>
          <p:nvPr/>
        </p:nvSpPr>
        <p:spPr>
          <a:xfrm>
            <a:off x="541139" y="1326989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3"/>
          <p:cNvSpPr/>
          <p:nvPr/>
        </p:nvSpPr>
        <p:spPr>
          <a:xfrm>
            <a:off x="882848" y="1345778"/>
            <a:ext cx="433603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5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📦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저장소 (repository)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882848" y="1608088"/>
            <a:ext cx="4336033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프로젝트 전체 금고 — 모든 코드와 기록이 모이는 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3"/>
          <p:cNvSpPr/>
          <p:nvPr/>
        </p:nvSpPr>
        <p:spPr>
          <a:xfrm>
            <a:off x="496119" y="2030090"/>
            <a:ext cx="270346" cy="27034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3"/>
          <p:cNvSpPr/>
          <p:nvPr/>
        </p:nvSpPr>
        <p:spPr>
          <a:xfrm>
            <a:off x="541139" y="2052600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3"/>
          <p:cNvSpPr/>
          <p:nvPr/>
        </p:nvSpPr>
        <p:spPr>
          <a:xfrm>
            <a:off x="882848" y="2071390"/>
            <a:ext cx="433603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5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커밋 (commit)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3"/>
          <p:cNvSpPr/>
          <p:nvPr/>
        </p:nvSpPr>
        <p:spPr>
          <a:xfrm>
            <a:off x="882848" y="2333699"/>
            <a:ext cx="4336033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"여기까지 저장" 한 칸 + 메시지 — 게임의 세이브 포인트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3"/>
          <p:cNvSpPr/>
          <p:nvPr/>
        </p:nvSpPr>
        <p:spPr>
          <a:xfrm>
            <a:off x="496119" y="2755702"/>
            <a:ext cx="270346" cy="27034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3"/>
          <p:cNvSpPr/>
          <p:nvPr/>
        </p:nvSpPr>
        <p:spPr>
          <a:xfrm>
            <a:off x="541139" y="2778212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3"/>
          <p:cNvSpPr/>
          <p:nvPr/>
        </p:nvSpPr>
        <p:spPr>
          <a:xfrm>
            <a:off x="882848" y="2797001"/>
            <a:ext cx="433603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5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🌿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브랜치 (branch)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3"/>
          <p:cNvSpPr/>
          <p:nvPr/>
        </p:nvSpPr>
        <p:spPr>
          <a:xfrm>
            <a:off x="882848" y="3059311"/>
            <a:ext cx="4336033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main(본 공책)에서 갈라진 연습장 — 실험용 복사본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3"/>
          <p:cNvSpPr/>
          <p:nvPr/>
        </p:nvSpPr>
        <p:spPr>
          <a:xfrm>
            <a:off x="496119" y="3481313"/>
            <a:ext cx="270346" cy="27034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3"/>
          <p:cNvSpPr/>
          <p:nvPr/>
        </p:nvSpPr>
        <p:spPr>
          <a:xfrm>
            <a:off x="541139" y="3503823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3"/>
          <p:cNvSpPr/>
          <p:nvPr/>
        </p:nvSpPr>
        <p:spPr>
          <a:xfrm>
            <a:off x="882848" y="3522613"/>
            <a:ext cx="433603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EM"/>
              <a:buNone/>
            </a:pPr>
            <a:r>
              <a:rPr b="0" i="0" lang="ko-KR" sz="15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🔀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PR (pull request)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3"/>
          <p:cNvSpPr/>
          <p:nvPr/>
        </p:nvSpPr>
        <p:spPr>
          <a:xfrm>
            <a:off x="882848" y="3784922"/>
            <a:ext cx="4336033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"연습장 내용을 본 공책에 합쳐도 될까요?" 검토 요청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3"/>
          <p:cNvSpPr/>
          <p:nvPr/>
        </p:nvSpPr>
        <p:spPr>
          <a:xfrm>
            <a:off x="496119" y="4105052"/>
            <a:ext cx="4722763" cy="659532"/>
          </a:xfrm>
          <a:prstGeom prst="roundRect">
            <a:avLst>
              <a:gd fmla="val 273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1" name="Google Shape;72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223" y="4270102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3"/>
          <p:cNvSpPr/>
          <p:nvPr/>
        </p:nvSpPr>
        <p:spPr>
          <a:xfrm>
            <a:off x="886495" y="4251424"/>
            <a:ext cx="4212282" cy="37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본 공책(main)은 항상 "작동하는 상태"로 둡니다. </a:t>
            </a:r>
            <a:b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네 단어만 알면 CI/CD를 이해할 수 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8" name="Google Shape;7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44"/>
          <p:cNvSpPr/>
          <p:nvPr/>
        </p:nvSpPr>
        <p:spPr>
          <a:xfrm>
            <a:off x="496119" y="361504"/>
            <a:ext cx="4722763" cy="372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P46 · v0 </a:t>
            </a:r>
            <a:r>
              <a:rPr b="0" i="0" lang="ko-KR" sz="2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↔</a:t>
            </a: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GitHub 연결 흐름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0" name="Google Shape;73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897880"/>
            <a:ext cx="4722763" cy="2036564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44"/>
          <p:cNvSpPr/>
          <p:nvPr/>
        </p:nvSpPr>
        <p:spPr>
          <a:xfrm>
            <a:off x="813912" y="2548235"/>
            <a:ext cx="1071436" cy="13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커밋→git clone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4"/>
          <p:cNvSpPr/>
          <p:nvPr/>
        </p:nvSpPr>
        <p:spPr>
          <a:xfrm>
            <a:off x="813912" y="2076804"/>
            <a:ext cx="1071436" cy="13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저장소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4"/>
          <p:cNvSpPr/>
          <p:nvPr/>
        </p:nvSpPr>
        <p:spPr>
          <a:xfrm>
            <a:off x="813912" y="1610134"/>
            <a:ext cx="1071436" cy="13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GitHub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4"/>
          <p:cNvSpPr/>
          <p:nvPr/>
        </p:nvSpPr>
        <p:spPr>
          <a:xfrm>
            <a:off x="813912" y="1138702"/>
            <a:ext cx="1071436" cy="13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v0 프로젝트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4"/>
          <p:cNvSpPr/>
          <p:nvPr/>
        </p:nvSpPr>
        <p:spPr>
          <a:xfrm>
            <a:off x="496119" y="3057079"/>
            <a:ext cx="4722763" cy="976610"/>
          </a:xfrm>
          <a:prstGeom prst="roundRect">
            <a:avLst>
              <a:gd fmla="val 1786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4"/>
          <p:cNvSpPr/>
          <p:nvPr/>
        </p:nvSpPr>
        <p:spPr>
          <a:xfrm>
            <a:off x="635645" y="3173313"/>
            <a:ext cx="4443710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ko-KR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https://github.com/우리팀/mini-deepq.git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ko-KR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cd mini-deepq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ko-KR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npm install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ko-KR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npm run dev   # http://localhost:3000 에서 확인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4"/>
          <p:cNvSpPr/>
          <p:nvPr/>
        </p:nvSpPr>
        <p:spPr>
          <a:xfrm>
            <a:off x="496119" y="4156323"/>
            <a:ext cx="4722763" cy="625599"/>
          </a:xfrm>
          <a:prstGeom prst="roundRect">
            <a:avLst>
              <a:gd fmla="val 2788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8" name="Google Shape;73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353" y="4311700"/>
            <a:ext cx="145331" cy="11623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4"/>
          <p:cNvSpPr/>
          <p:nvPr/>
        </p:nvSpPr>
        <p:spPr>
          <a:xfrm>
            <a:off x="873919" y="4294361"/>
            <a:ext cx="4228728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v0 화면의 메뉴 이름 · 위치는 업데이트로 바뀔 수 있어요 → </a:t>
            </a: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수업 전날 실제 화면으로 확인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하세요.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5" name="Google Shape;7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45"/>
          <p:cNvSpPr/>
          <p:nvPr/>
        </p:nvSpPr>
        <p:spPr>
          <a:xfrm>
            <a:off x="496119" y="353690"/>
            <a:ext cx="4722763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00"/>
              <a:buFont typeface="Roboto Slab"/>
              <a:buNone/>
            </a:pPr>
            <a:r>
              <a:rPr b="0" i="0" lang="ko-KR" sz="2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P47 · STEP 3 </a:t>
            </a:r>
            <a:r>
              <a:rPr b="0" i="0" lang="ko-KR" sz="20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2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코딩 에이전트 — v0 다음엔 왜?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5"/>
          <p:cNvSpPr/>
          <p:nvPr/>
        </p:nvSpPr>
        <p:spPr>
          <a:xfrm>
            <a:off x="496119" y="1217712"/>
            <a:ext cx="2236068" cy="17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M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496119" y="1472803"/>
            <a:ext cx="2236068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Char char="•"/>
            </a:pPr>
            <a:r>
              <a:rPr b="1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만들기 · 디자인에 강함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Char char="•"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 안 · 미리보기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Char char="•"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"이렇게 보이게 해 줘"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Char char="•"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프로토타입 (0 → 1)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5"/>
          <p:cNvSpPr/>
          <p:nvPr/>
        </p:nvSpPr>
        <p:spPr>
          <a:xfrm>
            <a:off x="2913608" y="1132656"/>
            <a:ext cx="2384003" cy="1059879"/>
          </a:xfrm>
          <a:prstGeom prst="roundRect">
            <a:avLst>
              <a:gd fmla="val 145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5"/>
          <p:cNvSpPr/>
          <p:nvPr/>
        </p:nvSpPr>
        <p:spPr>
          <a:xfrm>
            <a:off x="3016300" y="1217712"/>
            <a:ext cx="2178621" cy="17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EM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0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코딩 에이전트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5"/>
          <p:cNvSpPr/>
          <p:nvPr/>
        </p:nvSpPr>
        <p:spPr>
          <a:xfrm>
            <a:off x="3016300" y="1472803"/>
            <a:ext cx="2178621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Char char="•"/>
            </a:pPr>
            <a:r>
              <a:rPr b="1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프로젝트 전체 코드</a:t>
            </a:r>
            <a:r>
              <a:rPr b="0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를 읽고 고침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Char char="•"/>
            </a:pPr>
            <a:r>
              <a:rPr b="0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 컴퓨터 터미널 · 실제 실행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Char char="•"/>
            </a:pPr>
            <a:r>
              <a:rPr b="0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"규칙을 추가하고 </a:t>
            </a:r>
            <a:r>
              <a:rPr b="1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빌드가 통과하는지 확인</a:t>
            </a:r>
            <a:r>
              <a:rPr b="0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해 줘"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2560" lvl="0" marL="16256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Char char="•"/>
            </a:pPr>
            <a:r>
              <a:rPr b="0" i="0" lang="ko-K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다듬기 · 확장 (1 → 10)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2" name="Google Shape;75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288232"/>
            <a:ext cx="4722763" cy="2501503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45"/>
          <p:cNvSpPr/>
          <p:nvPr/>
        </p:nvSpPr>
        <p:spPr>
          <a:xfrm>
            <a:off x="1149981" y="4076051"/>
            <a:ext cx="1167714" cy="14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v0 겉모습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5"/>
          <p:cNvSpPr/>
          <p:nvPr/>
        </p:nvSpPr>
        <p:spPr>
          <a:xfrm>
            <a:off x="1066944" y="4263534"/>
            <a:ext cx="1250751" cy="106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초기 UI 프로토타입을 만듭니다.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5"/>
          <p:cNvSpPr/>
          <p:nvPr/>
        </p:nvSpPr>
        <p:spPr>
          <a:xfrm>
            <a:off x="693275" y="2600839"/>
            <a:ext cx="1167714" cy="14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GitHub 저장소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5"/>
          <p:cNvSpPr/>
          <p:nvPr/>
        </p:nvSpPr>
        <p:spPr>
          <a:xfrm>
            <a:off x="610238" y="2788322"/>
            <a:ext cx="1250751" cy="2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프로젝트 리포지토리에 코드 올리기.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5"/>
          <p:cNvSpPr/>
          <p:nvPr/>
        </p:nvSpPr>
        <p:spPr>
          <a:xfrm>
            <a:off x="3412751" y="2707555"/>
            <a:ext cx="1167714" cy="14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에이전트 처리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5"/>
          <p:cNvSpPr/>
          <p:nvPr/>
        </p:nvSpPr>
        <p:spPr>
          <a:xfrm>
            <a:off x="3412751" y="2895038"/>
            <a:ext cx="1250751" cy="106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엔진·리포·테스트로 코드 수정.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5"/>
          <p:cNvSpPr/>
          <p:nvPr/>
        </p:nvSpPr>
        <p:spPr>
          <a:xfrm>
            <a:off x="3853887" y="4076132"/>
            <a:ext cx="1167713" cy="14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변경 사항 Push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5"/>
          <p:cNvSpPr/>
          <p:nvPr/>
        </p:nvSpPr>
        <p:spPr>
          <a:xfrm>
            <a:off x="3853887" y="4263615"/>
            <a:ext cx="1250751" cy="106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수정본을 원격에 푸시합니다.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6"/>
          <p:cNvSpPr/>
          <p:nvPr/>
        </p:nvSpPr>
        <p:spPr>
          <a:xfrm>
            <a:off x="496119" y="347439"/>
            <a:ext cx="8151763" cy="27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00"/>
              <a:buFont typeface="Roboto Slab"/>
              <a:buNone/>
            </a:pPr>
            <a:r>
              <a:rPr b="0" i="0" lang="ko-KR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P48 · 코딩 에이전트 3종 — 무엇을 써도 흐름은 같다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7" name="Google Shape;767;p46"/>
          <p:cNvGraphicFramePr/>
          <p:nvPr/>
        </p:nvGraphicFramePr>
        <p:xfrm>
          <a:off x="496119" y="742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123050"/>
                <a:gridCol w="2952850"/>
                <a:gridCol w="2037950"/>
                <a:gridCol w="2037950"/>
              </a:tblGrid>
              <a:tr h="25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Claude Code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 CLI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Codex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실행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터미널에서 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claude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터미널에서 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gemini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터미널에서 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codex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규칙 파일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CLAUDE.md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GEMINI.md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AGENTS.md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하는 일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 읽기 · 수정 · 명령 실행 · 커밋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〃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〃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7225" marL="872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768" name="Google Shape;7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78" y="1926304"/>
            <a:ext cx="7890645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6"/>
          <p:cNvSpPr/>
          <p:nvPr/>
        </p:nvSpPr>
        <p:spPr>
          <a:xfrm>
            <a:off x="7002209" y="3889520"/>
            <a:ext cx="1190147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사람 승인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6"/>
          <p:cNvSpPr/>
          <p:nvPr/>
        </p:nvSpPr>
        <p:spPr>
          <a:xfrm>
            <a:off x="5502299" y="3889520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계획 제시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6"/>
          <p:cNvSpPr/>
          <p:nvPr/>
        </p:nvSpPr>
        <p:spPr>
          <a:xfrm>
            <a:off x="4010540" y="3889520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작업 요청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2518781" y="3889520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규칙 읽기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994415" y="3889520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저장소 실행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496119" y="4677296"/>
            <a:ext cx="8608963" cy="11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도구는 골라 쓰면 됩니다. </a:t>
            </a: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 파일 + 승인 + 확인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이라는 흐름은 같아요.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7"/>
          <p:cNvSpPr/>
          <p:nvPr/>
        </p:nvSpPr>
        <p:spPr>
          <a:xfrm>
            <a:off x="496119" y="341114"/>
            <a:ext cx="8151763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0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P50 · 에이전트 작업 루프 — 사람이 승인하고 확인한다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7"/>
          <p:cNvSpPr/>
          <p:nvPr/>
        </p:nvSpPr>
        <p:spPr>
          <a:xfrm>
            <a:off x="496119" y="1075358"/>
            <a:ext cx="2498154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🗣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요청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7"/>
          <p:cNvSpPr/>
          <p:nvPr/>
        </p:nvSpPr>
        <p:spPr>
          <a:xfrm>
            <a:off x="496119" y="1286694"/>
            <a:ext cx="2498154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기능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3" name="Google Shape;78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4" name="Google Shape;78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4216" y="1261318"/>
            <a:ext cx="150763" cy="15076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7"/>
          <p:cNvSpPr/>
          <p:nvPr/>
        </p:nvSpPr>
        <p:spPr>
          <a:xfrm>
            <a:off x="6149653" y="947886"/>
            <a:ext cx="2498229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📝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계획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7"/>
          <p:cNvSpPr/>
          <p:nvPr/>
        </p:nvSpPr>
        <p:spPr>
          <a:xfrm>
            <a:off x="6149653" y="1159222"/>
            <a:ext cx="2498229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바꿀 파일 목록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7" name="Google Shape;78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8" name="Google Shape;788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0544" y="1281410"/>
            <a:ext cx="150763" cy="150763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/>
          <p:nvPr/>
        </p:nvSpPr>
        <p:spPr>
          <a:xfrm>
            <a:off x="6149653" y="1712714"/>
            <a:ext cx="2498229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승인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7"/>
          <p:cNvSpPr/>
          <p:nvPr/>
        </p:nvSpPr>
        <p:spPr>
          <a:xfrm>
            <a:off x="6149653" y="1924050"/>
            <a:ext cx="2498229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사람이 읽고 확인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1" name="Google Shape;79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2" name="Google Shape;792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5015" y="1971229"/>
            <a:ext cx="150763" cy="150763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7"/>
          <p:cNvSpPr/>
          <p:nvPr/>
        </p:nvSpPr>
        <p:spPr>
          <a:xfrm>
            <a:off x="6149653" y="2547565"/>
            <a:ext cx="2498229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🔧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수정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4" name="Google Shape;794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5" name="Google Shape;795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62637" y="2811363"/>
            <a:ext cx="150763" cy="150763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7"/>
          <p:cNvSpPr/>
          <p:nvPr/>
        </p:nvSpPr>
        <p:spPr>
          <a:xfrm>
            <a:off x="6149653" y="3187229"/>
            <a:ext cx="2498229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▶️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실행·확인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6149653" y="3398565"/>
            <a:ext cx="2498229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npm run build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8" name="Google Shape;798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9" name="Google Shape;799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73401" y="3169146"/>
            <a:ext cx="150763" cy="150763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47"/>
          <p:cNvSpPr/>
          <p:nvPr/>
        </p:nvSpPr>
        <p:spPr>
          <a:xfrm>
            <a:off x="496119" y="3068985"/>
            <a:ext cx="2498154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사람 확인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7"/>
          <p:cNvSpPr/>
          <p:nvPr/>
        </p:nvSpPr>
        <p:spPr>
          <a:xfrm>
            <a:off x="496119" y="3280321"/>
            <a:ext cx="2498154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localhost 직접 눌러보기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2" name="Google Shape;802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3" name="Google Shape;803;p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01579" y="2775124"/>
            <a:ext cx="150763" cy="150763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7"/>
          <p:cNvSpPr/>
          <p:nvPr/>
        </p:nvSpPr>
        <p:spPr>
          <a:xfrm>
            <a:off x="496119" y="2174304"/>
            <a:ext cx="2498154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커밋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5" name="Google Shape;805;p4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45408" y="819745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6" name="Google Shape;806;p4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528417" y="1926059"/>
            <a:ext cx="150763" cy="1507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7" name="Google Shape;807;p47"/>
          <p:cNvGraphicFramePr/>
          <p:nvPr/>
        </p:nvGraphicFramePr>
        <p:xfrm>
          <a:off x="496119" y="37649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346500"/>
                <a:gridCol w="5805250"/>
              </a:tblGrid>
              <a:tr h="25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사람이 꼭 하는 일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계획을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읽고</a:t>
                      </a: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승인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엉뚱한 파일을 바꾸지 않게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직접 </a:t>
                      </a: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눌러 보기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"빌드 통과" ≠ "원본처럼 동작"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비밀 키 · 개인정보 확인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책임은 사람에게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00800" marL="1008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3" name="Google Shape;81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8"/>
          <p:cNvSpPr/>
          <p:nvPr/>
        </p:nvSpPr>
        <p:spPr>
          <a:xfrm>
            <a:off x="3925119" y="408236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P52 · STEP 4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Vercel — 배포의 두 가지 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8"/>
          <p:cNvSpPr/>
          <p:nvPr/>
        </p:nvSpPr>
        <p:spPr>
          <a:xfrm>
            <a:off x="3835822" y="1383655"/>
            <a:ext cx="2388691" cy="1172096"/>
          </a:xfrm>
          <a:prstGeom prst="roundRect">
            <a:avLst>
              <a:gd fmla="val 158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8"/>
          <p:cNvSpPr/>
          <p:nvPr/>
        </p:nvSpPr>
        <p:spPr>
          <a:xfrm>
            <a:off x="3959796" y="1507629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🎊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길 1 · v0 Publish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8"/>
          <p:cNvSpPr/>
          <p:nvPr/>
        </p:nvSpPr>
        <p:spPr>
          <a:xfrm>
            <a:off x="3959796" y="1830214"/>
            <a:ext cx="21407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v0에서 버튼 한 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가장 빠름 ·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오늘 팀 실습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고칠 때마다 다시 Publish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6442546" y="1507629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길 2 · GitHub 연결 (Import)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8"/>
          <p:cNvSpPr/>
          <p:nvPr/>
        </p:nvSpPr>
        <p:spPr>
          <a:xfrm>
            <a:off x="6442546" y="1830214"/>
            <a:ext cx="221009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Vercel에서 GitHub 저장소를 가져오기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올릴 때마다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배포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강사 시연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 push 만 하면 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0" name="Google Shape;82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695277"/>
            <a:ext cx="4722763" cy="2039913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48"/>
          <p:cNvSpPr/>
          <p:nvPr/>
        </p:nvSpPr>
        <p:spPr>
          <a:xfrm>
            <a:off x="5052127" y="4044851"/>
            <a:ext cx="701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Add New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8"/>
          <p:cNvSpPr/>
          <p:nvPr/>
        </p:nvSpPr>
        <p:spPr>
          <a:xfrm>
            <a:off x="5052127" y="4414710"/>
            <a:ext cx="701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새 프로젝트 추가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8"/>
          <p:cNvSpPr/>
          <p:nvPr/>
        </p:nvSpPr>
        <p:spPr>
          <a:xfrm>
            <a:off x="6852694" y="4070394"/>
            <a:ext cx="701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Next.js 인식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8"/>
          <p:cNvSpPr/>
          <p:nvPr/>
        </p:nvSpPr>
        <p:spPr>
          <a:xfrm>
            <a:off x="6852694" y="4435268"/>
            <a:ext cx="701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프레임워크 자동 감지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8"/>
          <p:cNvSpPr/>
          <p:nvPr/>
        </p:nvSpPr>
        <p:spPr>
          <a:xfrm>
            <a:off x="4154078" y="2879346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8"/>
          <p:cNvSpPr/>
          <p:nvPr/>
        </p:nvSpPr>
        <p:spPr>
          <a:xfrm>
            <a:off x="4154078" y="3110333"/>
            <a:ext cx="701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배포 시작하기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7723994" y="2879346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8"/>
          <p:cNvSpPr/>
          <p:nvPr/>
        </p:nvSpPr>
        <p:spPr>
          <a:xfrm>
            <a:off x="7723994" y="3121490"/>
            <a:ext cx="701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배포 완료: mini-deepq.vercel.app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8"/>
          <p:cNvSpPr/>
          <p:nvPr/>
        </p:nvSpPr>
        <p:spPr>
          <a:xfrm>
            <a:off x="5963585" y="2879346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GitHub 선택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5963585" y="3266534"/>
            <a:ext cx="701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저장소 연결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9"/>
          <p:cNvSpPr/>
          <p:nvPr/>
        </p:nvSpPr>
        <p:spPr>
          <a:xfrm>
            <a:off x="496119" y="1141586"/>
            <a:ext cx="8151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P53 · STEP 5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CI/CD — 올리면 저절로 검사하고, 저절로 문을 연다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9"/>
          <p:cNvSpPr/>
          <p:nvPr/>
        </p:nvSpPr>
        <p:spPr>
          <a:xfrm>
            <a:off x="496119" y="2240979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1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CI (지속적 통합)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9"/>
          <p:cNvSpPr/>
          <p:nvPr/>
        </p:nvSpPr>
        <p:spPr>
          <a:xfrm>
            <a:off x="496119" y="2563564"/>
            <a:ext cx="392459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올릴 때마다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검사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문법 검사 (lint) · 빌드 (build) · 테스트 (test)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9"/>
          <p:cNvSpPr/>
          <p:nvPr/>
        </p:nvSpPr>
        <p:spPr>
          <a:xfrm>
            <a:off x="496119" y="3262979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1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CD (지속적 배포)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9"/>
          <p:cNvSpPr/>
          <p:nvPr/>
        </p:nvSpPr>
        <p:spPr>
          <a:xfrm>
            <a:off x="496119" y="3585564"/>
            <a:ext cx="392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검사 통과하면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배포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Preview 주소 → 합치면 Production 주소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4728046" y="2240979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손으로 vs CI/CD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2" name="Google Shape;842;p49"/>
          <p:cNvGraphicFramePr/>
          <p:nvPr/>
        </p:nvGraphicFramePr>
        <p:xfrm>
          <a:off x="4728046" y="25743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962300"/>
                <a:gridCol w="19623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손으로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CI/CD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고칠 때마다 직접 확인 · 직접 업로드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 push 한 번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깜빡하면 고장 난 채로 공개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이면 </a:t>
                      </a: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본 가게에 안 나감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8" name="Google Shape;84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/>
          <p:nvPr/>
        </p:nvSpPr>
        <p:spPr>
          <a:xfrm>
            <a:off x="3925119" y="380256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P55 · CD — Vercel의 Preview와 Production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0"/>
          <p:cNvSpPr/>
          <p:nvPr/>
        </p:nvSpPr>
        <p:spPr>
          <a:xfrm>
            <a:off x="3925119" y="146536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🧪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Preview (미리보기 가게)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0"/>
          <p:cNvSpPr/>
          <p:nvPr/>
        </p:nvSpPr>
        <p:spPr>
          <a:xfrm>
            <a:off x="3925119" y="1787947"/>
            <a:ext cx="2210098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브랜치 · PR마다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새 주소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자동 생성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· 선생님이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먼저 눌러 보는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곳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망가져도 손님은 모름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0"/>
          <p:cNvSpPr/>
          <p:nvPr/>
        </p:nvSpPr>
        <p:spPr>
          <a:xfrm>
            <a:off x="6353249" y="1341388"/>
            <a:ext cx="2388691" cy="1172096"/>
          </a:xfrm>
          <a:prstGeom prst="roundRect">
            <a:avLst>
              <a:gd fmla="val 158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0"/>
          <p:cNvSpPr/>
          <p:nvPr/>
        </p:nvSpPr>
        <p:spPr>
          <a:xfrm>
            <a:off x="6477223" y="146536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🏪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Production (본 가게)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0"/>
          <p:cNvSpPr/>
          <p:nvPr/>
        </p:nvSpPr>
        <p:spPr>
          <a:xfrm>
            <a:off x="6477223" y="1787947"/>
            <a:ext cx="21407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main 에 합쳐지면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자동 갱신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손님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 쓰는 곳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항상 작동하는 상태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5" name="Google Shape;85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653010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0"/>
          <p:cNvSpPr/>
          <p:nvPr/>
        </p:nvSpPr>
        <p:spPr>
          <a:xfrm>
            <a:off x="7741044" y="3870574"/>
            <a:ext cx="712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Production 갱신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0"/>
          <p:cNvSpPr/>
          <p:nvPr/>
        </p:nvSpPr>
        <p:spPr>
          <a:xfrm>
            <a:off x="6843322" y="3939184"/>
            <a:ext cx="712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 합치기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0"/>
          <p:cNvSpPr/>
          <p:nvPr/>
        </p:nvSpPr>
        <p:spPr>
          <a:xfrm>
            <a:off x="5950479" y="3939184"/>
            <a:ext cx="712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리뷰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0"/>
          <p:cNvSpPr/>
          <p:nvPr/>
        </p:nvSpPr>
        <p:spPr>
          <a:xfrm>
            <a:off x="5057635" y="3939184"/>
            <a:ext cx="712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Preview 주소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0"/>
          <p:cNvSpPr/>
          <p:nvPr/>
        </p:nvSpPr>
        <p:spPr>
          <a:xfrm>
            <a:off x="4145276" y="3939184"/>
            <a:ext cx="712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브랜치 푸시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0"/>
          <p:cNvSpPr/>
          <p:nvPr/>
        </p:nvSpPr>
        <p:spPr>
          <a:xfrm>
            <a:off x="3925119" y="4475457"/>
            <a:ext cx="518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코딩에서 Preview는 정말 중요합니다. </a:t>
            </a:r>
            <a:r>
              <a:rPr b="0" i="0" lang="ko-KR" sz="9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자주 고쳐도 손님 가게는 안전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1"/>
          <p:cNvSpPr/>
          <p:nvPr/>
        </p:nvSpPr>
        <p:spPr>
          <a:xfrm>
            <a:off x="496119" y="899145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P56 · 전체 흐름 한 번에 — 고치기 한 번의 여행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1"/>
          <p:cNvSpPr/>
          <p:nvPr/>
        </p:nvSpPr>
        <p:spPr>
          <a:xfrm>
            <a:off x="496119" y="1534716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51"/>
          <p:cNvSpPr/>
          <p:nvPr/>
        </p:nvSpPr>
        <p:spPr>
          <a:xfrm>
            <a:off x="496119" y="1731169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1"/>
          <p:cNvSpPr/>
          <p:nvPr/>
        </p:nvSpPr>
        <p:spPr>
          <a:xfrm>
            <a:off x="496119" y="1821731"/>
            <a:ext cx="26345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🌿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feature/채점 브랜치 만들기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1"/>
          <p:cNvSpPr/>
          <p:nvPr/>
        </p:nvSpPr>
        <p:spPr>
          <a:xfrm>
            <a:off x="3254648" y="1534716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1"/>
          <p:cNvSpPr/>
          <p:nvPr/>
        </p:nvSpPr>
        <p:spPr>
          <a:xfrm>
            <a:off x="3254648" y="1731169"/>
            <a:ext cx="2634630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1"/>
          <p:cNvSpPr/>
          <p:nvPr/>
        </p:nvSpPr>
        <p:spPr>
          <a:xfrm>
            <a:off x="3254648" y="1821731"/>
            <a:ext cx="263463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에이전트로 수정 · 로컬 확인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1"/>
          <p:cNvSpPr/>
          <p:nvPr/>
        </p:nvSpPr>
        <p:spPr>
          <a:xfrm>
            <a:off x="6013252" y="1534716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1"/>
          <p:cNvSpPr/>
          <p:nvPr/>
        </p:nvSpPr>
        <p:spPr>
          <a:xfrm>
            <a:off x="6013252" y="1731169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1"/>
          <p:cNvSpPr/>
          <p:nvPr/>
        </p:nvSpPr>
        <p:spPr>
          <a:xfrm>
            <a:off x="6013252" y="1821731"/>
            <a:ext cx="26345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커밋 →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⬆️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 push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1"/>
          <p:cNvSpPr/>
          <p:nvPr/>
        </p:nvSpPr>
        <p:spPr>
          <a:xfrm>
            <a:off x="496119" y="2237333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1"/>
          <p:cNvSpPr/>
          <p:nvPr/>
        </p:nvSpPr>
        <p:spPr>
          <a:xfrm>
            <a:off x="496119" y="2421434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1"/>
          <p:cNvSpPr/>
          <p:nvPr/>
        </p:nvSpPr>
        <p:spPr>
          <a:xfrm>
            <a:off x="496119" y="2524348"/>
            <a:ext cx="26345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PR 열기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1"/>
          <p:cNvSpPr/>
          <p:nvPr/>
        </p:nvSpPr>
        <p:spPr>
          <a:xfrm>
            <a:off x="3254648" y="2237333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1"/>
          <p:cNvSpPr/>
          <p:nvPr/>
        </p:nvSpPr>
        <p:spPr>
          <a:xfrm>
            <a:off x="3254648" y="2421434"/>
            <a:ext cx="2634630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1"/>
          <p:cNvSpPr/>
          <p:nvPr/>
        </p:nvSpPr>
        <p:spPr>
          <a:xfrm>
            <a:off x="3254648" y="2524348"/>
            <a:ext cx="2634630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CI (GitHub Actions) — lint · build ·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1"/>
          <p:cNvSpPr/>
          <p:nvPr/>
        </p:nvSpPr>
        <p:spPr>
          <a:xfrm>
            <a:off x="6013252" y="2237333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51"/>
          <p:cNvSpPr/>
          <p:nvPr/>
        </p:nvSpPr>
        <p:spPr>
          <a:xfrm>
            <a:off x="6013252" y="2421434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1"/>
          <p:cNvSpPr/>
          <p:nvPr/>
        </p:nvSpPr>
        <p:spPr>
          <a:xfrm>
            <a:off x="6013252" y="2524348"/>
            <a:ext cx="2634555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🧪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Vercel Preview 주소가 PR에 자동으로 달림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1"/>
          <p:cNvSpPr/>
          <p:nvPr/>
        </p:nvSpPr>
        <p:spPr>
          <a:xfrm>
            <a:off x="496119" y="3133799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1"/>
          <p:cNvSpPr/>
          <p:nvPr/>
        </p:nvSpPr>
        <p:spPr>
          <a:xfrm>
            <a:off x="496119" y="3305473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1"/>
          <p:cNvSpPr/>
          <p:nvPr/>
        </p:nvSpPr>
        <p:spPr>
          <a:xfrm>
            <a:off x="496119" y="3420814"/>
            <a:ext cx="2634555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팀 · 선생님 리뷰 (Preview에서 눌러 보기)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1"/>
          <p:cNvSpPr/>
          <p:nvPr/>
        </p:nvSpPr>
        <p:spPr>
          <a:xfrm>
            <a:off x="3254648" y="3133799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1"/>
          <p:cNvSpPr/>
          <p:nvPr/>
        </p:nvSpPr>
        <p:spPr>
          <a:xfrm>
            <a:off x="3254648" y="3305473"/>
            <a:ext cx="2634630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1"/>
          <p:cNvSpPr/>
          <p:nvPr/>
        </p:nvSpPr>
        <p:spPr>
          <a:xfrm>
            <a:off x="3254648" y="3420814"/>
            <a:ext cx="263463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🔀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Merge →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1"/>
          <p:cNvSpPr/>
          <p:nvPr/>
        </p:nvSpPr>
        <p:spPr>
          <a:xfrm>
            <a:off x="6013252" y="3133799"/>
            <a:ext cx="248022" cy="155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1"/>
          <p:cNvSpPr/>
          <p:nvPr/>
        </p:nvSpPr>
        <p:spPr>
          <a:xfrm>
            <a:off x="6013252" y="3305473"/>
            <a:ext cx="2634555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1"/>
          <p:cNvSpPr/>
          <p:nvPr/>
        </p:nvSpPr>
        <p:spPr>
          <a:xfrm>
            <a:off x="6013252" y="3420814"/>
            <a:ext cx="2634555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🏪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Vercel Production 자동 갱신 → 같은 주소 · 새 모습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1"/>
          <p:cNvSpPr/>
          <p:nvPr/>
        </p:nvSpPr>
        <p:spPr>
          <a:xfrm>
            <a:off x="496119" y="4045818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2단계 시연(P74~P78)은 이 9칸을 그대로 따라갑니다. 지금은 순서만 눈에 넣어 두세요.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2"/>
          <p:cNvSpPr/>
          <p:nvPr/>
        </p:nvSpPr>
        <p:spPr>
          <a:xfrm>
            <a:off x="496119" y="348109"/>
            <a:ext cx="8151763" cy="204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50"/>
              <a:buFont typeface="Roboto Slab"/>
              <a:buNone/>
            </a:pP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P57 ·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🔐</a:t>
            </a: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환경 변수와 비밀 키 — 문 두 개의 스위치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2" name="Google Shape;90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618679"/>
            <a:ext cx="65532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3"/>
          <p:cNvSpPr/>
          <p:nvPr/>
        </p:nvSpPr>
        <p:spPr>
          <a:xfrm>
            <a:off x="496119" y="862980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P58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🏃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바통 ② — 1단계 → 2단계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3"/>
          <p:cNvSpPr/>
          <p:nvPr/>
        </p:nvSpPr>
        <p:spPr>
          <a:xfrm>
            <a:off x="682154" y="1652364"/>
            <a:ext cx="8422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🧾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 마스터 프롬프트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(캔버스 칸을 옮긴 것) +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파이프라인 지도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(v0 → GitHub → 에이전트 → CI → Vercel)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2단계에서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 MVP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3"/>
          <p:cNvSpPr/>
          <p:nvPr/>
        </p:nvSpPr>
        <p:spPr>
          <a:xfrm>
            <a:off x="496119" y="1512838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11" name="Google Shape;911;p53"/>
          <p:cNvGraphicFramePr/>
          <p:nvPr/>
        </p:nvGraphicFramePr>
        <p:xfrm>
          <a:off x="496119" y="2353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569650"/>
                <a:gridCol w="55821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모자 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2단계에서 맡을 역할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기획자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캔버스 · 원본과 비교 기준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실행자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v0 주문 · Publish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탐정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미리보기 테스트 · 개발자도구 Local Storage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성찰자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토론 · 다음 버전 백로그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2" name="Google Shape;912;p53"/>
          <p:cNvSpPr/>
          <p:nvPr/>
        </p:nvSpPr>
        <p:spPr>
          <a:xfrm>
            <a:off x="496119" y="4305203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50분 지점, 바로 노트북을 엽니다. 설명은 끝났고 이제부터는 손이 움직입니다.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8" name="Google Shape;91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54"/>
          <p:cNvSpPr/>
          <p:nvPr/>
        </p:nvSpPr>
        <p:spPr>
          <a:xfrm>
            <a:off x="3925119" y="592782"/>
            <a:ext cx="90532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4"/>
          <p:cNvSpPr/>
          <p:nvPr/>
        </p:nvSpPr>
        <p:spPr>
          <a:xfrm>
            <a:off x="3999533" y="633671"/>
            <a:ext cx="121369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50:00 – 90:00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4"/>
          <p:cNvSpPr/>
          <p:nvPr/>
        </p:nvSpPr>
        <p:spPr>
          <a:xfrm>
            <a:off x="3925119" y="830907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P59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2단계 · 클론 실습 — v0로 MVP를 만들고, 올리고, 토론한다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2" name="Google Shape;92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806327"/>
            <a:ext cx="620167" cy="91789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54"/>
          <p:cNvSpPr/>
          <p:nvPr/>
        </p:nvSpPr>
        <p:spPr>
          <a:xfrm>
            <a:off x="4669259" y="1930301"/>
            <a:ext cx="39786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50 – 72분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4"/>
          <p:cNvSpPr/>
          <p:nvPr/>
        </p:nvSpPr>
        <p:spPr>
          <a:xfrm>
            <a:off x="4669259" y="2203326"/>
            <a:ext cx="397862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 클론 ① 뼈대 → ② 데이터 → ③ 엔진 → ④ 탐정 → ⑤ 한 끗 · 소개 → ⑥ Publish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5" name="Google Shape;92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724224"/>
            <a:ext cx="620167" cy="7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4"/>
          <p:cNvSpPr/>
          <p:nvPr/>
        </p:nvSpPr>
        <p:spPr>
          <a:xfrm>
            <a:off x="4669259" y="2848198"/>
            <a:ext cx="39786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72 – 80분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4"/>
          <p:cNvSpPr/>
          <p:nvPr/>
        </p:nvSpPr>
        <p:spPr>
          <a:xfrm>
            <a:off x="4669259" y="3121223"/>
            <a:ext cx="39786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CI/CD 연결 시연 (GitHub · 에이전트 · Preview · Production)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8" name="Google Shape;928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3468439"/>
            <a:ext cx="620167" cy="744215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54"/>
          <p:cNvSpPr/>
          <p:nvPr/>
        </p:nvSpPr>
        <p:spPr>
          <a:xfrm>
            <a:off x="4669259" y="3592413"/>
            <a:ext cx="397862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🟢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80 – 90분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54"/>
          <p:cNvSpPr/>
          <p:nvPr/>
        </p:nvSpPr>
        <p:spPr>
          <a:xfrm>
            <a:off x="4669259" y="3865438"/>
            <a:ext cx="397862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MVP 갤러리 · 토론 · 다음 버전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3925119" y="4352181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40분 안에 만들고, 올리고, 이야기까지 합니다. 단계마다 시간을 화면에 띄워 두세요.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5"/>
          <p:cNvSpPr/>
          <p:nvPr/>
        </p:nvSpPr>
        <p:spPr>
          <a:xfrm>
            <a:off x="496119" y="569044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P60 · 출발 전 체크 — 받은 바통이 다 있나?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8" name="Google Shape;938;p55"/>
          <p:cNvGraphicFramePr/>
          <p:nvPr/>
        </p:nvGraphicFramePr>
        <p:xfrm>
          <a:off x="496119" y="1204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4075875"/>
                <a:gridCol w="40758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준비물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어디서 왔나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  클론 기획 캔버스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0단계 P28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  시드 JSON (샘플 3 + 규칙)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0단계 P30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  v0 마스터 프롬프트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1단계 P42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  원본 앱 화면 캡처 2~3장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0단계 P21 관찰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  v0 로그인된 노트북 (학교 · 선생님 계정)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수업 전 준비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  원본 앱을 띄운 휴대폰 (비교용)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0단계 P07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9" name="Google Shape;939;p55"/>
          <p:cNvSpPr/>
          <p:nvPr/>
        </p:nvSpPr>
        <p:spPr>
          <a:xfrm>
            <a:off x="496119" y="3879949"/>
            <a:ext cx="8151763" cy="694432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0" name="Google Shape;94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059734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55"/>
          <p:cNvSpPr/>
          <p:nvPr/>
        </p:nvSpPr>
        <p:spPr>
          <a:xfrm>
            <a:off x="899071" y="4034879"/>
            <a:ext cx="7624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원본 앱을 띄운 휴대폰을 노트북 옆에 세워 두는 것이 클론 코딩의 핵심 배치입니다. </a:t>
            </a:r>
            <a:b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캔버스 → 프롬프트 → 캡처 → v0 → 원본 폰 순서로 책상을 정리하세요.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6"/>
          <p:cNvSpPr/>
          <p:nvPr/>
        </p:nvSpPr>
        <p:spPr>
          <a:xfrm>
            <a:off x="496119" y="344984"/>
            <a:ext cx="8151763" cy="3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P61 · 실습 지도 — 6스텝이 레이어를 아래에서 위로 채운다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56"/>
          <p:cNvSpPr/>
          <p:nvPr/>
        </p:nvSpPr>
        <p:spPr>
          <a:xfrm>
            <a:off x="593006" y="991865"/>
            <a:ext cx="96887" cy="435992"/>
          </a:xfrm>
          <a:prstGeom prst="roundRect">
            <a:avLst>
              <a:gd fmla="val 15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56"/>
          <p:cNvSpPr/>
          <p:nvPr/>
        </p:nvSpPr>
        <p:spPr>
          <a:xfrm>
            <a:off x="862459" y="943421"/>
            <a:ext cx="359137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① 뼈대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6"/>
          <p:cNvSpPr/>
          <p:nvPr/>
        </p:nvSpPr>
        <p:spPr>
          <a:xfrm>
            <a:off x="862459" y="1170533"/>
            <a:ext cx="359137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UI ·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상태 ·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문 두 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6"/>
          <p:cNvSpPr/>
          <p:nvPr/>
        </p:nvSpPr>
        <p:spPr>
          <a:xfrm>
            <a:off x="738336" y="1648941"/>
            <a:ext cx="96887" cy="435992"/>
          </a:xfrm>
          <a:prstGeom prst="roundRect">
            <a:avLst>
              <a:gd fmla="val 15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6"/>
          <p:cNvSpPr/>
          <p:nvPr/>
        </p:nvSpPr>
        <p:spPr>
          <a:xfrm>
            <a:off x="1007790" y="1600498"/>
            <a:ext cx="344604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② 데이터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6"/>
          <p:cNvSpPr/>
          <p:nvPr/>
        </p:nvSpPr>
        <p:spPr>
          <a:xfrm>
            <a:off x="1007790" y="1827609"/>
            <a:ext cx="344604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data/*.json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6"/>
          <p:cNvSpPr/>
          <p:nvPr/>
        </p:nvSpPr>
        <p:spPr>
          <a:xfrm>
            <a:off x="883667" y="2306017"/>
            <a:ext cx="96887" cy="435992"/>
          </a:xfrm>
          <a:prstGeom prst="roundRect">
            <a:avLst>
              <a:gd fmla="val 15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6"/>
          <p:cNvSpPr/>
          <p:nvPr/>
        </p:nvSpPr>
        <p:spPr>
          <a:xfrm>
            <a:off x="1153120" y="2257574"/>
            <a:ext cx="3300710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③ 엔진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6"/>
          <p:cNvSpPr/>
          <p:nvPr/>
        </p:nvSpPr>
        <p:spPr>
          <a:xfrm>
            <a:off x="1153120" y="2484686"/>
            <a:ext cx="3300710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engine.ts 규칙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6"/>
          <p:cNvSpPr/>
          <p:nvPr/>
        </p:nvSpPr>
        <p:spPr>
          <a:xfrm>
            <a:off x="1029072" y="2963094"/>
            <a:ext cx="96887" cy="435992"/>
          </a:xfrm>
          <a:prstGeom prst="roundRect">
            <a:avLst>
              <a:gd fmla="val 15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56"/>
          <p:cNvSpPr/>
          <p:nvPr/>
        </p:nvSpPr>
        <p:spPr>
          <a:xfrm>
            <a:off x="1298525" y="2914650"/>
            <a:ext cx="3155305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④ 탐정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6"/>
          <p:cNvSpPr/>
          <p:nvPr/>
        </p:nvSpPr>
        <p:spPr>
          <a:xfrm>
            <a:off x="1298525" y="3141762"/>
            <a:ext cx="3155305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 레이어 점검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56"/>
          <p:cNvSpPr/>
          <p:nvPr/>
        </p:nvSpPr>
        <p:spPr>
          <a:xfrm>
            <a:off x="883667" y="3620170"/>
            <a:ext cx="96887" cy="435992"/>
          </a:xfrm>
          <a:prstGeom prst="roundRect">
            <a:avLst>
              <a:gd fmla="val 15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6"/>
          <p:cNvSpPr/>
          <p:nvPr/>
        </p:nvSpPr>
        <p:spPr>
          <a:xfrm>
            <a:off x="1153120" y="3571726"/>
            <a:ext cx="3300710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⑤ 한 끗 · 소개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6"/>
          <p:cNvSpPr/>
          <p:nvPr/>
        </p:nvSpPr>
        <p:spPr>
          <a:xfrm>
            <a:off x="1153120" y="3798838"/>
            <a:ext cx="3300710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/about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6"/>
          <p:cNvSpPr/>
          <p:nvPr/>
        </p:nvSpPr>
        <p:spPr>
          <a:xfrm>
            <a:off x="738336" y="4277246"/>
            <a:ext cx="96887" cy="435992"/>
          </a:xfrm>
          <a:prstGeom prst="roundRect">
            <a:avLst>
              <a:gd fmla="val 15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6"/>
          <p:cNvSpPr/>
          <p:nvPr/>
        </p:nvSpPr>
        <p:spPr>
          <a:xfrm>
            <a:off x="1007790" y="4228802"/>
            <a:ext cx="344604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⑥ Publish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6"/>
          <p:cNvSpPr/>
          <p:nvPr/>
        </p:nvSpPr>
        <p:spPr>
          <a:xfrm>
            <a:off x="1007790" y="4455914"/>
            <a:ext cx="344604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주소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56"/>
          <p:cNvSpPr/>
          <p:nvPr/>
        </p:nvSpPr>
        <p:spPr>
          <a:xfrm>
            <a:off x="496119" y="928241"/>
            <a:ext cx="290661" cy="290661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7" name="Google Shape;96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747" y="1000944"/>
            <a:ext cx="145331" cy="145331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56"/>
          <p:cNvSpPr/>
          <p:nvPr/>
        </p:nvSpPr>
        <p:spPr>
          <a:xfrm>
            <a:off x="641449" y="1585317"/>
            <a:ext cx="290661" cy="290661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9" name="Google Shape;96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077" y="1658020"/>
            <a:ext cx="145331" cy="145331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56"/>
          <p:cNvSpPr/>
          <p:nvPr/>
        </p:nvSpPr>
        <p:spPr>
          <a:xfrm>
            <a:off x="786780" y="2242393"/>
            <a:ext cx="290661" cy="290661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1" name="Google Shape;971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408" y="2315096"/>
            <a:ext cx="145331" cy="145331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56"/>
          <p:cNvSpPr/>
          <p:nvPr/>
        </p:nvSpPr>
        <p:spPr>
          <a:xfrm>
            <a:off x="932185" y="2899470"/>
            <a:ext cx="290661" cy="290661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3" name="Google Shape;97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4813" y="2972172"/>
            <a:ext cx="145331" cy="145331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56"/>
          <p:cNvSpPr/>
          <p:nvPr/>
        </p:nvSpPr>
        <p:spPr>
          <a:xfrm>
            <a:off x="786780" y="3556546"/>
            <a:ext cx="290661" cy="290661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5" name="Google Shape;975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408" y="3629248"/>
            <a:ext cx="145331" cy="14533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56"/>
          <p:cNvSpPr/>
          <p:nvPr/>
        </p:nvSpPr>
        <p:spPr>
          <a:xfrm>
            <a:off x="641449" y="4213622"/>
            <a:ext cx="290661" cy="290661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7" name="Google Shape;977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077" y="4286324"/>
            <a:ext cx="145331" cy="145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7"/>
          <p:cNvSpPr/>
          <p:nvPr/>
        </p:nvSpPr>
        <p:spPr>
          <a:xfrm>
            <a:off x="496119" y="1099617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P62 · v0 화면 — 어디에 무엇을?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4" name="Google Shape;98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35187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57"/>
          <p:cNvSpPr/>
          <p:nvPr/>
        </p:nvSpPr>
        <p:spPr>
          <a:xfrm>
            <a:off x="899145" y="1777826"/>
            <a:ext cx="221084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대화창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7"/>
          <p:cNvSpPr/>
          <p:nvPr/>
        </p:nvSpPr>
        <p:spPr>
          <a:xfrm>
            <a:off x="899145" y="2073167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 카운터 ·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📎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캡처 첨부. 원본 화면 캡처를 여기에 붙여 말과 함께 보냅니다.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7" name="Google Shape;98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735187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57"/>
          <p:cNvSpPr/>
          <p:nvPr/>
        </p:nvSpPr>
        <p:spPr>
          <a:xfrm>
            <a:off x="3668018" y="1777826"/>
            <a:ext cx="221091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👀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미리보기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7"/>
          <p:cNvSpPr/>
          <p:nvPr/>
        </p:nvSpPr>
        <p:spPr>
          <a:xfrm>
            <a:off x="3668018" y="2073167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쇼윈도 · 직접 눌러 보기 ·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휴대폰 크기 전환. 원본 폰과 나란히 비교합니다.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0" name="Google Shape;99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735187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57"/>
          <p:cNvSpPr/>
          <p:nvPr/>
        </p:nvSpPr>
        <p:spPr>
          <a:xfrm>
            <a:off x="6436965" y="1777826"/>
            <a:ext cx="221091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코드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7"/>
          <p:cNvSpPr/>
          <p:nvPr/>
        </p:nvSpPr>
        <p:spPr>
          <a:xfrm>
            <a:off x="6436965" y="2073167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주방 창문 · lib/repo.ts · lib/engine.ts 찾기. import 두 줄을 확인합니다.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3" name="Google Shape;993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695798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57"/>
          <p:cNvSpPr/>
          <p:nvPr/>
        </p:nvSpPr>
        <p:spPr>
          <a:xfrm>
            <a:off x="899145" y="2738438"/>
            <a:ext cx="221084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버전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7"/>
          <p:cNvSpPr/>
          <p:nvPr/>
        </p:nvSpPr>
        <p:spPr>
          <a:xfrm>
            <a:off x="899145" y="3033778"/>
            <a:ext cx="221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세이브 포인트. 망가지면 언제든 이전으로 돌아올 수 있습니다.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6" name="Google Shape;996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2695798"/>
            <a:ext cx="248022" cy="248022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57"/>
          <p:cNvSpPr/>
          <p:nvPr/>
        </p:nvSpPr>
        <p:spPr>
          <a:xfrm>
            <a:off x="3668018" y="2738438"/>
            <a:ext cx="221091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🎊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Publish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7"/>
          <p:cNvSpPr/>
          <p:nvPr/>
        </p:nvSpPr>
        <p:spPr>
          <a:xfrm>
            <a:off x="3668018" y="3033778"/>
            <a:ext cx="2211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Vercel로 개점. ⑥에서 단 한 번만 누릅니다.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7"/>
          <p:cNvSpPr/>
          <p:nvPr/>
        </p:nvSpPr>
        <p:spPr>
          <a:xfrm>
            <a:off x="496119" y="3737588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0" name="Google Shape;1000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092" y="391737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57"/>
          <p:cNvSpPr/>
          <p:nvPr/>
        </p:nvSpPr>
        <p:spPr>
          <a:xfrm>
            <a:off x="899071" y="3892518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v0 메뉴 이름은 바뀔 수 있으니 실제 화면을 함께 띄워 손가락으로 짚어 주세요.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8"/>
          <p:cNvSpPr/>
          <p:nvPr/>
        </p:nvSpPr>
        <p:spPr>
          <a:xfrm>
            <a:off x="496119" y="443880"/>
            <a:ext cx="8151763" cy="371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P63 · 팀 회전 규칙 — 주문 한 번마다 모자를 돌린다 </a:t>
            </a:r>
            <a:r>
              <a:rPr b="0" i="0" lang="ko-KR" sz="2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🎩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8"/>
          <p:cNvSpPr/>
          <p:nvPr/>
        </p:nvSpPr>
        <p:spPr>
          <a:xfrm>
            <a:off x="496119" y="2241575"/>
            <a:ext cx="242061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🧭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기획자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8"/>
          <p:cNvSpPr/>
          <p:nvPr/>
        </p:nvSpPr>
        <p:spPr>
          <a:xfrm>
            <a:off x="496119" y="2510572"/>
            <a:ext cx="242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캔버스 · 원본 폰 들고 "원본이랑 같아?" 비교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0" name="Google Shape;10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1026319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1" name="Google Shape;101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2633" y="2195550"/>
            <a:ext cx="171078" cy="17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58"/>
          <p:cNvSpPr/>
          <p:nvPr/>
        </p:nvSpPr>
        <p:spPr>
          <a:xfrm>
            <a:off x="6170042" y="1485454"/>
            <a:ext cx="2477839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🛠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실행자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8"/>
          <p:cNvSpPr/>
          <p:nvPr/>
        </p:nvSpPr>
        <p:spPr>
          <a:xfrm>
            <a:off x="6170042" y="1754451"/>
            <a:ext cx="2477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주문 소리 내어 읽으며 입력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4" name="Google Shape;101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1026319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5" name="Google Shape;1015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6943" y="1601130"/>
            <a:ext cx="171078" cy="17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58"/>
          <p:cNvSpPr/>
          <p:nvPr/>
        </p:nvSpPr>
        <p:spPr>
          <a:xfrm>
            <a:off x="6170042" y="2997771"/>
            <a:ext cx="2477839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🕵️</a:t>
            </a: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탐정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8"/>
          <p:cNvSpPr/>
          <p:nvPr/>
        </p:nvSpPr>
        <p:spPr>
          <a:xfrm>
            <a:off x="6170042" y="3266768"/>
            <a:ext cx="2477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미리보기 눌러 보고 포스트잇에 적기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8" name="Google Shape;1018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1026319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9" name="Google Shape;1019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9584" y="3304989"/>
            <a:ext cx="171078" cy="17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58"/>
          <p:cNvSpPr/>
          <p:nvPr/>
        </p:nvSpPr>
        <p:spPr>
          <a:xfrm>
            <a:off x="496119" y="3997970"/>
            <a:ext cx="2646983" cy="407268"/>
          </a:xfrm>
          <a:prstGeom prst="roundRect">
            <a:avLst>
              <a:gd fmla="val 421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8"/>
          <p:cNvSpPr/>
          <p:nvPr/>
        </p:nvSpPr>
        <p:spPr>
          <a:xfrm>
            <a:off x="610419" y="4112270"/>
            <a:ext cx="2418383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① 주문 1번 = 모자 1칸 회전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8"/>
          <p:cNvSpPr/>
          <p:nvPr/>
        </p:nvSpPr>
        <p:spPr>
          <a:xfrm>
            <a:off x="3248471" y="3997970"/>
            <a:ext cx="2646983" cy="407268"/>
          </a:xfrm>
          <a:prstGeom prst="roundRect">
            <a:avLst>
              <a:gd fmla="val 421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8"/>
          <p:cNvSpPr/>
          <p:nvPr/>
        </p:nvSpPr>
        <p:spPr>
          <a:xfrm>
            <a:off x="3362771" y="4112270"/>
            <a:ext cx="2418383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② 실행자는 소리 내어 읽기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8"/>
          <p:cNvSpPr/>
          <p:nvPr/>
        </p:nvSpPr>
        <p:spPr>
          <a:xfrm>
            <a:off x="6000824" y="3997970"/>
            <a:ext cx="2647057" cy="407268"/>
          </a:xfrm>
          <a:prstGeom prst="roundRect">
            <a:avLst>
              <a:gd fmla="val 421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8"/>
          <p:cNvSpPr/>
          <p:nvPr/>
        </p:nvSpPr>
        <p:spPr>
          <a:xfrm>
            <a:off x="6115124" y="4112270"/>
            <a:ext cx="2418457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③ 탐정은 적기만 · 고치는 건 다음 실행자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8"/>
          <p:cNvSpPr/>
          <p:nvPr/>
        </p:nvSpPr>
        <p:spPr>
          <a:xfrm>
            <a:off x="496119" y="4523780"/>
            <a:ext cx="860896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키보드 독점 방지 규칙입니다. 6번 주문하면 모두 두 바퀴씩 돕니다.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59"/>
          <p:cNvSpPr/>
          <p:nvPr/>
        </p:nvSpPr>
        <p:spPr>
          <a:xfrm>
            <a:off x="496119" y="1159371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P65 · ① 확인 — 원본과 나란히 · 코드 속 문 두 개 찾기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9"/>
          <p:cNvSpPr/>
          <p:nvPr/>
        </p:nvSpPr>
        <p:spPr>
          <a:xfrm>
            <a:off x="496119" y="1856929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원본 vs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💻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클론 비교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4" name="Google Shape;1034;p59"/>
          <p:cNvGraphicFramePr/>
          <p:nvPr/>
        </p:nvGraphicFramePr>
        <p:xfrm>
          <a:off x="496119" y="2195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308450"/>
                <a:gridCol w="1308075"/>
                <a:gridCol w="13080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확인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원본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클론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단계 수 · 진행 바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6단계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4단계 (MVP) 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첫 화면에 샘플 바로 시작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하단 고지 문구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5" name="Google Shape;1035;p59"/>
          <p:cNvSpPr/>
          <p:nvPr/>
        </p:nvSpPr>
        <p:spPr>
          <a:xfrm>
            <a:off x="4728046" y="1856929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코드에서 찾기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9"/>
          <p:cNvSpPr/>
          <p:nvPr/>
        </p:nvSpPr>
        <p:spPr>
          <a:xfrm>
            <a:off x="4728046" y="2263304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9"/>
          <p:cNvSpPr/>
          <p:nvPr/>
        </p:nvSpPr>
        <p:spPr>
          <a:xfrm>
            <a:off x="4914007" y="2195066"/>
            <a:ext cx="16987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app/page.tsx 의 import 줄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59"/>
          <p:cNvSpPr/>
          <p:nvPr/>
        </p:nvSpPr>
        <p:spPr>
          <a:xfrm>
            <a:off x="6767810" y="2263304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59"/>
          <p:cNvSpPr/>
          <p:nvPr/>
        </p:nvSpPr>
        <p:spPr>
          <a:xfrm>
            <a:off x="6953771" y="2195066"/>
            <a:ext cx="169887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@/lib/repo · @/lib/engine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있나?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문 두 개 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59"/>
          <p:cNvSpPr/>
          <p:nvPr/>
        </p:nvSpPr>
        <p:spPr>
          <a:xfrm>
            <a:off x="4728046" y="2908250"/>
            <a:ext cx="61987" cy="61987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9"/>
          <p:cNvSpPr/>
          <p:nvPr/>
        </p:nvSpPr>
        <p:spPr>
          <a:xfrm>
            <a:off x="4914007" y="2840013"/>
            <a:ext cx="37386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@/data/... 직접 import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고치는 주문 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9"/>
          <p:cNvSpPr/>
          <p:nvPr/>
        </p:nvSpPr>
        <p:spPr>
          <a:xfrm>
            <a:off x="4914081" y="3289622"/>
            <a:ext cx="373856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이면: "page.tsx 에서 data 를 직접 import 하지 말고 repo.ts 를 거치게 고쳐 줘. 화면은 바꾸지 마."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9"/>
          <p:cNvSpPr/>
          <p:nvPr/>
        </p:nvSpPr>
        <p:spPr>
          <a:xfrm>
            <a:off x="4728046" y="3178001"/>
            <a:ext cx="14288" cy="62016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9" name="Google Shape;104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0"/>
          <p:cNvSpPr/>
          <p:nvPr/>
        </p:nvSpPr>
        <p:spPr>
          <a:xfrm>
            <a:off x="496119" y="352574"/>
            <a:ext cx="566663" cy="147191"/>
          </a:xfrm>
          <a:prstGeom prst="roundRect">
            <a:avLst>
              <a:gd fmla="val 790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60"/>
          <p:cNvSpPr/>
          <p:nvPr/>
        </p:nvSpPr>
        <p:spPr>
          <a:xfrm>
            <a:off x="554236" y="383908"/>
            <a:ext cx="907628" cy="89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55 – 59분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60"/>
          <p:cNvSpPr/>
          <p:nvPr/>
        </p:nvSpPr>
        <p:spPr>
          <a:xfrm>
            <a:off x="496119" y="529977"/>
            <a:ext cx="4722763" cy="3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P66 · 실습 ② 데이터 — 진열장 채우기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496119" y="946398"/>
            <a:ext cx="4722763" cy="1433810"/>
          </a:xfrm>
          <a:prstGeom prst="roundRect">
            <a:avLst>
              <a:gd fmla="val 1014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0"/>
          <p:cNvSpPr/>
          <p:nvPr/>
        </p:nvSpPr>
        <p:spPr>
          <a:xfrm>
            <a:off x="612353" y="1043285"/>
            <a:ext cx="4490293" cy="1240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아래 JSON 2개를 data/samples.json, data/templates.json 으로 만들어 줘.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AI가 만든 샘플 데이터는 지우고 이 데이터만 써 줘.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읽기는 반드시 lib/repo.ts 를 거치게 해 줘.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첫 화면에는 samples.json 의 샘플 3개를 카드로 보여 주고,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누르면 바로 2단계(서술형 보기)로 가게 해 줘.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(캔버스의 samples.json 붙여넣기)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ko-KR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(캔버스의 templates.json 붙여넣기)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5" name="Google Shape;1055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465338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60"/>
          <p:cNvSpPr/>
          <p:nvPr/>
        </p:nvSpPr>
        <p:spPr>
          <a:xfrm>
            <a:off x="4312044" y="380729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클릭 → 서술형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60"/>
          <p:cNvSpPr/>
          <p:nvPr/>
        </p:nvSpPr>
        <p:spPr>
          <a:xfrm>
            <a:off x="3414322" y="380729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샘플 카드 3장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60"/>
          <p:cNvSpPr/>
          <p:nvPr/>
        </p:nvSpPr>
        <p:spPr>
          <a:xfrm>
            <a:off x="2521479" y="3738688"/>
            <a:ext cx="712323" cy="27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repo.getSamples()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60"/>
          <p:cNvSpPr/>
          <p:nvPr/>
        </p:nvSpPr>
        <p:spPr>
          <a:xfrm>
            <a:off x="1628635" y="380729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data/ 폴더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0"/>
          <p:cNvSpPr/>
          <p:nvPr/>
        </p:nvSpPr>
        <p:spPr>
          <a:xfrm>
            <a:off x="716276" y="380729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캔버스 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0"/>
          <p:cNvSpPr/>
          <p:nvPr/>
        </p:nvSpPr>
        <p:spPr>
          <a:xfrm>
            <a:off x="496119" y="4322638"/>
            <a:ext cx="4722763" cy="468213"/>
          </a:xfrm>
          <a:prstGeom prst="roundRect">
            <a:avLst>
              <a:gd fmla="val 3105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2" name="Google Shape;106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06" y="4428158"/>
            <a:ext cx="121072" cy="9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60"/>
          <p:cNvSpPr/>
          <p:nvPr/>
        </p:nvSpPr>
        <p:spPr>
          <a:xfrm>
            <a:off x="810964" y="4422502"/>
            <a:ext cx="4311030" cy="276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탐정: </a:t>
            </a:r>
            <a:r>
              <a:rPr b="1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원본에 없는 이상한 샘플</a:t>
            </a: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남아 있지 않은지 확인하세요. "빈 화면 금지" 원칙입니다. 원본 DeepQ도 "샘플 문제로 바로 시작"이 첫 화면에 있습니다.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1"/>
          <p:cNvSpPr/>
          <p:nvPr/>
        </p:nvSpPr>
        <p:spPr>
          <a:xfrm>
            <a:off x="496119" y="1029891"/>
            <a:ext cx="72553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1"/>
          <p:cNvSpPr/>
          <p:nvPr/>
        </p:nvSpPr>
        <p:spPr>
          <a:xfrm>
            <a:off x="570533" y="1070779"/>
            <a:ext cx="103390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59 – 64분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61"/>
          <p:cNvSpPr/>
          <p:nvPr/>
        </p:nvSpPr>
        <p:spPr>
          <a:xfrm>
            <a:off x="496119" y="1268016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P67 · 실습 ③ 엔진 — 패턴별 핵심 기능 주문 카드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2" name="Google Shape;107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41599"/>
            <a:ext cx="2634555" cy="193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61"/>
          <p:cNvSpPr/>
          <p:nvPr/>
        </p:nvSpPr>
        <p:spPr>
          <a:xfrm>
            <a:off x="691530" y="1979861"/>
            <a:ext cx="230088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🅠 DeepQ 클론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61"/>
          <p:cNvSpPr/>
          <p:nvPr/>
        </p:nvSpPr>
        <p:spPr>
          <a:xfrm>
            <a:off x="691530" y="2248123"/>
            <a:ext cx="2300883" cy="13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lib/engine.ts 에 grade(answer, rubric) 를 만들어 줘. 루브릭 항목마다 keywords 중 하나라도 답안에 있으면 max 점, minLength 항목은 글자 수로 판단. 0점 항목에는 "○○를 쓰면 +n점" 힌트. 1.2초 "채점 중…" 후 항목별 점수 막대로 보여 주고 repo.ts 로 "mq:submissions" 에 저장해 줘.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5" name="Google Shape;107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648" y="1841599"/>
            <a:ext cx="2634630" cy="193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61"/>
          <p:cNvSpPr/>
          <p:nvPr/>
        </p:nvSpPr>
        <p:spPr>
          <a:xfrm>
            <a:off x="3450059" y="1979861"/>
            <a:ext cx="230095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🎭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TeenDramaro 클론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1"/>
          <p:cNvSpPr/>
          <p:nvPr/>
        </p:nvSpPr>
        <p:spPr>
          <a:xfrm>
            <a:off x="3450059" y="2252886"/>
            <a:ext cx="2300957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lib/safety.ts 의 check() 를 먼저 만들고 모든 입력이 엔진보다 먼저 지나가게 해 줘. 그다음 engine.ts 의 directorLine(act, name) 이 data/acts.json 의 막별 질문을 순서대로 {name} 을 바꿔 보여 주게 해 줘.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8" name="Google Shape;107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252" y="1841599"/>
            <a:ext cx="2634555" cy="19340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61"/>
          <p:cNvSpPr/>
          <p:nvPr/>
        </p:nvSpPr>
        <p:spPr>
          <a:xfrm>
            <a:off x="6208663" y="1979861"/>
            <a:ext cx="230088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틴스파크 클론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1"/>
          <p:cNvSpPr/>
          <p:nvPr/>
        </p:nvSpPr>
        <p:spPr>
          <a:xfrm>
            <a:off x="6208663" y="2252886"/>
            <a:ext cx="2300883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lib/engine.ts 의 respond(input, ctx) 가 data/responses.json 에서 keywords 가 포함된 항목을 고르고, 없으면 id "default". 반환은 { text, followUp, next }. 답 아래에 followUp 을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🙋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되묻기 카드로 보여 줘.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1"/>
          <p:cNvSpPr/>
          <p:nvPr/>
        </p:nvSpPr>
        <p:spPr>
          <a:xfrm>
            <a:off x="496119" y="3915147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주문 하나로 앱이 "AI처럼" 움직이기 시작합니다. 0단계에서 뽑은 규칙표가 여기서 쓰입니다.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/>
          <p:nvPr/>
        </p:nvSpPr>
        <p:spPr>
          <a:xfrm>
            <a:off x="496119" y="347142"/>
            <a:ext cx="8151763" cy="24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50"/>
              <a:buFont typeface="Roboto Slab"/>
              <a:buNone/>
            </a:pPr>
            <a:r>
              <a:rPr b="0" i="0" lang="ko-KR" sz="15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P68 · ③ 확인 — 원본과 같은 답을 내는가?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8" name="Google Shape;108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100" y="697260"/>
            <a:ext cx="4787801" cy="28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62"/>
          <p:cNvSpPr/>
          <p:nvPr/>
        </p:nvSpPr>
        <p:spPr>
          <a:xfrm>
            <a:off x="5510481" y="2879716"/>
            <a:ext cx="1190138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수정 판단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62"/>
          <p:cNvSpPr/>
          <p:nvPr/>
        </p:nvSpPr>
        <p:spPr>
          <a:xfrm>
            <a:off x="4010581" y="2879716"/>
            <a:ext cx="1190138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결과 비교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62"/>
          <p:cNvSpPr/>
          <p:nvPr/>
        </p:nvSpPr>
        <p:spPr>
          <a:xfrm>
            <a:off x="2486226" y="2879716"/>
            <a:ext cx="1190138" cy="229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0단계 입력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2" name="Google Shape;1092;p62"/>
          <p:cNvGraphicFramePr/>
          <p:nvPr/>
        </p:nvGraphicFramePr>
        <p:xfrm>
          <a:off x="529744" y="32836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037950"/>
                <a:gridCol w="2037950"/>
                <a:gridCol w="2037950"/>
                <a:gridCol w="2037950"/>
              </a:tblGrid>
              <a:tr h="17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입력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원본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클론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고칠 곳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"빛이 없어서 양분을 못 만들어서"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3 · 근거 2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"시들었다"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0 ·  힌트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(빈칸)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안내 문구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엔진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아무 말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default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JSON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79475" marL="794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3" name="Google Shape;1093;p62"/>
          <p:cNvSpPr/>
          <p:nvPr/>
        </p:nvSpPr>
        <p:spPr>
          <a:xfrm>
            <a:off x="496119" y="4555852"/>
            <a:ext cx="8151763" cy="240506"/>
          </a:xfrm>
          <a:prstGeom prst="roundRect">
            <a:avLst>
              <a:gd fmla="val 495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4" name="Google Shape;109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518" y="4628480"/>
            <a:ext cx="99268" cy="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62"/>
          <p:cNvSpPr/>
          <p:nvPr/>
        </p:nvSpPr>
        <p:spPr>
          <a:xfrm>
            <a:off x="754187" y="4626755"/>
            <a:ext cx="8271495" cy="104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🔑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답이 틀리면 → JSON (데이터)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· </a:t>
            </a:r>
            <a:r>
              <a:rPr b="1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답이 안 나오면 → engine (규칙)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"어느 레이어를 고칠까"를 학생이 직접 판단하게 하세요.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3"/>
          <p:cNvSpPr/>
          <p:nvPr/>
        </p:nvSpPr>
        <p:spPr>
          <a:xfrm>
            <a:off x="496119" y="363364"/>
            <a:ext cx="702618" cy="182538"/>
          </a:xfrm>
          <a:prstGeom prst="roundRect">
            <a:avLst>
              <a:gd fmla="val 790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3"/>
          <p:cNvSpPr/>
          <p:nvPr/>
        </p:nvSpPr>
        <p:spPr>
          <a:xfrm>
            <a:off x="568151" y="401279"/>
            <a:ext cx="1015752" cy="11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64 – 68분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63"/>
          <p:cNvSpPr/>
          <p:nvPr/>
        </p:nvSpPr>
        <p:spPr>
          <a:xfrm>
            <a:off x="496119" y="592410"/>
            <a:ext cx="8151763" cy="37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P69 · 실습 ④ 탐정 — 클론 점검 7개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4" name="Google Shape;1104;p63"/>
          <p:cNvGraphicFramePr/>
          <p:nvPr/>
        </p:nvGraphicFramePr>
        <p:xfrm>
          <a:off x="496119" y="1142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777175"/>
                <a:gridCol w="3298725"/>
                <a:gridCol w="2037950"/>
                <a:gridCol w="2037950"/>
              </a:tblGrid>
              <a:tr h="34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탐정 질문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해 보는 법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O/X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원본과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같은 순서</a:t>
                      </a: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로 흘러가나?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원본 폰과 나란히 처음부터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빈 입력 · 이상한 입력</a:t>
                      </a: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에도 default가 나오나?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빈칸 ·  · 300자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새로고침</a:t>
                      </a: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해도 기록이 남나?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채점 → 새로고침 → /problems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Local Storage</a:t>
                      </a: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 키가 보이나?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개발자도구 → Application → Local Storage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휴대폰 크기</a:t>
                      </a: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에서 버튼이 크나?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미리보기 휴대폰 모드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학습용 클론 고지 · 원본 로고 없음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화면 하단 · 머리글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9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9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클론 목표 한 줄</a:t>
                      </a: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이 이뤄졌나?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캔버스 맨 윗줄과 비교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☐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0175" marL="12017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5" name="Google Shape;1105;p63"/>
          <p:cNvSpPr/>
          <p:nvPr/>
        </p:nvSpPr>
        <p:spPr>
          <a:xfrm>
            <a:off x="496119" y="4590827"/>
            <a:ext cx="8608963" cy="18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4번은 강사가 화면에서 한 번 시연해 주세요. 저장된 쪽지를 눈으로 보면 localStorage가 확 이해됩니다.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4"/>
          <p:cNvSpPr/>
          <p:nvPr/>
        </p:nvSpPr>
        <p:spPr>
          <a:xfrm>
            <a:off x="496119" y="104856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P70 · 고치는 주문 · 막혔을 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4"/>
          <p:cNvSpPr/>
          <p:nvPr/>
        </p:nvSpPr>
        <p:spPr>
          <a:xfrm>
            <a:off x="496119" y="1746126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막힌 말 →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😎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정확한 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3" name="Google Shape;1113;p64"/>
          <p:cNvGraphicFramePr/>
          <p:nvPr/>
        </p:nvGraphicFramePr>
        <p:xfrm>
          <a:off x="496119" y="208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3924600"/>
              </a:tblGrid>
              <a:tr h="35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"이상해. 고쳐 줘."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"빈 답안으로 채점하면 하얀 화면이 나와. '답안을 먼저 써 주세요 ' 안내를 보여 줘. 다른 부분은 바꾸지 마."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4" name="Google Shape;1114;p64"/>
          <p:cNvSpPr/>
          <p:nvPr/>
        </p:nvSpPr>
        <p:spPr>
          <a:xfrm>
            <a:off x="4728046" y="1746126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막혔을 때 4가지 처방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5" name="Google Shape;111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555" y="208560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64"/>
          <p:cNvSpPr/>
          <p:nvPr/>
        </p:nvSpPr>
        <p:spPr>
          <a:xfrm>
            <a:off x="5131073" y="2079501"/>
            <a:ext cx="148173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빨간 에러 → 에러 문장 복사 → "이 에러를 고쳐 줘. 다른 건 바꾸지 마."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7" name="Google Shape;111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319" y="208560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64"/>
          <p:cNvSpPr/>
          <p:nvPr/>
        </p:nvSpPr>
        <p:spPr>
          <a:xfrm>
            <a:off x="7170837" y="2079501"/>
            <a:ext cx="148180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더 망가짐 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마지막으로 잘 되던 버전으로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9" name="Google Shape;111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555" y="2929012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64"/>
          <p:cNvSpPr/>
          <p:nvPr/>
        </p:nvSpPr>
        <p:spPr>
          <a:xfrm>
            <a:off x="5131073" y="2922910"/>
            <a:ext cx="148173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🌏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영어로 바뀜 → "모든 글자를 한국어로"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1" name="Google Shape;112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319" y="2929012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64"/>
          <p:cNvSpPr/>
          <p:nvPr/>
        </p:nvSpPr>
        <p:spPr>
          <a:xfrm>
            <a:off x="7170837" y="2922910"/>
            <a:ext cx="148180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샘플 데이터로 돌아감 → "data 폴더 JSON 만 써 줘"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64"/>
          <p:cNvSpPr/>
          <p:nvPr/>
        </p:nvSpPr>
        <p:spPr>
          <a:xfrm>
            <a:off x="496119" y="3598887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4" name="Google Shape;112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377867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64"/>
          <p:cNvSpPr/>
          <p:nvPr/>
        </p:nvSpPr>
        <p:spPr>
          <a:xfrm>
            <a:off x="899071" y="3753817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고치는 공식: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언제 · 무엇이 · 어떻게 + "다른 건 바꾸지 마"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4분 안에 가장 큰 문제 하나만 고칩니다.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1" name="Google Shape;113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65"/>
          <p:cNvSpPr/>
          <p:nvPr/>
        </p:nvSpPr>
        <p:spPr>
          <a:xfrm>
            <a:off x="3925119" y="421184"/>
            <a:ext cx="645988" cy="167878"/>
          </a:xfrm>
          <a:prstGeom prst="roundRect">
            <a:avLst>
              <a:gd fmla="val 789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5"/>
          <p:cNvSpPr/>
          <p:nvPr/>
        </p:nvSpPr>
        <p:spPr>
          <a:xfrm>
            <a:off x="3991347" y="456104"/>
            <a:ext cx="970731" cy="1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68 – 70분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65"/>
          <p:cNvSpPr/>
          <p:nvPr/>
        </p:nvSpPr>
        <p:spPr>
          <a:xfrm>
            <a:off x="3925119" y="628352"/>
            <a:ext cx="4722763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0" i="0" lang="ko-KR" sz="2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P71 · 실습 ⑤ 나만의 한 끗 + 소개 페이지 /about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65"/>
          <p:cNvSpPr/>
          <p:nvPr/>
        </p:nvSpPr>
        <p:spPr>
          <a:xfrm>
            <a:off x="3925119" y="1466478"/>
            <a:ext cx="4722763" cy="928092"/>
          </a:xfrm>
          <a:prstGeom prst="roundRect">
            <a:avLst>
              <a:gd fmla="val 1786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65"/>
          <p:cNvSpPr/>
          <p:nvPr/>
        </p:nvSpPr>
        <p:spPr>
          <a:xfrm>
            <a:off x="4057650" y="1576908"/>
            <a:ext cx="4457700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50"/>
              <a:buFont typeface="Consolas"/>
              <a:buNone/>
            </a:pPr>
            <a:r>
              <a:rPr b="0" i="0" lang="ko-KR" sz="8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1) 과목을 중학 사회로 바꾸고, 사회 샘플 1개를 samples.json 에 추가해 줘. (한 끗)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50"/>
              <a:buFont typeface="Consolas"/>
              <a:buNone/>
            </a:pPr>
            <a:r>
              <a:rPr b="0" i="0" lang="ko-KR" sz="8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2) /about 페이지를 스크롤 스토리로 만들어 줘: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50"/>
              <a:buFont typeface="Consolas"/>
              <a:buNone/>
            </a:pPr>
            <a:r>
              <a:rPr b="0" i="0" lang="ko-KR" sz="8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공감 → 문제 → 해결 → 사용법 3단계 → 약속 → 결과.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50"/>
              <a:buFont typeface="Consolas"/>
              <a:buNone/>
            </a:pPr>
            <a:r>
              <a:rPr b="0" i="0" lang="ko-KR" sz="8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맨 아래에 "DeepQ 를 따라 만든 학습용 클론입니다" 와 원본 주소를 출처로 적어 줘.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7" name="Google Shape;113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505224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65"/>
          <p:cNvSpPr/>
          <p:nvPr/>
        </p:nvSpPr>
        <p:spPr>
          <a:xfrm>
            <a:off x="7741044" y="3847184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약속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5"/>
          <p:cNvSpPr/>
          <p:nvPr/>
        </p:nvSpPr>
        <p:spPr>
          <a:xfrm>
            <a:off x="6843322" y="3847184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사용법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5"/>
          <p:cNvSpPr/>
          <p:nvPr/>
        </p:nvSpPr>
        <p:spPr>
          <a:xfrm>
            <a:off x="5950479" y="3847184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해결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5"/>
          <p:cNvSpPr/>
          <p:nvPr/>
        </p:nvSpPr>
        <p:spPr>
          <a:xfrm>
            <a:off x="5057635" y="3847184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문제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5"/>
          <p:cNvSpPr/>
          <p:nvPr/>
        </p:nvSpPr>
        <p:spPr>
          <a:xfrm>
            <a:off x="4145276" y="3847184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공감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5"/>
          <p:cNvSpPr/>
          <p:nvPr/>
        </p:nvSpPr>
        <p:spPr>
          <a:xfrm>
            <a:off x="3925119" y="4388048"/>
            <a:ext cx="4722763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 3개 앱 모두 /about이 있어요. 기획을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이야기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보여 주는 페이지입니다. 소개 페이지는 0단계 캔버스의 문제 · 페르소나 · 한 줄 정의를 그대로 이야기로 바꾼 것입니다. 출처 표기가 클론 코딩의 예의입니다.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9" name="Google Shape;114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66"/>
          <p:cNvSpPr/>
          <p:nvPr/>
        </p:nvSpPr>
        <p:spPr>
          <a:xfrm>
            <a:off x="3925119" y="353392"/>
            <a:ext cx="72553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66"/>
          <p:cNvSpPr/>
          <p:nvPr/>
        </p:nvSpPr>
        <p:spPr>
          <a:xfrm>
            <a:off x="3999533" y="394281"/>
            <a:ext cx="103390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70 – 72분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66"/>
          <p:cNvSpPr/>
          <p:nvPr/>
        </p:nvSpPr>
        <p:spPr>
          <a:xfrm>
            <a:off x="3925119" y="591517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P72 · 실습 ⑥ Publish — 가게 문을 연다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3" name="Google Shape;115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566937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66"/>
          <p:cNvSpPr/>
          <p:nvPr/>
        </p:nvSpPr>
        <p:spPr>
          <a:xfrm>
            <a:off x="7741044" y="290889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새 탭 열기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66"/>
          <p:cNvSpPr/>
          <p:nvPr/>
        </p:nvSpPr>
        <p:spPr>
          <a:xfrm>
            <a:off x="6843322" y="290889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주소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66"/>
          <p:cNvSpPr/>
          <p:nvPr/>
        </p:nvSpPr>
        <p:spPr>
          <a:xfrm>
            <a:off x="5950479" y="290889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1~2분 대기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66"/>
          <p:cNvSpPr/>
          <p:nvPr/>
        </p:nvSpPr>
        <p:spPr>
          <a:xfrm>
            <a:off x="5057635" y="290889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Publish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66"/>
          <p:cNvSpPr/>
          <p:nvPr/>
        </p:nvSpPr>
        <p:spPr>
          <a:xfrm>
            <a:off x="4145276" y="2908897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마지막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66"/>
          <p:cNvSpPr/>
          <p:nvPr/>
        </p:nvSpPr>
        <p:spPr>
          <a:xfrm>
            <a:off x="4111154" y="3618161"/>
            <a:ext cx="4993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다시 고치고 Publish 하면 →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주소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 새 모습 (리모델링 후 재개점)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6"/>
          <p:cNvSpPr/>
          <p:nvPr/>
        </p:nvSpPr>
        <p:spPr>
          <a:xfrm>
            <a:off x="3925119" y="3478634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66"/>
          <p:cNvSpPr/>
          <p:nvPr/>
        </p:nvSpPr>
        <p:spPr>
          <a:xfrm>
            <a:off x="3925119" y="4095676"/>
            <a:ext cx="4722763" cy="694432"/>
          </a:xfrm>
          <a:prstGeom prst="roundRect">
            <a:avLst>
              <a:gd fmla="val 267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2" name="Google Shape;116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9092" y="427546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66"/>
          <p:cNvSpPr/>
          <p:nvPr/>
        </p:nvSpPr>
        <p:spPr>
          <a:xfrm>
            <a:off x="4328071" y="4250606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72분, 모든 팀이 주소를 가졌는지 확인합니다. 이 순간이 오늘의 첫 번째 하이라이트입니다!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7"/>
          <p:cNvSpPr/>
          <p:nvPr/>
        </p:nvSpPr>
        <p:spPr>
          <a:xfrm>
            <a:off x="496119" y="389706"/>
            <a:ext cx="8151763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P73 · </a:t>
            </a:r>
            <a:r>
              <a:rPr b="0" i="0" lang="ko-KR" sz="1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MVP 완성 점검표 — "가장 작은 진짜"가 됐나?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7"/>
          <p:cNvSpPr/>
          <p:nvPr/>
        </p:nvSpPr>
        <p:spPr>
          <a:xfrm>
            <a:off x="789831" y="886718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클론 목표 한 줄의 흐름이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처음부터 끝까지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67"/>
          <p:cNvSpPr/>
          <p:nvPr/>
        </p:nvSpPr>
        <p:spPr>
          <a:xfrm>
            <a:off x="789831" y="1083543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상태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67"/>
          <p:cNvSpPr/>
          <p:nvPr/>
        </p:nvSpPr>
        <p:spPr>
          <a:xfrm>
            <a:off x="789831" y="1406203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화면은 repo.ts · engine.ts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부른다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7"/>
          <p:cNvSpPr/>
          <p:nvPr/>
        </p:nvSpPr>
        <p:spPr>
          <a:xfrm>
            <a:off x="789831" y="1603028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문 두 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67"/>
          <p:cNvSpPr/>
          <p:nvPr/>
        </p:nvSpPr>
        <p:spPr>
          <a:xfrm>
            <a:off x="789831" y="1925687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샘플 3개로 빈 화면 없이 시작한다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67"/>
          <p:cNvSpPr/>
          <p:nvPr/>
        </p:nvSpPr>
        <p:spPr>
          <a:xfrm>
            <a:off x="789831" y="2122512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💾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시드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67"/>
          <p:cNvSpPr/>
          <p:nvPr/>
        </p:nvSpPr>
        <p:spPr>
          <a:xfrm>
            <a:off x="789831" y="2445172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매칭 안 되는 입력에도 default가 나온다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67"/>
          <p:cNvSpPr/>
          <p:nvPr/>
        </p:nvSpPr>
        <p:spPr>
          <a:xfrm>
            <a:off x="789831" y="2641997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엔진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789831" y="2964656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새로고침해도 기록이 남는다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67"/>
          <p:cNvSpPr/>
          <p:nvPr/>
        </p:nvSpPr>
        <p:spPr>
          <a:xfrm>
            <a:off x="789831" y="3161481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🗄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localStorage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7"/>
          <p:cNvSpPr/>
          <p:nvPr/>
        </p:nvSpPr>
        <p:spPr>
          <a:xfrm>
            <a:off x="789831" y="3484141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학습용 클론 고지 · 출처 · 개인정보 없음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789831" y="3680966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UI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7"/>
          <p:cNvSpPr/>
          <p:nvPr/>
        </p:nvSpPr>
        <p:spPr>
          <a:xfrm>
            <a:off x="789831" y="4003625"/>
            <a:ext cx="7858051" cy="1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친구 휴대폰에서 주소가 열린다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67"/>
          <p:cNvSpPr/>
          <p:nvPr/>
        </p:nvSpPr>
        <p:spPr>
          <a:xfrm>
            <a:off x="789831" y="4200451"/>
            <a:ext cx="7858051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배포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67"/>
          <p:cNvSpPr/>
          <p:nvPr/>
        </p:nvSpPr>
        <p:spPr>
          <a:xfrm>
            <a:off x="496119" y="4423618"/>
            <a:ext cx="8151763" cy="330175"/>
          </a:xfrm>
          <a:prstGeom prst="roundRect">
            <a:avLst>
              <a:gd fmla="val 440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5" name="Google Shape;118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06" y="4529138"/>
            <a:ext cx="121072" cy="96887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67"/>
          <p:cNvSpPr/>
          <p:nvPr/>
        </p:nvSpPr>
        <p:spPr>
          <a:xfrm>
            <a:off x="810964" y="4523482"/>
            <a:ext cx="8197230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7개 중 </a:t>
            </a:r>
            <a:r>
              <a:rPr b="1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5개 이상 = MVP 통과</a:t>
            </a: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🎉</a:t>
            </a: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0단계 MVP 정의(P09)로 돌아가 확인합니다. 핵심 흐름 하나가 끝까지 되면 MVP입니다.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2" name="Google Shape;119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68"/>
          <p:cNvSpPr/>
          <p:nvPr/>
        </p:nvSpPr>
        <p:spPr>
          <a:xfrm>
            <a:off x="496119" y="368647"/>
            <a:ext cx="1078706" cy="170855"/>
          </a:xfrm>
          <a:prstGeom prst="roundRect">
            <a:avLst>
              <a:gd fmla="val 789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68"/>
          <p:cNvSpPr/>
          <p:nvPr/>
        </p:nvSpPr>
        <p:spPr>
          <a:xfrm>
            <a:off x="563538" y="402872"/>
            <a:ext cx="1401068" cy="10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EM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72 – 74분 · 강사 시연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68"/>
          <p:cNvSpPr/>
          <p:nvPr/>
        </p:nvSpPr>
        <p:spPr>
          <a:xfrm>
            <a:off x="496119" y="580206"/>
            <a:ext cx="4722763" cy="712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P74 · </a:t>
            </a:r>
            <a:r>
              <a:rPr b="0" i="0" lang="ko-KR" sz="2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시연 ① v0 → GitHub 연결 (강사)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6" name="Google Shape;1196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445121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68"/>
          <p:cNvSpPr/>
          <p:nvPr/>
        </p:nvSpPr>
        <p:spPr>
          <a:xfrm>
            <a:off x="4312044" y="27870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Production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68"/>
          <p:cNvSpPr/>
          <p:nvPr/>
        </p:nvSpPr>
        <p:spPr>
          <a:xfrm>
            <a:off x="3414322" y="27870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Vercel Import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68"/>
          <p:cNvSpPr/>
          <p:nvPr/>
        </p:nvSpPr>
        <p:spPr>
          <a:xfrm>
            <a:off x="2521479" y="2718471"/>
            <a:ext cx="712323" cy="27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mini-deepq 저장소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68"/>
          <p:cNvSpPr/>
          <p:nvPr/>
        </p:nvSpPr>
        <p:spPr>
          <a:xfrm>
            <a:off x="1628635" y="27870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Git 연결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68"/>
          <p:cNvSpPr/>
          <p:nvPr/>
        </p:nvSpPr>
        <p:spPr>
          <a:xfrm>
            <a:off x="716276" y="2787081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v0 프로젝트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8"/>
          <p:cNvSpPr/>
          <p:nvPr/>
        </p:nvSpPr>
        <p:spPr>
          <a:xfrm>
            <a:off x="496119" y="3433762"/>
            <a:ext cx="2224236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이전 방식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68"/>
          <p:cNvSpPr/>
          <p:nvPr/>
        </p:nvSpPr>
        <p:spPr>
          <a:xfrm>
            <a:off x="496119" y="3711253"/>
            <a:ext cx="22242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v0 → </a:t>
            </a: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🎊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Publish → </a:t>
            </a: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🏪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버튼을 직접 눌러야 배포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68"/>
          <p:cNvSpPr/>
          <p:nvPr/>
        </p:nvSpPr>
        <p:spPr>
          <a:xfrm>
            <a:off x="2918445" y="3331890"/>
            <a:ext cx="2386161" cy="985391"/>
          </a:xfrm>
          <a:prstGeom prst="roundRect">
            <a:avLst>
              <a:gd fmla="val 1711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68"/>
          <p:cNvSpPr/>
          <p:nvPr/>
        </p:nvSpPr>
        <p:spPr>
          <a:xfrm>
            <a:off x="3030810" y="3433762"/>
            <a:ext cx="2161431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이후 방식 (자동화)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68"/>
          <p:cNvSpPr/>
          <p:nvPr/>
        </p:nvSpPr>
        <p:spPr>
          <a:xfrm>
            <a:off x="3030810" y="3711253"/>
            <a:ext cx="216143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EM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🐙</a:t>
            </a: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GitHub main → </a:t>
            </a: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Vercel이 </a:t>
            </a:r>
            <a:r>
              <a:rPr b="1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자동으로</a:t>
            </a: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🏪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git push 만 하면 끝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68"/>
          <p:cNvSpPr/>
          <p:nvPr/>
        </p:nvSpPr>
        <p:spPr>
          <a:xfrm>
            <a:off x="496119" y="4431878"/>
            <a:ext cx="47227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저장소와 Vercel Import는 수업 전에 미리 해 두고, 시연에서는 화면을 보여 주며 흐름만 설명하면 2분이면 충분합니다.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69"/>
          <p:cNvSpPr/>
          <p:nvPr/>
        </p:nvSpPr>
        <p:spPr>
          <a:xfrm>
            <a:off x="496119" y="1935510"/>
            <a:ext cx="119032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69"/>
          <p:cNvSpPr/>
          <p:nvPr/>
        </p:nvSpPr>
        <p:spPr>
          <a:xfrm>
            <a:off x="570533" y="1976398"/>
            <a:ext cx="149869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74 – 76분 · 강사 시연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496119" y="2173635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P75 ·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시연 ② 코딩 에이전트로 개선 1건 (강사)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69"/>
          <p:cNvSpPr/>
          <p:nvPr/>
        </p:nvSpPr>
        <p:spPr>
          <a:xfrm>
            <a:off x="496119" y="2761506"/>
            <a:ext cx="8151763" cy="446410"/>
          </a:xfrm>
          <a:prstGeom prst="roundRect">
            <a:avLst>
              <a:gd fmla="val 4168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69"/>
          <p:cNvSpPr/>
          <p:nvPr/>
        </p:nvSpPr>
        <p:spPr>
          <a:xfrm>
            <a:off x="644947" y="2885480"/>
            <a:ext cx="83113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git switch -c feature/minlength #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0"/>
          <p:cNvSpPr/>
          <p:nvPr/>
        </p:nvSpPr>
        <p:spPr>
          <a:xfrm>
            <a:off x="496119" y="341114"/>
            <a:ext cx="594866" cy="94283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70"/>
          <p:cNvSpPr/>
          <p:nvPr/>
        </p:nvSpPr>
        <p:spPr>
          <a:xfrm>
            <a:off x="533326" y="359718"/>
            <a:ext cx="977652" cy="57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REM"/>
              <a:buNone/>
            </a:pPr>
            <a:r>
              <a:rPr b="0" i="0" lang="ko-KR" sz="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76 – 78분 · 강사 시연</a:t>
            </a:r>
            <a:endParaRPr b="0" i="0" sz="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70"/>
          <p:cNvSpPr/>
          <p:nvPr/>
        </p:nvSpPr>
        <p:spPr>
          <a:xfrm>
            <a:off x="496119" y="447749"/>
            <a:ext cx="81517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P76 ·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시연 ③ push → CI 검사 → Preview 주소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70"/>
          <p:cNvSpPr/>
          <p:nvPr/>
        </p:nvSpPr>
        <p:spPr>
          <a:xfrm>
            <a:off x="496119" y="692869"/>
            <a:ext cx="8151763" cy="223093"/>
          </a:xfrm>
          <a:prstGeom prst="roundRect">
            <a:avLst>
              <a:gd fmla="val 4170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70"/>
          <p:cNvSpPr/>
          <p:nvPr/>
        </p:nvSpPr>
        <p:spPr>
          <a:xfrm>
            <a:off x="570533" y="754856"/>
            <a:ext cx="8460135" cy="9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450"/>
              <a:buFont typeface="Consolas"/>
              <a:buNone/>
            </a:pPr>
            <a:r>
              <a:rPr b="0" i="0" lang="ko-KR" sz="4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git push -u origin feature/minlength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8" name="Google Shape;122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679" y="950788"/>
            <a:ext cx="8084567" cy="348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70"/>
          <p:cNvSpPr/>
          <p:nvPr/>
        </p:nvSpPr>
        <p:spPr>
          <a:xfrm>
            <a:off x="1073714" y="3775894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Vercel Preview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70"/>
          <p:cNvSpPr/>
          <p:nvPr/>
        </p:nvSpPr>
        <p:spPr>
          <a:xfrm>
            <a:off x="1073714" y="2968890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GitHub 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70"/>
          <p:cNvSpPr/>
          <p:nvPr/>
        </p:nvSpPr>
        <p:spPr>
          <a:xfrm>
            <a:off x="1073714" y="2170037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 열기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70"/>
          <p:cNvSpPr/>
          <p:nvPr/>
        </p:nvSpPr>
        <p:spPr>
          <a:xfrm>
            <a:off x="1073714" y="1363032"/>
            <a:ext cx="1834102" cy="229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push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70"/>
          <p:cNvSpPr/>
          <p:nvPr/>
        </p:nvSpPr>
        <p:spPr>
          <a:xfrm>
            <a:off x="496119" y="4471839"/>
            <a:ext cx="8151763" cy="486296"/>
          </a:xfrm>
          <a:prstGeom prst="roundRect">
            <a:avLst>
              <a:gd fmla="val 1913" name="adj"/>
            </a:avLst>
          </a:prstGeom>
          <a:solidFill>
            <a:srgbClr val="FBFCFE"/>
          </a:solidFill>
          <a:ln cap="flat" cmpd="sng" w="952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70"/>
          <p:cNvSpPr/>
          <p:nvPr/>
        </p:nvSpPr>
        <p:spPr>
          <a:xfrm>
            <a:off x="567630" y="4543351"/>
            <a:ext cx="8008739" cy="1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🔀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PR 화면에서 보이는 것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70"/>
          <p:cNvSpPr/>
          <p:nvPr/>
        </p:nvSpPr>
        <p:spPr>
          <a:xfrm>
            <a:off x="567630" y="4663604"/>
            <a:ext cx="8008739" cy="22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PR: minlength 규칙 추가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CI / check — 통과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🧪</a:t>
            </a: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Vercel — Preview 준비 완료 </a:t>
            </a:r>
            <a:r>
              <a:rPr b="0" i="0" lang="ko-KR" sz="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70"/>
          <p:cNvSpPr/>
          <p:nvPr/>
        </p:nvSpPr>
        <p:spPr>
          <a:xfrm>
            <a:off x="496119" y="4994456"/>
            <a:ext cx="860896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학생들이 직접 Preview QR을 찍어 보게 하면 "손님 가게는 그대로인데 미리보기 가게만 바뀐" 것을 체감합니다.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2" name="Google Shape;124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71"/>
          <p:cNvSpPr/>
          <p:nvPr/>
        </p:nvSpPr>
        <p:spPr>
          <a:xfrm>
            <a:off x="496119" y="348109"/>
            <a:ext cx="967011" cy="153144"/>
          </a:xfrm>
          <a:prstGeom prst="roundRect">
            <a:avLst>
              <a:gd fmla="val 789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71"/>
          <p:cNvSpPr/>
          <p:nvPr/>
        </p:nvSpPr>
        <p:spPr>
          <a:xfrm>
            <a:off x="556543" y="380233"/>
            <a:ext cx="1303362" cy="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78 – 80분 · 강사 시연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71"/>
          <p:cNvSpPr/>
          <p:nvPr/>
        </p:nvSpPr>
        <p:spPr>
          <a:xfrm>
            <a:off x="496119" y="533995"/>
            <a:ext cx="4722763" cy="639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0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P77 · </a:t>
            </a:r>
            <a:r>
              <a:rPr b="0" i="0" lang="ko-KR" sz="1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0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시연 ④ 리뷰 → Merge → Production 자동 갱신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6" name="Google Shape;124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96144"/>
            <a:ext cx="4722763" cy="21251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1"/>
          <p:cNvSpPr/>
          <p:nvPr/>
        </p:nvSpPr>
        <p:spPr>
          <a:xfrm>
            <a:off x="1207554" y="1393989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팀 리뷰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71"/>
          <p:cNvSpPr/>
          <p:nvPr/>
        </p:nvSpPr>
        <p:spPr>
          <a:xfrm>
            <a:off x="1207554" y="1558033"/>
            <a:ext cx="826463" cy="18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Preview에서 동료가 확인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71"/>
          <p:cNvSpPr/>
          <p:nvPr/>
        </p:nvSpPr>
        <p:spPr>
          <a:xfrm>
            <a:off x="2024935" y="2987882"/>
            <a:ext cx="831004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Merge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71"/>
          <p:cNvSpPr/>
          <p:nvPr/>
        </p:nvSpPr>
        <p:spPr>
          <a:xfrm>
            <a:off x="2024935" y="3151926"/>
            <a:ext cx="831004" cy="18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변경 사항을 main에 병합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71"/>
          <p:cNvSpPr/>
          <p:nvPr/>
        </p:nvSpPr>
        <p:spPr>
          <a:xfrm>
            <a:off x="2833234" y="1378095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CI 통과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71"/>
          <p:cNvSpPr/>
          <p:nvPr/>
        </p:nvSpPr>
        <p:spPr>
          <a:xfrm>
            <a:off x="2833234" y="1542139"/>
            <a:ext cx="826463" cy="18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빌드·테스트가 성공해야 함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71"/>
          <p:cNvSpPr/>
          <p:nvPr/>
        </p:nvSpPr>
        <p:spPr>
          <a:xfrm>
            <a:off x="3650615" y="2987882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자동 배포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71"/>
          <p:cNvSpPr/>
          <p:nvPr/>
        </p:nvSpPr>
        <p:spPr>
          <a:xfrm>
            <a:off x="3650615" y="3151926"/>
            <a:ext cx="826463" cy="185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Production으로 자동 배포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71"/>
          <p:cNvSpPr/>
          <p:nvPr/>
        </p:nvSpPr>
        <p:spPr>
          <a:xfrm>
            <a:off x="496119" y="3595315"/>
            <a:ext cx="2238449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CI가 빨간 X라면?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71"/>
          <p:cNvSpPr/>
          <p:nvPr/>
        </p:nvSpPr>
        <p:spPr>
          <a:xfrm>
            <a:off x="496119" y="3839394"/>
            <a:ext cx="2238449" cy="438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Merge 하지 않는다 → 에이전트에게 에러 붙여넣고 수정 → 다시 push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손님 가게는 그대로 안전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71"/>
          <p:cNvSpPr/>
          <p:nvPr/>
        </p:nvSpPr>
        <p:spPr>
          <a:xfrm>
            <a:off x="2912641" y="3513460"/>
            <a:ext cx="2383557" cy="837828"/>
          </a:xfrm>
          <a:prstGeom prst="roundRect">
            <a:avLst>
              <a:gd fmla="val 180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71"/>
          <p:cNvSpPr/>
          <p:nvPr/>
        </p:nvSpPr>
        <p:spPr>
          <a:xfrm>
            <a:off x="3013397" y="3595315"/>
            <a:ext cx="2182044" cy="162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초록 체크라면?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71"/>
          <p:cNvSpPr/>
          <p:nvPr/>
        </p:nvSpPr>
        <p:spPr>
          <a:xfrm>
            <a:off x="3013397" y="3839394"/>
            <a:ext cx="2182044" cy="2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Merge → 본 가게 자동 갱신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손님은 </a:t>
            </a:r>
            <a:r>
              <a:rPr b="1" i="0" lang="ko-KR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새 기능을 바로 사용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71"/>
          <p:cNvSpPr/>
          <p:nvPr/>
        </p:nvSpPr>
        <p:spPr>
          <a:xfrm>
            <a:off x="496119" y="4443413"/>
            <a:ext cx="4722763" cy="351904"/>
          </a:xfrm>
          <a:prstGeom prst="roundRect">
            <a:avLst>
              <a:gd fmla="val 429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1" name="Google Shape;1261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875" y="4562252"/>
            <a:ext cx="125983" cy="100757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71"/>
          <p:cNvSpPr/>
          <p:nvPr/>
        </p:nvSpPr>
        <p:spPr>
          <a:xfrm>
            <a:off x="823615" y="4550420"/>
            <a:ext cx="4751710" cy="1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80분 지점입니다. 1단계 P56의 9칸 여행을 실제로 한 바퀴 돌았습니다.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72"/>
          <p:cNvSpPr/>
          <p:nvPr/>
        </p:nvSpPr>
        <p:spPr>
          <a:xfrm>
            <a:off x="496119" y="51888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P78 · 오늘 연결된 전체 파이프라인 — 지도가 현실이 됐다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72"/>
          <p:cNvSpPr/>
          <p:nvPr/>
        </p:nvSpPr>
        <p:spPr>
          <a:xfrm>
            <a:off x="496119" y="1332161"/>
            <a:ext cx="252531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캔버스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72"/>
          <p:cNvSpPr/>
          <p:nvPr/>
        </p:nvSpPr>
        <p:spPr>
          <a:xfrm>
            <a:off x="496119" y="1605186"/>
            <a:ext cx="25253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0단계 P28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1" name="Google Shape;127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5408" y="115446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2" name="Google Shape;127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9776" y="1623380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72"/>
          <p:cNvSpPr/>
          <p:nvPr/>
        </p:nvSpPr>
        <p:spPr>
          <a:xfrm>
            <a:off x="6122491" y="1332161"/>
            <a:ext cx="252539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 클론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72"/>
          <p:cNvSpPr/>
          <p:nvPr/>
        </p:nvSpPr>
        <p:spPr>
          <a:xfrm>
            <a:off x="6122491" y="1605186"/>
            <a:ext cx="252539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2단계 ①~⑤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5" name="Google Shape;1275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5408" y="115446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6" name="Google Shape;1276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8412" y="1623380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72"/>
          <p:cNvSpPr/>
          <p:nvPr/>
        </p:nvSpPr>
        <p:spPr>
          <a:xfrm>
            <a:off x="6246540" y="2345234"/>
            <a:ext cx="240134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🎊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Publish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72"/>
          <p:cNvSpPr/>
          <p:nvPr/>
        </p:nvSpPr>
        <p:spPr>
          <a:xfrm>
            <a:off x="6246540" y="2618259"/>
            <a:ext cx="240134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9" name="Google Shape;1279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5408" y="115446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0" name="Google Shape;1280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77656" y="2488146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72"/>
          <p:cNvSpPr/>
          <p:nvPr/>
        </p:nvSpPr>
        <p:spPr>
          <a:xfrm>
            <a:off x="6122491" y="3358307"/>
            <a:ext cx="252539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🐙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72"/>
          <p:cNvSpPr/>
          <p:nvPr/>
        </p:nvSpPr>
        <p:spPr>
          <a:xfrm>
            <a:off x="6122491" y="3631332"/>
            <a:ext cx="252539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시연 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3" name="Google Shape;1283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45408" y="115446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4" name="Google Shape;1284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78412" y="3352912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72"/>
          <p:cNvSpPr/>
          <p:nvPr/>
        </p:nvSpPr>
        <p:spPr>
          <a:xfrm>
            <a:off x="496119" y="3358307"/>
            <a:ext cx="252531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에이전트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72"/>
          <p:cNvSpPr/>
          <p:nvPr/>
        </p:nvSpPr>
        <p:spPr>
          <a:xfrm>
            <a:off x="496119" y="3631332"/>
            <a:ext cx="25253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시연 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7" name="Google Shape;1287;p7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5408" y="115446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8" name="Google Shape;1288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79776" y="3352912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72"/>
          <p:cNvSpPr/>
          <p:nvPr/>
        </p:nvSpPr>
        <p:spPr>
          <a:xfrm>
            <a:off x="496119" y="2345234"/>
            <a:ext cx="240126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CI ·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🏪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72"/>
          <p:cNvSpPr/>
          <p:nvPr/>
        </p:nvSpPr>
        <p:spPr>
          <a:xfrm>
            <a:off x="496119" y="2618259"/>
            <a:ext cx="240126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시연 ③④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1" name="Google Shape;1291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45408" y="1154460"/>
            <a:ext cx="2853110" cy="285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2" name="Google Shape;1292;p7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480532" y="2488146"/>
            <a:ext cx="185589" cy="185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72"/>
          <p:cNvSpPr/>
          <p:nvPr/>
        </p:nvSpPr>
        <p:spPr>
          <a:xfrm>
            <a:off x="682154" y="4286622"/>
            <a:ext cx="8422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P35의 지도와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똑같은 그림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이제 각 칸을 직접 봤어요. 25분 지점에 본 지도를 다시 띄우고 "이제 이 칸들을 다 지나왔다"고 말해 주세요.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72"/>
          <p:cNvSpPr/>
          <p:nvPr/>
        </p:nvSpPr>
        <p:spPr>
          <a:xfrm>
            <a:off x="496119" y="4147096"/>
            <a:ext cx="14288" cy="47751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0" name="Google Shape;130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73"/>
          <p:cNvSpPr/>
          <p:nvPr/>
        </p:nvSpPr>
        <p:spPr>
          <a:xfrm>
            <a:off x="3925119" y="434504"/>
            <a:ext cx="578123" cy="150168"/>
          </a:xfrm>
          <a:prstGeom prst="roundRect">
            <a:avLst>
              <a:gd fmla="val 789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73"/>
          <p:cNvSpPr/>
          <p:nvPr/>
        </p:nvSpPr>
        <p:spPr>
          <a:xfrm>
            <a:off x="3984427" y="467324"/>
            <a:ext cx="916707" cy="90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80 – 84분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73"/>
          <p:cNvSpPr/>
          <p:nvPr/>
        </p:nvSpPr>
        <p:spPr>
          <a:xfrm>
            <a:off x="3925119" y="616148"/>
            <a:ext cx="4722763" cy="3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P79 · </a:t>
            </a:r>
            <a:r>
              <a:rPr b="0" i="0" lang="ko-KR" sz="19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🟢</a:t>
            </a: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MVP 갤러리 — 같은 원본, 다른 클론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4" name="Google Shape;130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057424"/>
            <a:ext cx="4722763" cy="21614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73"/>
          <p:cNvSpPr/>
          <p:nvPr/>
        </p:nvSpPr>
        <p:spPr>
          <a:xfrm>
            <a:off x="7541347" y="2705583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방문자 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73"/>
          <p:cNvSpPr/>
          <p:nvPr/>
        </p:nvSpPr>
        <p:spPr>
          <a:xfrm>
            <a:off x="6423920" y="2705583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다른 클론 방문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73"/>
          <p:cNvSpPr/>
          <p:nvPr/>
        </p:nvSpPr>
        <p:spPr>
          <a:xfrm>
            <a:off x="5312565" y="2705583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같은 클론 방문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73"/>
          <p:cNvSpPr/>
          <p:nvPr/>
        </p:nvSpPr>
        <p:spPr>
          <a:xfrm>
            <a:off x="4176919" y="2705583"/>
            <a:ext cx="886654" cy="170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팀 QR 설치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73"/>
          <p:cNvSpPr/>
          <p:nvPr/>
        </p:nvSpPr>
        <p:spPr>
          <a:xfrm>
            <a:off x="3925119" y="3307407"/>
            <a:ext cx="2322016" cy="546125"/>
          </a:xfrm>
          <a:prstGeom prst="roundRect">
            <a:avLst>
              <a:gd fmla="val 271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73"/>
          <p:cNvSpPr/>
          <p:nvPr/>
        </p:nvSpPr>
        <p:spPr>
          <a:xfrm>
            <a:off x="4023940" y="3406229"/>
            <a:ext cx="2124373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👍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잘 된 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73"/>
          <p:cNvSpPr/>
          <p:nvPr/>
        </p:nvSpPr>
        <p:spPr>
          <a:xfrm>
            <a:off x="4023940" y="3612654"/>
            <a:ext cx="2124373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원본처럼 잘 된 것 1개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73"/>
          <p:cNvSpPr/>
          <p:nvPr/>
        </p:nvSpPr>
        <p:spPr>
          <a:xfrm>
            <a:off x="6325865" y="3307407"/>
            <a:ext cx="2322016" cy="546125"/>
          </a:xfrm>
          <a:prstGeom prst="roundRect">
            <a:avLst>
              <a:gd fmla="val 271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73"/>
          <p:cNvSpPr/>
          <p:nvPr/>
        </p:nvSpPr>
        <p:spPr>
          <a:xfrm>
            <a:off x="6424687" y="3406229"/>
            <a:ext cx="2124373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🤔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다르거나 헷갈린 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73"/>
          <p:cNvSpPr/>
          <p:nvPr/>
        </p:nvSpPr>
        <p:spPr>
          <a:xfrm>
            <a:off x="6424687" y="3612654"/>
            <a:ext cx="2124373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원본과 다르거나 헷갈린 것 1개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73"/>
          <p:cNvSpPr/>
          <p:nvPr/>
        </p:nvSpPr>
        <p:spPr>
          <a:xfrm>
            <a:off x="3925119" y="3932262"/>
            <a:ext cx="4722763" cy="546125"/>
          </a:xfrm>
          <a:prstGeom prst="roundRect">
            <a:avLst>
              <a:gd fmla="val 271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73"/>
          <p:cNvSpPr/>
          <p:nvPr/>
        </p:nvSpPr>
        <p:spPr>
          <a:xfrm>
            <a:off x="4023940" y="4031084"/>
            <a:ext cx="4525119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✨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한 끗 · 다음에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73"/>
          <p:cNvSpPr/>
          <p:nvPr/>
        </p:nvSpPr>
        <p:spPr>
          <a:xfrm>
            <a:off x="4023940" y="4237509"/>
            <a:ext cx="4525119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팀의 한 끗 · 다음에 있으면 좋을 것 1개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73"/>
          <p:cNvSpPr/>
          <p:nvPr/>
        </p:nvSpPr>
        <p:spPr>
          <a:xfrm>
            <a:off x="3925119" y="4566940"/>
            <a:ext cx="5179963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원본을 클론한 팀끼리 비교하면 "같은 기획, 다른 결과"가 보여 토론 거리가 풍부해집니다.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4" name="Google Shape;132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74"/>
          <p:cNvSpPr/>
          <p:nvPr/>
        </p:nvSpPr>
        <p:spPr>
          <a:xfrm>
            <a:off x="496119" y="361057"/>
            <a:ext cx="578123" cy="150168"/>
          </a:xfrm>
          <a:prstGeom prst="roundRect">
            <a:avLst>
              <a:gd fmla="val 789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74"/>
          <p:cNvSpPr/>
          <p:nvPr/>
        </p:nvSpPr>
        <p:spPr>
          <a:xfrm>
            <a:off x="555427" y="393878"/>
            <a:ext cx="916707" cy="90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EM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84 – 86분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74"/>
          <p:cNvSpPr/>
          <p:nvPr/>
        </p:nvSpPr>
        <p:spPr>
          <a:xfrm>
            <a:off x="496119" y="542702"/>
            <a:ext cx="4722763" cy="617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P80 · 토론 ① 기획 — 원본과 무엇이 같고, 무엇이 달랐나?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8" name="Google Shape;132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78582"/>
            <a:ext cx="4722763" cy="759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9" name="Google Shape;1329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33" y="1584052"/>
            <a:ext cx="148233" cy="148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74"/>
          <p:cNvSpPr/>
          <p:nvPr/>
        </p:nvSpPr>
        <p:spPr>
          <a:xfrm>
            <a:off x="984498" y="1391692"/>
            <a:ext cx="4121274" cy="1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핵심 경험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74"/>
          <p:cNvSpPr/>
          <p:nvPr/>
        </p:nvSpPr>
        <p:spPr>
          <a:xfrm>
            <a:off x="984498" y="1593354"/>
            <a:ext cx="4121274" cy="3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"원본의 </a:t>
            </a: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경험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우리 클론도 주나?"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5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0단계 한 줄 정의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2" name="Google Shape;133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116559"/>
            <a:ext cx="4722763" cy="759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3" name="Google Shape;1333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933" y="2422029"/>
            <a:ext cx="148233" cy="148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74"/>
          <p:cNvSpPr/>
          <p:nvPr/>
        </p:nvSpPr>
        <p:spPr>
          <a:xfrm>
            <a:off x="984498" y="2229669"/>
            <a:ext cx="4121274" cy="1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뺀 기능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74"/>
          <p:cNvSpPr/>
          <p:nvPr/>
        </p:nvSpPr>
        <p:spPr>
          <a:xfrm>
            <a:off x="984498" y="2431331"/>
            <a:ext cx="4121274" cy="3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"MVP에서 </a:t>
            </a: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뺀 기능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중 가장 아쉬운 건?"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5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0단계 Must / Later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6" name="Google Shape;133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954536"/>
            <a:ext cx="4722763" cy="759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7" name="Google Shape;1337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933" y="3260006"/>
            <a:ext cx="148233" cy="148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74"/>
          <p:cNvSpPr/>
          <p:nvPr/>
        </p:nvSpPr>
        <p:spPr>
          <a:xfrm>
            <a:off x="984498" y="3067645"/>
            <a:ext cx="4121274" cy="1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한 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74"/>
          <p:cNvSpPr/>
          <p:nvPr/>
        </p:nvSpPr>
        <p:spPr>
          <a:xfrm>
            <a:off x="984498" y="3269307"/>
            <a:ext cx="4121274" cy="3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끗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사용자에게 의미가 있었나?"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5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0단계 한 끗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0" name="Google Shape;134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792513"/>
            <a:ext cx="4722763" cy="759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1" name="Google Shape;1341;p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933" y="4097982"/>
            <a:ext cx="148233" cy="148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74"/>
          <p:cNvSpPr/>
          <p:nvPr/>
        </p:nvSpPr>
        <p:spPr>
          <a:xfrm>
            <a:off x="984498" y="3905622"/>
            <a:ext cx="4121274" cy="154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기획 의도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74"/>
          <p:cNvSpPr/>
          <p:nvPr/>
        </p:nvSpPr>
        <p:spPr>
          <a:xfrm>
            <a:off x="984498" y="4107284"/>
            <a:ext cx="4121274" cy="3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"역기획하면서 </a:t>
            </a: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강사의 기획 의도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하나 찾았다면?"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5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0단계 기획 8단계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74"/>
          <p:cNvSpPr/>
          <p:nvPr/>
        </p:nvSpPr>
        <p:spPr>
          <a:xfrm>
            <a:off x="496119" y="4640312"/>
            <a:ext cx="5179963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팀당 한 질문만 골라 30초씩 말하게 합니다. 정답보다 "왜"를 말하는 게 목표입니다.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75"/>
          <p:cNvSpPr/>
          <p:nvPr/>
        </p:nvSpPr>
        <p:spPr>
          <a:xfrm>
            <a:off x="496119" y="938659"/>
            <a:ext cx="72553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75"/>
          <p:cNvSpPr/>
          <p:nvPr/>
        </p:nvSpPr>
        <p:spPr>
          <a:xfrm>
            <a:off x="570533" y="979548"/>
            <a:ext cx="103390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86 – 87분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75"/>
          <p:cNvSpPr/>
          <p:nvPr/>
        </p:nvSpPr>
        <p:spPr>
          <a:xfrm>
            <a:off x="496119" y="1176784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P81 · 토론 ② 구조 — 진짜 서비스가 되려면 어디를 바꿀까?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3" name="Google Shape;135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627" y="175416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75"/>
          <p:cNvSpPr/>
          <p:nvPr/>
        </p:nvSpPr>
        <p:spPr>
          <a:xfrm>
            <a:off x="899145" y="1750368"/>
            <a:ext cx="221084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AI 답을 진짜 AI로 바꾸려면?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75"/>
          <p:cNvSpPr/>
          <p:nvPr/>
        </p:nvSpPr>
        <p:spPr>
          <a:xfrm>
            <a:off x="899145" y="2023393"/>
            <a:ext cx="221084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🧠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engine.ts 뒤만 → /api/respond → Claude API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🔒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키는 서버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6" name="Google Shape;135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1500" y="175416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75"/>
          <p:cNvSpPr/>
          <p:nvPr/>
        </p:nvSpPr>
        <p:spPr>
          <a:xfrm>
            <a:off x="3668018" y="1750368"/>
            <a:ext cx="2210916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친구 폰에도 내 기록이 보이려면?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75"/>
          <p:cNvSpPr/>
          <p:nvPr/>
        </p:nvSpPr>
        <p:spPr>
          <a:xfrm>
            <a:off x="3668018" y="2217241"/>
            <a:ext cx="2210916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repo.ts 뒤만 → DB API (Django · Supabase)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9" name="Google Shape;135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447" y="1754163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75"/>
          <p:cNvSpPr/>
          <p:nvPr/>
        </p:nvSpPr>
        <p:spPr>
          <a:xfrm>
            <a:off x="6436965" y="1750368"/>
            <a:ext cx="221091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화면 코드는 몇 줄 바뀌나?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75"/>
          <p:cNvSpPr/>
          <p:nvPr/>
        </p:nvSpPr>
        <p:spPr>
          <a:xfrm>
            <a:off x="6436965" y="2023393"/>
            <a:ext cx="22109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(문 두 개 원칙)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2" name="Google Shape;1362;p75"/>
          <p:cNvGraphicFramePr/>
          <p:nvPr/>
        </p:nvGraphicFramePr>
        <p:xfrm>
          <a:off x="496119" y="2753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037950"/>
                <a:gridCol w="2037950"/>
                <a:gridCol w="2037950"/>
                <a:gridCol w="203795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오늘 (PHASE 1)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 (PHASE 2)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바꾸는 곳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엔진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키워드 규칙 채점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LLM 채점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ENGINE=llm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저장소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localStorage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DB + 로그인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DATA_SOURCE=api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데이터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JSON 직접 수정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관리자 페이지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models.py · admin.py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8" name="Google Shape;136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76"/>
          <p:cNvSpPr/>
          <p:nvPr/>
        </p:nvSpPr>
        <p:spPr>
          <a:xfrm>
            <a:off x="496119" y="606921"/>
            <a:ext cx="72553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76"/>
          <p:cNvSpPr/>
          <p:nvPr/>
        </p:nvSpPr>
        <p:spPr>
          <a:xfrm>
            <a:off x="570533" y="647810"/>
            <a:ext cx="103390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7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87 – 88분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76"/>
          <p:cNvSpPr/>
          <p:nvPr/>
        </p:nvSpPr>
        <p:spPr>
          <a:xfrm>
            <a:off x="496119" y="845046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P82 · 토론 ③ 책임 — "돌아간다"와 "믿고 쓴다"는 다르다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76"/>
          <p:cNvSpPr/>
          <p:nvPr/>
        </p:nvSpPr>
        <p:spPr>
          <a:xfrm>
            <a:off x="496119" y="193015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⛵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오늘의 클론 (종이배)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76"/>
          <p:cNvSpPr/>
          <p:nvPr/>
        </p:nvSpPr>
        <p:spPr>
          <a:xfrm>
            <a:off x="496119" y="2252737"/>
            <a:ext cx="22100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팀 · 친구만 써 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 기반 · 정직하게 고지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개인정보 없음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마음 앱이면 안전 검사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76"/>
          <p:cNvSpPr/>
          <p:nvPr/>
        </p:nvSpPr>
        <p:spPr>
          <a:xfrm>
            <a:off x="2924249" y="1806178"/>
            <a:ext cx="2388691" cy="1413942"/>
          </a:xfrm>
          <a:prstGeom prst="roundRect">
            <a:avLst>
              <a:gd fmla="val 131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76"/>
          <p:cNvSpPr/>
          <p:nvPr/>
        </p:nvSpPr>
        <p:spPr>
          <a:xfrm>
            <a:off x="3048223" y="193015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🚢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진짜 서비스 (여객선)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76"/>
          <p:cNvSpPr/>
          <p:nvPr/>
        </p:nvSpPr>
        <p:spPr>
          <a:xfrm>
            <a:off x="3048223" y="2252737"/>
            <a:ext cx="2140744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낯선 사람이 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AI가 틀릴 수 있음 → 사람 확인 장치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개인정보 · 비밀 키 보호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안전 검사 + 전문가 검토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76"/>
          <p:cNvSpPr/>
          <p:nvPr/>
        </p:nvSpPr>
        <p:spPr>
          <a:xfrm>
            <a:off x="496119" y="3359646"/>
            <a:ext cx="2299395" cy="640407"/>
          </a:xfrm>
          <a:prstGeom prst="roundRect">
            <a:avLst>
              <a:gd fmla="val 290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76"/>
          <p:cNvSpPr/>
          <p:nvPr/>
        </p:nvSpPr>
        <p:spPr>
          <a:xfrm>
            <a:off x="620092" y="3483620"/>
            <a:ext cx="2051447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우리 클론이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누군가에게 해를 줄 수 있는 지점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은?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76"/>
          <p:cNvSpPr/>
          <p:nvPr/>
        </p:nvSpPr>
        <p:spPr>
          <a:xfrm>
            <a:off x="2919487" y="3359646"/>
            <a:ext cx="2299395" cy="640407"/>
          </a:xfrm>
          <a:prstGeom prst="roundRect">
            <a:avLst>
              <a:gd fmla="val 290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76"/>
          <p:cNvSpPr/>
          <p:nvPr/>
        </p:nvSpPr>
        <p:spPr>
          <a:xfrm>
            <a:off x="3043461" y="3483620"/>
            <a:ext cx="2051447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CI가 초록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이면 안전한가? → 아니요, 사람이 눌러 보고 판단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76"/>
          <p:cNvSpPr/>
          <p:nvPr/>
        </p:nvSpPr>
        <p:spPr>
          <a:xfrm>
            <a:off x="496119" y="4139580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검사와 AI가 아무리 좋아도 마지막 판단은 사람의 몫입니다. 바이브 코딩의 지휘자가 지는 책임입니다.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77"/>
          <p:cNvSpPr/>
          <p:nvPr/>
        </p:nvSpPr>
        <p:spPr>
          <a:xfrm>
            <a:off x="496119" y="346546"/>
            <a:ext cx="453479" cy="117649"/>
          </a:xfrm>
          <a:prstGeom prst="roundRect">
            <a:avLst>
              <a:gd fmla="val 7908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77"/>
          <p:cNvSpPr/>
          <p:nvPr/>
        </p:nvSpPr>
        <p:spPr>
          <a:xfrm>
            <a:off x="542627" y="372090"/>
            <a:ext cx="817662" cy="7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EM"/>
              <a:buNone/>
            </a:pPr>
            <a:r>
              <a:rPr b="0" i="0" lang="ko-KR" sz="4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⏱</a:t>
            </a: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88 – 89분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77"/>
          <p:cNvSpPr/>
          <p:nvPr/>
        </p:nvSpPr>
        <p:spPr>
          <a:xfrm>
            <a:off x="496119" y="483543"/>
            <a:ext cx="8151763" cy="24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00"/>
              <a:buFont typeface="Roboto Slab"/>
              <a:buNone/>
            </a:pPr>
            <a:r>
              <a:rPr b="0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P83 · 피드백 → 백로그 → 다음 PR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0" name="Google Shape;139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798463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77"/>
          <p:cNvSpPr/>
          <p:nvPr/>
        </p:nvSpPr>
        <p:spPr>
          <a:xfrm>
            <a:off x="7002209" y="2925971"/>
            <a:ext cx="1190147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첫 브랜치·첫 PR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77"/>
          <p:cNvSpPr/>
          <p:nvPr/>
        </p:nvSpPr>
        <p:spPr>
          <a:xfrm>
            <a:off x="5502299" y="3040604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주문 문장으로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77"/>
          <p:cNvSpPr/>
          <p:nvPr/>
        </p:nvSpPr>
        <p:spPr>
          <a:xfrm>
            <a:off x="4010540" y="3040604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다음 버전 3개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77"/>
          <p:cNvSpPr/>
          <p:nvPr/>
        </p:nvSpPr>
        <p:spPr>
          <a:xfrm>
            <a:off x="2518781" y="3040604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의견 묶기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7"/>
          <p:cNvSpPr/>
          <p:nvPr/>
        </p:nvSpPr>
        <p:spPr>
          <a:xfrm>
            <a:off x="994415" y="2925971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손님 카드 모으기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6" name="Google Shape;1396;p77"/>
          <p:cNvGraphicFramePr/>
          <p:nvPr/>
        </p:nvGraphicFramePr>
        <p:xfrm>
          <a:off x="496119" y="3813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2037950"/>
                <a:gridCol w="2037950"/>
                <a:gridCol w="2037950"/>
                <a:gridCol w="2037950"/>
              </a:tblGrid>
              <a:tr h="17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순위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다음 버전 백로그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고칠 레이어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주문 / 요청 문장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"○○할 때 △△가 돼. □□로 고쳐 줘."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8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77525" marL="77525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7" name="Google Shape;1397;p77"/>
          <p:cNvSpPr/>
          <p:nvPr/>
        </p:nvSpPr>
        <p:spPr>
          <a:xfrm>
            <a:off x="496119" y="4565452"/>
            <a:ext cx="8151763" cy="231502"/>
          </a:xfrm>
          <a:prstGeom prst="roundRect">
            <a:avLst>
              <a:gd fmla="val 502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8" name="Google Shape;1398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584" y="4636889"/>
            <a:ext cx="96887" cy="77465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77"/>
          <p:cNvSpPr/>
          <p:nvPr/>
        </p:nvSpPr>
        <p:spPr>
          <a:xfrm>
            <a:off x="747936" y="4633243"/>
            <a:ext cx="8279681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오늘의 마지막 결과물이 다음 시간의 첫 바통입니다. 루프는 끝나지 않고 다시 시작합니다.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78"/>
          <p:cNvSpPr/>
          <p:nvPr/>
        </p:nvSpPr>
        <p:spPr>
          <a:xfrm>
            <a:off x="496119" y="348332"/>
            <a:ext cx="8151763" cy="308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0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P84 · 앞으로의 지도 — 클론 MVP에서 내 서비스까지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78"/>
          <p:cNvSpPr/>
          <p:nvPr/>
        </p:nvSpPr>
        <p:spPr>
          <a:xfrm>
            <a:off x="4564856" y="814760"/>
            <a:ext cx="14288" cy="3342084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78"/>
          <p:cNvSpPr/>
          <p:nvPr/>
        </p:nvSpPr>
        <p:spPr>
          <a:xfrm>
            <a:off x="4178573" y="918790"/>
            <a:ext cx="296540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78"/>
          <p:cNvSpPr/>
          <p:nvPr/>
        </p:nvSpPr>
        <p:spPr>
          <a:xfrm>
            <a:off x="4460825" y="814760"/>
            <a:ext cx="222349" cy="222349"/>
          </a:xfrm>
          <a:prstGeom prst="roundRect">
            <a:avLst>
              <a:gd fmla="val 6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78"/>
          <p:cNvSpPr/>
          <p:nvPr/>
        </p:nvSpPr>
        <p:spPr>
          <a:xfrm>
            <a:off x="4497884" y="833289"/>
            <a:ext cx="148233" cy="185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78"/>
          <p:cNvSpPr/>
          <p:nvPr/>
        </p:nvSpPr>
        <p:spPr>
          <a:xfrm>
            <a:off x="496119" y="848692"/>
            <a:ext cx="3581698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🧬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오늘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78"/>
          <p:cNvSpPr/>
          <p:nvPr/>
        </p:nvSpPr>
        <p:spPr>
          <a:xfrm>
            <a:off x="496119" y="1133218"/>
            <a:ext cx="358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 MVP (PHASE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📍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현재 위치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78"/>
          <p:cNvSpPr/>
          <p:nvPr/>
        </p:nvSpPr>
        <p:spPr>
          <a:xfrm>
            <a:off x="4668887" y="1471687"/>
            <a:ext cx="296540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8"/>
          <p:cNvSpPr/>
          <p:nvPr/>
        </p:nvSpPr>
        <p:spPr>
          <a:xfrm>
            <a:off x="4460825" y="1367656"/>
            <a:ext cx="222349" cy="222349"/>
          </a:xfrm>
          <a:prstGeom prst="roundRect">
            <a:avLst>
              <a:gd fmla="val 6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78"/>
          <p:cNvSpPr/>
          <p:nvPr/>
        </p:nvSpPr>
        <p:spPr>
          <a:xfrm>
            <a:off x="4497884" y="1386185"/>
            <a:ext cx="148233" cy="185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78"/>
          <p:cNvSpPr/>
          <p:nvPr/>
        </p:nvSpPr>
        <p:spPr>
          <a:xfrm>
            <a:off x="5066184" y="1401589"/>
            <a:ext cx="3581698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🔁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다음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78"/>
          <p:cNvSpPr/>
          <p:nvPr/>
        </p:nvSpPr>
        <p:spPr>
          <a:xfrm>
            <a:off x="5066184" y="1686114"/>
            <a:ext cx="358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피드백 2~3바퀴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(PR · Preview)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78"/>
          <p:cNvSpPr/>
          <p:nvPr/>
        </p:nvSpPr>
        <p:spPr>
          <a:xfrm>
            <a:off x="4178573" y="1962745"/>
            <a:ext cx="296540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8"/>
          <p:cNvSpPr/>
          <p:nvPr/>
        </p:nvSpPr>
        <p:spPr>
          <a:xfrm>
            <a:off x="4460825" y="1858714"/>
            <a:ext cx="222349" cy="222349"/>
          </a:xfrm>
          <a:prstGeom prst="roundRect">
            <a:avLst>
              <a:gd fmla="val 6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8"/>
          <p:cNvSpPr/>
          <p:nvPr/>
        </p:nvSpPr>
        <p:spPr>
          <a:xfrm>
            <a:off x="4497884" y="1877244"/>
            <a:ext cx="148233" cy="185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78"/>
          <p:cNvSpPr/>
          <p:nvPr/>
        </p:nvSpPr>
        <p:spPr>
          <a:xfrm>
            <a:off x="496119" y="1892647"/>
            <a:ext cx="3581698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✨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내 아이디어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78"/>
          <p:cNvSpPr/>
          <p:nvPr/>
        </p:nvSpPr>
        <p:spPr>
          <a:xfrm>
            <a:off x="496119" y="2177173"/>
            <a:ext cx="358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구조 · 다른 기획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캔버스만 새로 쓰기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78"/>
          <p:cNvSpPr/>
          <p:nvPr/>
        </p:nvSpPr>
        <p:spPr>
          <a:xfrm>
            <a:off x="4668887" y="2453878"/>
            <a:ext cx="296540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78"/>
          <p:cNvSpPr/>
          <p:nvPr/>
        </p:nvSpPr>
        <p:spPr>
          <a:xfrm>
            <a:off x="4460825" y="2349847"/>
            <a:ext cx="222349" cy="222349"/>
          </a:xfrm>
          <a:prstGeom prst="roundRect">
            <a:avLst>
              <a:gd fmla="val 6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78"/>
          <p:cNvSpPr/>
          <p:nvPr/>
        </p:nvSpPr>
        <p:spPr>
          <a:xfrm>
            <a:off x="4497884" y="2368376"/>
            <a:ext cx="148233" cy="185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78"/>
          <p:cNvSpPr/>
          <p:nvPr/>
        </p:nvSpPr>
        <p:spPr>
          <a:xfrm>
            <a:off x="5066184" y="2383780"/>
            <a:ext cx="3581698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🗄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PHASE 2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78"/>
          <p:cNvSpPr/>
          <p:nvPr/>
        </p:nvSpPr>
        <p:spPr>
          <a:xfrm>
            <a:off x="5066184" y="2668306"/>
            <a:ext cx="35817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DB · 로그인 · 관리자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78"/>
          <p:cNvSpPr/>
          <p:nvPr/>
        </p:nvSpPr>
        <p:spPr>
          <a:xfrm>
            <a:off x="4178573" y="2945011"/>
            <a:ext cx="296540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78"/>
          <p:cNvSpPr/>
          <p:nvPr/>
        </p:nvSpPr>
        <p:spPr>
          <a:xfrm>
            <a:off x="4460825" y="2840980"/>
            <a:ext cx="222349" cy="222349"/>
          </a:xfrm>
          <a:prstGeom prst="roundRect">
            <a:avLst>
              <a:gd fmla="val 6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78"/>
          <p:cNvSpPr/>
          <p:nvPr/>
        </p:nvSpPr>
        <p:spPr>
          <a:xfrm>
            <a:off x="4497884" y="2859509"/>
            <a:ext cx="148233" cy="185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78"/>
          <p:cNvSpPr/>
          <p:nvPr/>
        </p:nvSpPr>
        <p:spPr>
          <a:xfrm>
            <a:off x="496119" y="2874913"/>
            <a:ext cx="3581698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AI 연결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78"/>
          <p:cNvSpPr/>
          <p:nvPr/>
        </p:nvSpPr>
        <p:spPr>
          <a:xfrm>
            <a:off x="496119" y="3159439"/>
            <a:ext cx="3581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서버에서 Claude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EM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🔒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키 보호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8"/>
          <p:cNvSpPr/>
          <p:nvPr/>
        </p:nvSpPr>
        <p:spPr>
          <a:xfrm>
            <a:off x="4668887" y="3436144"/>
            <a:ext cx="296540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78"/>
          <p:cNvSpPr/>
          <p:nvPr/>
        </p:nvSpPr>
        <p:spPr>
          <a:xfrm>
            <a:off x="4460825" y="3332113"/>
            <a:ext cx="222349" cy="222349"/>
          </a:xfrm>
          <a:prstGeom prst="roundRect">
            <a:avLst>
              <a:gd fmla="val 6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78"/>
          <p:cNvSpPr/>
          <p:nvPr/>
        </p:nvSpPr>
        <p:spPr>
          <a:xfrm>
            <a:off x="4497884" y="3350642"/>
            <a:ext cx="148233" cy="185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78"/>
          <p:cNvSpPr/>
          <p:nvPr/>
        </p:nvSpPr>
        <p:spPr>
          <a:xfrm>
            <a:off x="5066184" y="3366046"/>
            <a:ext cx="3581698" cy="159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📱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앱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78"/>
          <p:cNvSpPr/>
          <p:nvPr/>
        </p:nvSpPr>
        <p:spPr>
          <a:xfrm>
            <a:off x="5066184" y="3650571"/>
            <a:ext cx="35817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같은 데이터 · 다른 화면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78"/>
          <p:cNvSpPr/>
          <p:nvPr/>
        </p:nvSpPr>
        <p:spPr>
          <a:xfrm>
            <a:off x="644351" y="4333949"/>
            <a:ext cx="8460730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클론으로 배운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구조</a:t>
            </a:r>
            <a:r>
              <a:rPr b="0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와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파이프라인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은 그대로 → 바뀌는 건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기획 캔버스</a:t>
            </a:r>
            <a:r>
              <a:rPr b="0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뿐</a:t>
            </a:r>
            <a:endParaRPr b="0" i="0" sz="12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78"/>
          <p:cNvSpPr/>
          <p:nvPr/>
        </p:nvSpPr>
        <p:spPr>
          <a:xfrm>
            <a:off x="496119" y="4245397"/>
            <a:ext cx="14288" cy="319162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78"/>
          <p:cNvSpPr/>
          <p:nvPr/>
        </p:nvSpPr>
        <p:spPr>
          <a:xfrm>
            <a:off x="496119" y="4653111"/>
            <a:ext cx="8608963" cy="14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 코딩의 진짜 목적은 "내 앱"을 만들 힘을 얻는 것입니다. 오늘 배운 구조에 내 캔버스만 바꿔 끼우면 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79"/>
          <p:cNvSpPr/>
          <p:nvPr/>
        </p:nvSpPr>
        <p:spPr>
          <a:xfrm>
            <a:off x="496119" y="349300"/>
            <a:ext cx="8151763" cy="363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P85 · 90분 한 장 총정리 — 0 → 1 → 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6" name="Google Shape;144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930697"/>
            <a:ext cx="4075881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79"/>
          <p:cNvSpPr/>
          <p:nvPr/>
        </p:nvSpPr>
        <p:spPr>
          <a:xfrm>
            <a:off x="612353" y="1504876"/>
            <a:ext cx="3843412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0 기획 · 선택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79"/>
          <p:cNvSpPr/>
          <p:nvPr/>
        </p:nvSpPr>
        <p:spPr>
          <a:xfrm>
            <a:off x="612353" y="1761455"/>
            <a:ext cx="3843412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 1개 선택 → 역기획 7단계 →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클론 기획 캔버스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9" name="Google Shape;1449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930697"/>
            <a:ext cx="4075881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79"/>
          <p:cNvSpPr/>
          <p:nvPr/>
        </p:nvSpPr>
        <p:spPr>
          <a:xfrm>
            <a:off x="4688235" y="1504876"/>
            <a:ext cx="3843412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🔵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1 개발 프로세스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79"/>
          <p:cNvSpPr/>
          <p:nvPr/>
        </p:nvSpPr>
        <p:spPr>
          <a:xfrm>
            <a:off x="4688235" y="1761455"/>
            <a:ext cx="3843412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 · 5 레이어 · 문 두 개 · v0 → GitHub → 에이전트 → Vercel → CI/CD →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🧾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마스터 프롬프트 + 파이프라인 지도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2" name="Google Shape;1452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238152"/>
            <a:ext cx="4075881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79"/>
          <p:cNvSpPr/>
          <p:nvPr/>
        </p:nvSpPr>
        <p:spPr>
          <a:xfrm>
            <a:off x="612353" y="2812331"/>
            <a:ext cx="3843412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🔴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2 실습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79"/>
          <p:cNvSpPr/>
          <p:nvPr/>
        </p:nvSpPr>
        <p:spPr>
          <a:xfrm>
            <a:off x="612353" y="3068910"/>
            <a:ext cx="3843412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 클론 6스텝 → Publish → CI/CD 시연 →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MVP 주소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5" name="Google Shape;1455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238152"/>
            <a:ext cx="4075881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79"/>
          <p:cNvSpPr/>
          <p:nvPr/>
        </p:nvSpPr>
        <p:spPr>
          <a:xfrm>
            <a:off x="4688235" y="2812331"/>
            <a:ext cx="3843412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🟢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토론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79"/>
          <p:cNvSpPr/>
          <p:nvPr/>
        </p:nvSpPr>
        <p:spPr>
          <a:xfrm>
            <a:off x="4688235" y="3068910"/>
            <a:ext cx="3843412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 · 구조 · 책임 →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🗂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다음 버전 백로그 → 다시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8" name="Google Shape;1458;p79"/>
          <p:cNvGraphicFramePr/>
          <p:nvPr/>
        </p:nvGraphicFramePr>
        <p:xfrm>
          <a:off x="496119" y="348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535075"/>
                <a:gridCol w="2917825"/>
                <a:gridCol w="3698850"/>
              </a:tblGrid>
              <a:tr h="3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단계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질문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결과물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0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무엇을, 왜, 어디까지?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캔버스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1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어떤 구조로, 어떤 길로?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프롬프트 · 지도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정말 돌아가고, 믿을 만한가?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MVP · 백로그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16300" marL="11630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80"/>
          <p:cNvSpPr/>
          <p:nvPr/>
        </p:nvSpPr>
        <p:spPr>
          <a:xfrm>
            <a:off x="496119" y="795784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P86 · 마무리 — 여러분이 지휘자였어요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80"/>
          <p:cNvSpPr/>
          <p:nvPr/>
        </p:nvSpPr>
        <p:spPr>
          <a:xfrm>
            <a:off x="682154" y="1585168"/>
            <a:ext cx="7965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"오늘 여러분은 잘 만든 앱 하나를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거꾸로 기획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말로 지휘해서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똑같이 돌아가는 MVP를 만들고,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올리기만 하면 저절로 검사하고 문을 여는 길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까지 봤어요. 잘 설계된 가짜는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스위치 하나로 진짜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됩니다."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80"/>
          <p:cNvSpPr/>
          <p:nvPr/>
        </p:nvSpPr>
        <p:spPr>
          <a:xfrm>
            <a:off x="496119" y="1445642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67" name="Google Shape;1467;p80"/>
          <p:cNvGraphicFramePr/>
          <p:nvPr/>
        </p:nvGraphicFramePr>
        <p:xfrm>
          <a:off x="496119" y="22611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{A7370855-B6DB-492E-9220-44FD4A8FBF73}</a:tableStyleId>
              </a:tblPr>
              <a:tblGrid>
                <a:gridCol w="1654750"/>
                <a:gridCol w="649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과제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내용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MVP 주소를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사용자 5명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에게 보내고 손님 카드 받기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백로그 1번을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고치는 주문 문장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으로 써 오기 (다음 시간 첫 PR)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(선택)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같은 구조에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 아이디어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로 캔버스 한 장 새로 쓰기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8" name="Google Shape;1468;p80"/>
          <p:cNvSpPr/>
          <p:nvPr/>
        </p:nvSpPr>
        <p:spPr>
          <a:xfrm>
            <a:off x="496119" y="3851746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9" name="Google Shape;146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03153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80"/>
          <p:cNvSpPr/>
          <p:nvPr/>
        </p:nvSpPr>
        <p:spPr>
          <a:xfrm>
            <a:off x="899071" y="4006676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마지막 문장을 함께 소리 내어 읽고 90분을 마칩니다: 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"잘 설계된 가짜는 스위치 하나로 진짜가 된다."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