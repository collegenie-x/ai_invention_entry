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5143500" cy="9144000"/>
  <p:embeddedFontLst>
    <p:embeddedFont>
      <p:font typeface="Roboto Slab"/>
      <p:regular r:id="rId56"/>
      <p:bold r:id="rId57"/>
    </p:embeddedFont>
    <p:embeddedFont>
      <p:font typeface="Roboto"/>
      <p:regular r:id="rId58"/>
      <p:bold r:id="rId59"/>
      <p:italic r:id="rId60"/>
      <p:boldItalic r:id="rId61"/>
    </p:embeddedFont>
    <p:embeddedFont>
      <p:font typeface="REM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DDC1E5-DF62-490F-B10C-564F8ADFDB76}">
  <a:tblStyle styleId="{F9DDC1E5-DF62-490F-B10C-564F8ADFDB7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EM-regular.fntdata"/><Relationship Id="rId61" Type="http://schemas.openxmlformats.org/officeDocument/2006/relationships/font" Target="fonts/Roboto-boldItalic.fntdata"/><Relationship Id="rId20" Type="http://schemas.openxmlformats.org/officeDocument/2006/relationships/slide" Target="slides/slide15.xml"/><Relationship Id="rId64" Type="http://schemas.openxmlformats.org/officeDocument/2006/relationships/font" Target="fonts/REM-italic.fntdata"/><Relationship Id="rId63" Type="http://schemas.openxmlformats.org/officeDocument/2006/relationships/font" Target="fonts/REM-bold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font" Target="fonts/REM-bold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Roboto-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Slab-bold.fntdata"/><Relationship Id="rId12" Type="http://schemas.openxmlformats.org/officeDocument/2006/relationships/slide" Target="slides/slide7.xml"/><Relationship Id="rId56" Type="http://schemas.openxmlformats.org/officeDocument/2006/relationships/font" Target="fonts/RobotoSlab-regular.fntdata"/><Relationship Id="rId15" Type="http://schemas.openxmlformats.org/officeDocument/2006/relationships/slide" Target="slides/slide10.xml"/><Relationship Id="rId59" Type="http://schemas.openxmlformats.org/officeDocument/2006/relationships/font" Target="fonts/Roboto-bold.fntdata"/><Relationship Id="rId14" Type="http://schemas.openxmlformats.org/officeDocument/2006/relationships/slide" Target="slides/slide9.xml"/><Relationship Id="rId58" Type="http://schemas.openxmlformats.org/officeDocument/2006/relationships/font" Target="fonts/Roboto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3" name="Google Shape;62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6" name="Google Shape;70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8" name="Google Shape;728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2" name="Google Shape;76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1" name="Google Shape;78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2" name="Google Shape;782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4" name="Google Shape;81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jp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1.png"/><Relationship Id="rId7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jp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Relationship Id="rId4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jpg"/><Relationship Id="rId4" Type="http://schemas.openxmlformats.org/officeDocument/2006/relationships/image" Target="../media/image2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jpg"/><Relationship Id="rId4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9.jpg"/><Relationship Id="rId4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6.jpg"/><Relationship Id="rId4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7.jpg"/><Relationship Id="rId4" Type="http://schemas.openxmlformats.org/officeDocument/2006/relationships/image" Target="../media/image2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jpg"/><Relationship Id="rId4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4.jpg"/><Relationship Id="rId4" Type="http://schemas.openxmlformats.org/officeDocument/2006/relationships/image" Target="../media/image42.png"/><Relationship Id="rId5" Type="http://schemas.openxmlformats.org/officeDocument/2006/relationships/image" Target="../media/image2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0.jpg"/><Relationship Id="rId4" Type="http://schemas.openxmlformats.org/officeDocument/2006/relationships/image" Target="../media/image41.png"/><Relationship Id="rId5" Type="http://schemas.openxmlformats.org/officeDocument/2006/relationships/image" Target="../media/image5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3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0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51.png"/><Relationship Id="rId7" Type="http://schemas.openxmlformats.org/officeDocument/2006/relationships/image" Target="../media/image4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3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65.jpg"/><Relationship Id="rId4" Type="http://schemas.openxmlformats.org/officeDocument/2006/relationships/image" Target="../media/image58.png"/><Relationship Id="rId5" Type="http://schemas.openxmlformats.org/officeDocument/2006/relationships/image" Target="../media/image5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9.jpg"/><Relationship Id="rId4" Type="http://schemas.openxmlformats.org/officeDocument/2006/relationships/image" Target="../media/image6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3.jpg"/><Relationship Id="rId4" Type="http://schemas.openxmlformats.org/officeDocument/2006/relationships/image" Target="../media/image3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0.jpg"/><Relationship Id="rId4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3925125" y="1615150"/>
            <a:ext cx="5130600" cy="80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내 컴퓨터에 "진짜 주방"을 차린다 </a:t>
            </a:r>
            <a:r>
              <a:rPr b="0" i="0" lang="ko-KR" sz="2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🏠🍳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925119" y="2604864"/>
            <a:ext cx="650007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9" name="Google Shape;19;p3"/>
          <p:cNvSpPr/>
          <p:nvPr/>
        </p:nvSpPr>
        <p:spPr>
          <a:xfrm>
            <a:off x="3999533" y="2645753"/>
            <a:ext cx="958379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4일차 1교시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637112" y="2604864"/>
            <a:ext cx="1496839" cy="188565"/>
          </a:xfrm>
          <a:prstGeom prst="roundRect">
            <a:avLst>
              <a:gd fmla="val 7894" name="adj"/>
            </a:avLst>
          </a:prstGeom>
          <a:noFill/>
          <a:ln cap="flat" cmpd="sng" w="952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1" name="Google Shape;21;p3"/>
          <p:cNvSpPr/>
          <p:nvPr/>
        </p:nvSpPr>
        <p:spPr>
          <a:xfrm>
            <a:off x="4711526" y="2645753"/>
            <a:ext cx="1805211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750"/>
              <a:buFont typeface="Roboto"/>
              <a:buNone/>
            </a:pPr>
            <a:r>
              <a:rPr b="0" i="0" lang="ko-KR" sz="9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개발 환경 구축 · NEXT.JS의 탄생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925119" y="2932956"/>
            <a:ext cx="4722763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어제는 </a:t>
            </a:r>
            <a:r>
              <a:rPr b="1" i="0" lang="ko-KR" sz="1150" u="sng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빌린 주방(v0)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에서 요리했다면, 오늘은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 주방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을 직접 차립니다. 개발자들은 이걸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'</a:t>
            </a:r>
            <a:r>
              <a:rPr b="1" i="0" lang="ko-KR" sz="1150" u="sng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개발 환경 구축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'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이라고 불러요. 노트북 안에 가스레인지·조리대·레시피 일지·금고를 하나씩 설치하며 진짜 요리사로 거듭나는 날이에요!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96119" y="862236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오늘의 길 — 45분 6정거장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🗺️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512094"/>
            <a:ext cx="2037904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620055" y="2132186"/>
            <a:ext cx="178995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🎬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오프닝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20092" y="2405211"/>
            <a:ext cx="178995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4022" y="1512094"/>
            <a:ext cx="2037978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2657996" y="2132186"/>
            <a:ext cx="179003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🤔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① 왜 필요해?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657996" y="2405211"/>
            <a:ext cx="179003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7분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0" y="1512094"/>
            <a:ext cx="2037904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/>
          <p:nvPr/>
        </p:nvSpPr>
        <p:spPr>
          <a:xfrm>
            <a:off x="4695937" y="2132186"/>
            <a:ext cx="178995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🛠️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② 설치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695974" y="2405211"/>
            <a:ext cx="178995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22분 — 핵심!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09904" y="1512094"/>
            <a:ext cx="2037978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6733877" y="2132186"/>
            <a:ext cx="179003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③ Next.js 이야기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733877" y="2405211"/>
            <a:ext cx="179003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8분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34022" y="2727647"/>
            <a:ext cx="2037978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2657996" y="3347740"/>
            <a:ext cx="1790030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🏭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④ 회사는?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2657996" y="3620765"/>
            <a:ext cx="179003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3분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0" y="2727647"/>
            <a:ext cx="2037904" cy="49611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4695937" y="3347740"/>
            <a:ext cx="1789956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🔗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닫기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695974" y="3620765"/>
            <a:ext cx="1789956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2분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96125" y="4082720"/>
            <a:ext cx="86091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가장 긴 정거장은 </a:t>
            </a:r>
            <a:r>
              <a:rPr b="1" i="0" lang="ko-KR" sz="1250" u="none" cap="none" strike="noStrike">
                <a:solidFill>
                  <a:srgbClr val="3257B8"/>
                </a:solidFill>
                <a:latin typeface="Roboto"/>
                <a:ea typeface="Roboto"/>
                <a:cs typeface="Roboto"/>
                <a:sym typeface="Roboto"/>
              </a:rPr>
              <a:t>② 설치(22분)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이고, 가장 중요한 질문은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③ 왜 Next.js?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입니다.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다운로드를 기다리는 동안 ①·③ 비유를 끼워 넣으면 시간이 넉넉해져요.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" name="Google Shape;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/>
          <p:nvPr/>
        </p:nvSpPr>
        <p:spPr>
          <a:xfrm>
            <a:off x="496119" y="1407988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🎬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어제는 공유 주방, 오늘은 내 가게 주방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496119" y="250738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🏢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3일차 — v0 공유 주방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96119" y="2829967"/>
            <a:ext cx="2210098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설비는 다 있지만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 것이 아니에요.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시간이 다 되면 나가야 하고, 구조를 바꿀 수 없어요. 가스레인지·냄비·칼이 모두 준비되어 있지만, 다른 사람과 함께 써야 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924249" y="2383408"/>
            <a:ext cx="2388691" cy="1352029"/>
          </a:xfrm>
          <a:prstGeom prst="roundRect">
            <a:avLst>
              <a:gd fmla="val 137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048223" y="250738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4일차 — 내 컴퓨터 주방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048223" y="2829967"/>
            <a:ext cx="2140744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설비를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직접 설치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하는 날! 진짜 요리사가 되려면 언젠가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내 가게에 내 주방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을 차려야 해요. 오늘이 바로 그날입니다.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>
            <a:off x="496119" y="841921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공유 주방 vs 내 주방 — 무엇이 달라질까?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" name="Google Shape;66;p6"/>
          <p:cNvGraphicFramePr/>
          <p:nvPr/>
        </p:nvGraphicFramePr>
        <p:xfrm>
          <a:off x="496119" y="1491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4075875"/>
                <a:gridCol w="407587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🏢 공유 주방 (v0만 쓰기)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🏠 내 주방 (개발 환경)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57B8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⚡ 바로 시작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🛠️ 처음에 설치가 필요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⏰ 사용량·시간 제한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♾️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제한 없음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📦 코드는 v0 안에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💾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 컴퓨터 + GitHub에 내 것으로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🙏 AI에게 부탁만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🔧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직접 열고 고칠 수 있음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🎨 v0만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🤖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Claude Code 등 무엇이든 연결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" name="Google Shape;67;p6"/>
          <p:cNvSpPr/>
          <p:nvPr/>
        </p:nvSpPr>
        <p:spPr>
          <a:xfrm>
            <a:off x="496119" y="3805535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98532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6"/>
          <p:cNvSpPr/>
          <p:nvPr/>
        </p:nvSpPr>
        <p:spPr>
          <a:xfrm>
            <a:off x="899071" y="3960465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마지막 줄이 핵심! 내 주방이 있어야 2교시 마지막에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AI 요리사(Claude Code)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를 초대할 수 있어요.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7"/>
          <p:cNvSpPr/>
          <p:nvPr/>
        </p:nvSpPr>
        <p:spPr>
          <a:xfrm>
            <a:off x="496119" y="1332384"/>
            <a:ext cx="455191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570533" y="1373272"/>
            <a:ext cx="763563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① 섹션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496119" y="1570509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이 도구들이 필요할까?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496119" y="2158380"/>
            <a:ext cx="4722763" cy="1069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ko-KR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화면 하나 만드는데 도구가 왜 4개나?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96125" y="3414203"/>
            <a:ext cx="47229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설치하기 전에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"왜"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를 먼저 알면 설치가 훨씬 덜 지루해요.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각 도구가 주방에서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어떤 역할을 하는지 먼저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살펴볼게요!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6" name="Google Shape;8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496119" y="511597"/>
            <a:ext cx="4722763" cy="385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350"/>
              <a:buFont typeface="Roboto Slab"/>
              <a:buNone/>
            </a:pPr>
            <a:r>
              <a:rPr b="0" i="0" lang="ko-KR" sz="2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클론 코딩 = 맛집 라면 따라 끓이기 </a:t>
            </a:r>
            <a:r>
              <a:rPr b="0" i="0" lang="ko-KR" sz="2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🍜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496119" y="1071190"/>
            <a:ext cx="4722763" cy="56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클론 코딩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이란 이미 있는 서비스를 </a:t>
            </a:r>
            <a:r>
              <a:rPr b="1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똑같이 따라 만들어 보며</a:t>
            </a: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배우는 방법이에요. 유명한 맛집 라면을 먹어 보고 "이건 어떻게 만들었을까?"를 거꾸로 알아내서 내 주방에서 끓여 보는 것과 같아요.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9" name="Google Shape;8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769790"/>
            <a:ext cx="4722763" cy="2071613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8"/>
          <p:cNvSpPr/>
          <p:nvPr/>
        </p:nvSpPr>
        <p:spPr>
          <a:xfrm>
            <a:off x="1927400" y="3173707"/>
            <a:ext cx="7137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맛·모양 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927400" y="3407681"/>
            <a:ext cx="71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분석.md로 구성요소 파악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194865" y="3274314"/>
            <a:ext cx="7137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가게 오픈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4194865" y="3450104"/>
            <a:ext cx="713700" cy="1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배포: ○○.vercel.app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8"/>
          <p:cNvSpPr/>
          <p:nvPr/>
        </p:nvSpPr>
        <p:spPr>
          <a:xfrm>
            <a:off x="818660" y="1955981"/>
            <a:ext cx="713766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원본 서비스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8"/>
          <p:cNvSpPr/>
          <p:nvPr/>
        </p:nvSpPr>
        <p:spPr>
          <a:xfrm>
            <a:off x="818660" y="2120133"/>
            <a:ext cx="713766" cy="1006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맛집 라면: askback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8"/>
          <p:cNvSpPr/>
          <p:nvPr/>
        </p:nvSpPr>
        <p:spPr>
          <a:xfrm>
            <a:off x="3077037" y="1955981"/>
            <a:ext cx="713766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내 주방에서 재현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8"/>
          <p:cNvSpPr/>
          <p:nvPr/>
        </p:nvSpPr>
        <p:spPr>
          <a:xfrm>
            <a:off x="3077037" y="2352871"/>
            <a:ext cx="713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코드로 맛을 따라 만들기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8"/>
          <p:cNvSpPr/>
          <p:nvPr/>
        </p:nvSpPr>
        <p:spPr>
          <a:xfrm>
            <a:off x="496119" y="3972297"/>
            <a:ext cx="4722763" cy="659532"/>
          </a:xfrm>
          <a:prstGeom prst="roundRect">
            <a:avLst>
              <a:gd fmla="val 273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9" name="Google Shape;9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6223" y="4137347"/>
            <a:ext cx="150168" cy="1201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8"/>
          <p:cNvSpPr/>
          <p:nvPr/>
        </p:nvSpPr>
        <p:spPr>
          <a:xfrm>
            <a:off x="886495" y="4118670"/>
            <a:ext cx="4212282" cy="37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0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내 주방(개발 환경)</a:t>
            </a: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 없으면 끓일 곳이 없어요 </a:t>
            </a:r>
            <a:b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→ 오늘 1교시가 그 주방을 차리는 시간!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/>
          <p:nvPr/>
        </p:nvSpPr>
        <p:spPr>
          <a:xfrm>
            <a:off x="496119" y="1322784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클론 코딩, 궁금한 세 가지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7" name="Google Shape;107;p9"/>
          <p:cNvGraphicFramePr/>
          <p:nvPr/>
        </p:nvGraphicFramePr>
        <p:xfrm>
          <a:off x="496119" y="203561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2717750"/>
                <a:gridCol w="2717000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❓ 질문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💡 답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🍳 비유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왜 따라 만들어요?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잘 만든 서비스엔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이유 있는 배치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 숨어 있어요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🎨 명화를 따라 그리면 붓질이 보여요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v0만으로는 안 돼요?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코드를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 것으로 가져와 고치려면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내 주방이 필요해요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🍱 배달 음식 vs 직접 요리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베끼는 거 아니에요?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공부용이에요. 이름·로고·글은 우리 것으로 바꿔요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📚 교과서 예제 풀기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/>
          <p:nvPr/>
        </p:nvSpPr>
        <p:spPr>
          <a:xfrm>
            <a:off x="496119" y="1023491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주방 설비 4종 + 금고 1개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496119" y="1673349"/>
            <a:ext cx="2634555" cy="992312"/>
          </a:xfrm>
          <a:prstGeom prst="roundRect">
            <a:avLst>
              <a:gd fmla="val 187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620092" y="1797323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Node.js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620092" y="2070348"/>
            <a:ext cx="2386608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가스레인지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불(실행)을 켜 주는 기계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3254648" y="1673349"/>
            <a:ext cx="2634630" cy="992312"/>
          </a:xfrm>
          <a:prstGeom prst="roundRect">
            <a:avLst>
              <a:gd fmla="val 187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3378622" y="1797323"/>
            <a:ext cx="23866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🛵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npm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3378622" y="2070348"/>
            <a:ext cx="2386682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식재료 배달 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부품을 한 번에 배달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6013252" y="1673349"/>
            <a:ext cx="2634555" cy="992312"/>
          </a:xfrm>
          <a:prstGeom prst="roundRect">
            <a:avLst>
              <a:gd fmla="val 187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6137225" y="1797323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🔪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VS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6137225" y="2070348"/>
            <a:ext cx="2386608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조리대 + 칼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코드를 펼치고 다듬는 곳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0"/>
          <p:cNvSpPr/>
          <p:nvPr/>
        </p:nvSpPr>
        <p:spPr>
          <a:xfrm>
            <a:off x="496119" y="2789634"/>
            <a:ext cx="4013820" cy="992312"/>
          </a:xfrm>
          <a:prstGeom prst="roundRect">
            <a:avLst>
              <a:gd fmla="val 187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"/>
          <p:cNvSpPr/>
          <p:nvPr/>
        </p:nvSpPr>
        <p:spPr>
          <a:xfrm>
            <a:off x="620092" y="2913608"/>
            <a:ext cx="37658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📒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620092" y="3186633"/>
            <a:ext cx="3765872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레시피 일지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바뀐 걸 모두 기록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0"/>
          <p:cNvSpPr/>
          <p:nvPr/>
        </p:nvSpPr>
        <p:spPr>
          <a:xfrm>
            <a:off x="4633913" y="2789634"/>
            <a:ext cx="4013895" cy="992312"/>
          </a:xfrm>
          <a:prstGeom prst="roundRect">
            <a:avLst>
              <a:gd fmla="val 1875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"/>
          <p:cNvSpPr/>
          <p:nvPr/>
        </p:nvSpPr>
        <p:spPr>
          <a:xfrm>
            <a:off x="4757886" y="2913608"/>
            <a:ext cx="37659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🏦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GitHub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/>
          <p:nvPr/>
        </p:nvSpPr>
        <p:spPr>
          <a:xfrm>
            <a:off x="4757886" y="3186633"/>
            <a:ext cx="3765947" cy="4713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레시피 금고 (온라인)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5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Git → push → 금고 저장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/>
          <p:nvPr/>
        </p:nvSpPr>
        <p:spPr>
          <a:xfrm>
            <a:off x="496119" y="3921472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카드가 1교시 전체의 지도입니다. 이후 모든 단계에서 같은 소품들이 다시 등장해요!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하나라도 없으면 어떻게 될까?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😱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7" name="Google Shape;137;p11"/>
          <p:cNvGraphicFramePr/>
          <p:nvPr/>
        </p:nvGraphicFramePr>
        <p:xfrm>
          <a:off x="4678412" y="761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1325050"/>
                <a:gridCol w="1324600"/>
                <a:gridCol w="1324600"/>
              </a:tblGrid>
              <a:tr h="19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도구</a:t>
                      </a:r>
                      <a:endParaRPr sz="12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🍳 비유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2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😱 없으면?</a:t>
                      </a:r>
                      <a:endParaRPr sz="12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🔥 Node.js</a:t>
                      </a:r>
                      <a:endParaRPr sz="10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가스레인지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Next.js가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아예 안 켜져요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🛵 npm</a:t>
                      </a:r>
                      <a:endParaRPr sz="10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배달 앱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React를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손으로 못 구해요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🔪 VS Code</a:t>
                      </a:r>
                      <a:endParaRPr sz="10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조리대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파일 수십 개를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메모장으로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📒 Git</a:t>
                      </a:r>
                      <a:endParaRPr sz="10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레시피 일지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망친 요리를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b="1"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되돌릴 수 없어요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🏦 GitHub</a:t>
                      </a:r>
                      <a:endParaRPr sz="10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금고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노트북 고장 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0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= 레시피 증발!</a:t>
                      </a:r>
                      <a:endParaRPr sz="10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" name="Google Shape;138;p11"/>
          <p:cNvSpPr/>
          <p:nvPr/>
        </p:nvSpPr>
        <p:spPr>
          <a:xfrm>
            <a:off x="4678400" y="2858864"/>
            <a:ext cx="4431300" cy="8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가스레인지가 없으면?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배달 앱이 없으면? 조리대가 없으면?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그래서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넷 다 있어야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주방이 돌아가요.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"/>
          <p:cNvSpPr/>
          <p:nvPr/>
        </p:nvSpPr>
        <p:spPr>
          <a:xfrm>
            <a:off x="496119" y="721221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왜 "이 순서"로 설치할까? — 주방 공사 순서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2"/>
          <p:cNvSpPr/>
          <p:nvPr/>
        </p:nvSpPr>
        <p:spPr>
          <a:xfrm>
            <a:off x="682154" y="1867198"/>
            <a:ext cx="2448446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2"/>
          <p:cNvSpPr/>
          <p:nvPr/>
        </p:nvSpPr>
        <p:spPr>
          <a:xfrm>
            <a:off x="620100" y="2239209"/>
            <a:ext cx="2461500" cy="5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1️⃣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가스 공사 — Node.js </a:t>
            </a:r>
            <a:b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      + npm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934288" y="2809666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가스가 먼저! 모든 것의 기반이에요.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3440683" y="1681163"/>
            <a:ext cx="2448520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3465189" y="2053159"/>
            <a:ext cx="2461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2️⃣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조리대 설치 — VS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3692818" y="2384368"/>
            <a:ext cx="2386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 스위치가 달려 있어요.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6199287" y="1495127"/>
            <a:ext cx="2448446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6310354" y="1867125"/>
            <a:ext cx="2461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3️⃣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일지 준비 — Git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6451421" y="2198332"/>
            <a:ext cx="23865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"편집기는 VS Code로"를 고르려면 VS Code가 먼저!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2"/>
          <p:cNvSpPr/>
          <p:nvPr/>
        </p:nvSpPr>
        <p:spPr>
          <a:xfrm>
            <a:off x="682154" y="3454747"/>
            <a:ext cx="2448446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620100" y="3826748"/>
            <a:ext cx="27276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4️⃣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금고 ATM — GitHub Desktop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2"/>
          <p:cNvSpPr/>
          <p:nvPr/>
        </p:nvSpPr>
        <p:spPr>
          <a:xfrm>
            <a:off x="934288" y="4157952"/>
            <a:ext cx="2386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일지(Git)가 있어야 금고에 맡길 수 있어요.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2"/>
          <p:cNvSpPr/>
          <p:nvPr/>
        </p:nvSpPr>
        <p:spPr>
          <a:xfrm>
            <a:off x="3440683" y="3268712"/>
            <a:ext cx="2448520" cy="123974"/>
          </a:xfrm>
          <a:prstGeom prst="roundRect">
            <a:avLst>
              <a:gd fmla="val 15009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"/>
          <p:cNvSpPr/>
          <p:nvPr/>
        </p:nvSpPr>
        <p:spPr>
          <a:xfrm>
            <a:off x="3465189" y="3640705"/>
            <a:ext cx="24615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5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5️⃣</a:t>
            </a:r>
            <a:r>
              <a:rPr b="0" i="0" lang="ko-KR" sz="15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첫 요리 — Next.js 실행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3692818" y="3971917"/>
            <a:ext cx="2386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모두 준비된 뒤 드디어 불을 켭니다!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2"/>
          <p:cNvSpPr/>
          <p:nvPr/>
        </p:nvSpPr>
        <p:spPr>
          <a:xfrm>
            <a:off x="496119" y="1743149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1" name="Google Shape;16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9136" y="1836167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/>
          <p:nvPr/>
        </p:nvSpPr>
        <p:spPr>
          <a:xfrm>
            <a:off x="3254648" y="1557114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3" name="Google Shape;16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47665" y="1650132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2"/>
          <p:cNvSpPr/>
          <p:nvPr/>
        </p:nvSpPr>
        <p:spPr>
          <a:xfrm>
            <a:off x="6013252" y="1371079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5" name="Google Shape;16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6269" y="1464097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2"/>
          <p:cNvSpPr/>
          <p:nvPr/>
        </p:nvSpPr>
        <p:spPr>
          <a:xfrm>
            <a:off x="496119" y="3330699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136" y="3423717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2"/>
          <p:cNvSpPr/>
          <p:nvPr/>
        </p:nvSpPr>
        <p:spPr>
          <a:xfrm>
            <a:off x="3254648" y="3144664"/>
            <a:ext cx="372070" cy="372070"/>
          </a:xfrm>
          <a:prstGeom prst="ellipse">
            <a:avLst/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9" name="Google Shape;16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47665" y="3237681"/>
            <a:ext cx="186035" cy="186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5" name="Google Shape;1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3"/>
          <p:cNvSpPr/>
          <p:nvPr/>
        </p:nvSpPr>
        <p:spPr>
          <a:xfrm>
            <a:off x="3925119" y="1250603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프론트 페이지 하나에 이게 다 필요한 이유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3"/>
          <p:cNvSpPr/>
          <p:nvPr/>
        </p:nvSpPr>
        <p:spPr>
          <a:xfrm>
            <a:off x="3835825" y="2226026"/>
            <a:ext cx="2388600" cy="2084400"/>
          </a:xfrm>
          <a:prstGeom prst="roundRect">
            <a:avLst>
              <a:gd fmla="val 111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"/>
          <p:cNvSpPr/>
          <p:nvPr/>
        </p:nvSpPr>
        <p:spPr>
          <a:xfrm>
            <a:off x="3959796" y="2349996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내 컴퓨터 (오늘 1교시)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3959796" y="2672581"/>
            <a:ext cx="2140744" cy="1108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🔪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VS Code에서 코드 고치기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Node.js </a:t>
            </a:r>
            <a:r>
              <a:rPr b="0" i="0" lang="ko-KR" sz="11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npm run dev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🖥️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localhost:3000 (나만 보는 시식)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🛵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npm이 React·Next.js 배달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📒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Git으로 기록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6442546" y="2349996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인터넷 (2교시)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6442546" y="2672581"/>
            <a:ext cx="2210098" cy="1103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📒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 → push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🏦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GitHub → 자동 연결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Vercel →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모두가 보는 가게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핵심 한 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VS Code에서 고치고 → Node.js로 맛보고 → Git으로 기록하고 → GitHub에 넣으면 → Vercel이 가게를 연다!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7" name="Google Shape;18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4"/>
          <p:cNvSpPr/>
          <p:nvPr/>
        </p:nvSpPr>
        <p:spPr>
          <a:xfrm>
            <a:off x="3925119" y="468437"/>
            <a:ext cx="455191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"/>
          <p:cNvSpPr/>
          <p:nvPr/>
        </p:nvSpPr>
        <p:spPr>
          <a:xfrm>
            <a:off x="3999533" y="509325"/>
            <a:ext cx="763563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② 섹션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3925119" y="706562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한 단계씩 설치하기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3925119" y="1294433"/>
            <a:ext cx="4722763" cy="534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ko-KR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주방 공사 5계단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3925119" y="2015356"/>
            <a:ext cx="5179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규칙: 설치 1개 = 확인 1개.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확인 안 한 설치는 2교시에 반드시 문제가 생깁니다!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3" name="Google Shape;1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2353345"/>
            <a:ext cx="4722763" cy="23216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4"/>
          <p:cNvSpPr/>
          <p:nvPr/>
        </p:nvSpPr>
        <p:spPr>
          <a:xfrm>
            <a:off x="6236088" y="2557498"/>
            <a:ext cx="1080061" cy="13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실패 대응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236088" y="2754181"/>
            <a:ext cx="21840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대처표 확인 후 재시도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6236088" y="3099928"/>
            <a:ext cx="1080061" cy="13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성공 처리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6236088" y="3296612"/>
            <a:ext cx="21840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체크 카드 도장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6236088" y="3642359"/>
            <a:ext cx="1080061" cy="135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확인 명령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6236088" y="3839043"/>
            <a:ext cx="21840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숫자 출력 확인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6240888" y="4184789"/>
            <a:ext cx="1080061" cy="135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설치하기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6240888" y="4381473"/>
            <a:ext cx="2184000" cy="1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한 항목 설치 실행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496119" y="344686"/>
            <a:ext cx="81519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🎫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우리 주방 공사 체크 카드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/>
          <p:nvPr/>
        </p:nvSpPr>
        <p:spPr>
          <a:xfrm>
            <a:off x="4678412" y="754559"/>
            <a:ext cx="3974232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우리 주방 공사 체크 카드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5"/>
          <p:cNvSpPr/>
          <p:nvPr/>
        </p:nvSpPr>
        <p:spPr>
          <a:xfrm>
            <a:off x="4678412" y="945505"/>
            <a:ext cx="4431432" cy="11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팀명: ___________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5"/>
          <p:cNvSpPr/>
          <p:nvPr/>
        </p:nvSpPr>
        <p:spPr>
          <a:xfrm>
            <a:off x="4678412" y="1140768"/>
            <a:ext cx="3974232" cy="9525"/>
          </a:xfrm>
          <a:prstGeom prst="roundRect">
            <a:avLst>
              <a:gd fmla="val 50000" name="adj"/>
            </a:avLst>
          </a:prstGeom>
          <a:solidFill>
            <a:srgbClr val="15213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4678400" y="1318050"/>
            <a:ext cx="39696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1️⃣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Node.js — </a:t>
            </a: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node -v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v_______ [도장]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/>
          <p:nvPr/>
        </p:nvSpPr>
        <p:spPr>
          <a:xfrm>
            <a:off x="4678400" y="1660730"/>
            <a:ext cx="39696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🛵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npm — </a:t>
            </a: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npm -v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_______ [도장]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5"/>
          <p:cNvSpPr/>
          <p:nvPr/>
        </p:nvSpPr>
        <p:spPr>
          <a:xfrm>
            <a:off x="4678400" y="2003412"/>
            <a:ext cx="39696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2️⃣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🔪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VS Code — </a:t>
            </a: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code -v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_______ [도장]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5"/>
          <p:cNvSpPr/>
          <p:nvPr/>
        </p:nvSpPr>
        <p:spPr>
          <a:xfrm>
            <a:off x="4678400" y="2346094"/>
            <a:ext cx="39696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3️⃣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📒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 — </a:t>
            </a: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git -v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_______ [도장]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4678400" y="2688774"/>
            <a:ext cx="3969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4️⃣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🏧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GitHub Desktop — 계정 표시 [도장]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4678400" y="3019440"/>
            <a:ext cx="3969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5️⃣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🍳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Next.js — localhost:3000 열림 [도장]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4678412" y="3437658"/>
            <a:ext cx="3974100" cy="253800"/>
          </a:xfrm>
          <a:prstGeom prst="roundRect">
            <a:avLst>
              <a:gd fmla="val 4924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9" name="Google Shape;2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756" y="3522490"/>
            <a:ext cx="104180" cy="83344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5"/>
          <p:cNvSpPr/>
          <p:nvPr/>
        </p:nvSpPr>
        <p:spPr>
          <a:xfrm>
            <a:off x="4949279" y="3508872"/>
            <a:ext cx="40773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도장 5개가 모이면 1교시 성공!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/>
          <p:nvPr/>
        </p:nvSpPr>
        <p:spPr>
          <a:xfrm>
            <a:off x="496119" y="1104305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공사 전 점검 (1분) — 주방은 전용 공간에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7" name="Google Shape;227;p16"/>
          <p:cNvGraphicFramePr/>
          <p:nvPr/>
        </p:nvGraphicFramePr>
        <p:xfrm>
          <a:off x="496119" y="1754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2717750"/>
                <a:gridCol w="2717000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확인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어디서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필요한 값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💻 Windows 버전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시작 → 설정 → 시스템 → 정보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Windows 10/11 ·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64비트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💾 저장 공간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파일 탐색기 → 내 PC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3GB 이상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📁 작업 폴더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 드라이브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C:\dev 폴더 만들기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8" name="Google Shape;228;p16"/>
          <p:cNvSpPr/>
          <p:nvPr/>
        </p:nvSpPr>
        <p:spPr>
          <a:xfrm>
            <a:off x="496119" y="3344763"/>
            <a:ext cx="8151763" cy="694432"/>
          </a:xfrm>
          <a:prstGeom prst="roundRect">
            <a:avLst>
              <a:gd fmla="val 2679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524548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6"/>
          <p:cNvSpPr/>
          <p:nvPr/>
        </p:nvSpPr>
        <p:spPr>
          <a:xfrm>
            <a:off x="899071" y="3499693"/>
            <a:ext cx="7624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왜 C:\dev?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바탕화면·문서 폴더는 OneDrive 동기화나 한글 사용자 이름 때문에 오류가 잦아요. 주방은 현관 앞 복도(바탕화면)가 아니라 전용 공간에!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6" name="Google Shape;2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7"/>
          <p:cNvSpPr/>
          <p:nvPr/>
        </p:nvSpPr>
        <p:spPr>
          <a:xfrm>
            <a:off x="3925119" y="1446758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1️⃣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계단 —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Node.js: 왜 필요해?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925119" y="2158603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Node.js 없이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3925125" y="2481210"/>
            <a:ext cx="2210100" cy="14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JavaScript는 </a:t>
            </a: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 안에서만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돌아가요. 식당 안에서만 요리하는 것과 같아요. Next.js 개발 서버, npm, 빌드 도구를 쓸 수 없어요.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6353249" y="2034629"/>
            <a:ext cx="2388691" cy="1662113"/>
          </a:xfrm>
          <a:prstGeom prst="roundRect">
            <a:avLst>
              <a:gd fmla="val 111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6477223" y="2158603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Node.js 있으면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6477223" y="2481188"/>
            <a:ext cx="2140744" cy="11039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JavaScript가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💻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내 컴퓨터에서도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돌아가요! Next.js 개발 서버·npm·빌드 도구 모두 사용 가능해요.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🛵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npm = Node.js를 깔면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선물처럼 같이 따라오는 배달 앱!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Node.js 설치 순서 —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LTS를 고르세요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9" name="Google Shape;24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8"/>
          <p:cNvSpPr/>
          <p:nvPr/>
        </p:nvSpPr>
        <p:spPr>
          <a:xfrm>
            <a:off x="4678400" y="761549"/>
            <a:ext cx="187500" cy="218400"/>
          </a:xfrm>
          <a:prstGeom prst="roundRect">
            <a:avLst>
              <a:gd fmla="val 666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1" name="Google Shape;251;p18"/>
          <p:cNvSpPr/>
          <p:nvPr/>
        </p:nvSpPr>
        <p:spPr>
          <a:xfrm>
            <a:off x="4709654" y="779736"/>
            <a:ext cx="125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4921884" y="794893"/>
            <a:ext cx="3730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크롬 → </a:t>
            </a:r>
            <a:r>
              <a:rPr b="1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nodejs.org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4678400" y="1110150"/>
            <a:ext cx="187500" cy="218400"/>
          </a:xfrm>
          <a:prstGeom prst="roundRect">
            <a:avLst>
              <a:gd fmla="val 666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4" name="Google Shape;254;p18"/>
          <p:cNvSpPr/>
          <p:nvPr/>
        </p:nvSpPr>
        <p:spPr>
          <a:xfrm>
            <a:off x="4709654" y="1128338"/>
            <a:ext cx="125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4921884" y="1143496"/>
            <a:ext cx="3730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</a:t>
            </a:r>
            <a:r>
              <a:rPr b="1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LTS 버전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다운로드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4921884" y="1365734"/>
            <a:ext cx="37308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Windows Installer .msi 파일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4678400" y="1625821"/>
            <a:ext cx="187500" cy="218400"/>
          </a:xfrm>
          <a:prstGeom prst="roundRect">
            <a:avLst>
              <a:gd fmla="val 666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8" name="Google Shape;258;p18"/>
          <p:cNvSpPr/>
          <p:nvPr/>
        </p:nvSpPr>
        <p:spPr>
          <a:xfrm>
            <a:off x="4709654" y="1644009"/>
            <a:ext cx="125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4921884" y="1659166"/>
            <a:ext cx="3730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받은 파일 더블클릭 → Next → 동의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4921884" y="1875862"/>
            <a:ext cx="37308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위치·구성은 </a:t>
            </a:r>
            <a:r>
              <a:rPr b="1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그대로</a:t>
            </a: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두세요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4678400" y="2135948"/>
            <a:ext cx="187500" cy="218400"/>
          </a:xfrm>
          <a:prstGeom prst="roundRect">
            <a:avLst>
              <a:gd fmla="val 666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2" name="Google Shape;262;p18"/>
          <p:cNvSpPr/>
          <p:nvPr/>
        </p:nvSpPr>
        <p:spPr>
          <a:xfrm>
            <a:off x="4709654" y="2154136"/>
            <a:ext cx="125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/>
          <p:nvPr/>
        </p:nvSpPr>
        <p:spPr>
          <a:xfrm>
            <a:off x="4921884" y="2169294"/>
            <a:ext cx="37308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0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⚠️</a:t>
            </a: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"Tools for Native Modules" </a:t>
            </a:r>
            <a:r>
              <a:rPr b="1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체크 해제!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4921884" y="2391532"/>
            <a:ext cx="37308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8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체크하면 설치에 20분+가 걸려요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/>
          <p:nvPr/>
        </p:nvSpPr>
        <p:spPr>
          <a:xfrm>
            <a:off x="4678400" y="2651620"/>
            <a:ext cx="187500" cy="218400"/>
          </a:xfrm>
          <a:prstGeom prst="roundRect">
            <a:avLst>
              <a:gd fmla="val 666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6" name="Google Shape;266;p18"/>
          <p:cNvSpPr/>
          <p:nvPr/>
        </p:nvSpPr>
        <p:spPr>
          <a:xfrm>
            <a:off x="4709654" y="2669808"/>
            <a:ext cx="1251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8"/>
          <p:cNvSpPr/>
          <p:nvPr/>
        </p:nvSpPr>
        <p:spPr>
          <a:xfrm>
            <a:off x="4921884" y="2684964"/>
            <a:ext cx="37308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Install → 권한 창 "예" → Finish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/>
          <p:nvPr/>
        </p:nvSpPr>
        <p:spPr>
          <a:xfrm>
            <a:off x="4678400" y="3223801"/>
            <a:ext cx="3974100" cy="412500"/>
          </a:xfrm>
          <a:prstGeom prst="roundRect">
            <a:avLst>
              <a:gd fmla="val 492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756" y="3308630"/>
            <a:ext cx="104180" cy="83344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8"/>
          <p:cNvSpPr/>
          <p:nvPr/>
        </p:nvSpPr>
        <p:spPr>
          <a:xfrm>
            <a:off x="4949276" y="3295024"/>
            <a:ext cx="3240300" cy="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LTS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= Long Term Support </a:t>
            </a:r>
            <a:b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= 게임의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정식판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(Current = 베타판). 수업은 무조건 정식판!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9"/>
          <p:cNvSpPr/>
          <p:nvPr/>
        </p:nvSpPr>
        <p:spPr>
          <a:xfrm>
            <a:off x="496119" y="1176114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Node.js 확인하기 — 가스레인지에 불이 들어왔나?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9"/>
          <p:cNvSpPr/>
          <p:nvPr/>
        </p:nvSpPr>
        <p:spPr>
          <a:xfrm>
            <a:off x="496119" y="1825972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설치 후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열려 있던 창을 다 닫고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시작 → cmd → 명령 프롬프트를 열어요.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19"/>
          <p:cNvGraphicFramePr/>
          <p:nvPr/>
        </p:nvGraphicFramePr>
        <p:xfrm>
          <a:off x="496119" y="21639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1324150"/>
                <a:gridCol w="2751750"/>
                <a:gridCol w="1208700"/>
                <a:gridCol w="28672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명령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🍳 질문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성공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❌ 실패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Consolas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 -v</a:t>
                      </a:r>
                      <a:endParaRPr sz="11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🔥 가스레인지야, 몇 년형이니?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v22.○○.○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'node'은(는) 내부 또는 외부 명령…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Consolas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npm -v</a:t>
                      </a:r>
                      <a:endParaRPr sz="11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🛵 배달 앱아, 버전이 뭐니?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10.○.○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같은 오류 메시지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Consolas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npx -v</a:t>
                      </a:r>
                      <a:endParaRPr sz="11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🧑‍🍳 출장 요리사 호출기야, 있니?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10.○.○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같은 오류 메시지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9" name="Google Shape;279;p19"/>
          <p:cNvSpPr/>
          <p:nvPr/>
        </p:nvSpPr>
        <p:spPr>
          <a:xfrm>
            <a:off x="496119" y="4125749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숫자가 나오면 체크 카드에 버전을 적고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도장!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실패 메시지가 나오면 창을 모두 닫았다가 다시 열어 보세요.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Google Shape;28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0"/>
          <p:cNvSpPr/>
          <p:nvPr/>
        </p:nvSpPr>
        <p:spPr>
          <a:xfrm>
            <a:off x="3925119" y="1081608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npx는 또 뭐예요? —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🧑‍🍳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출장 요리사 호출기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3925119" y="218100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🛵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npm install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3925119" y="2503587"/>
            <a:ext cx="2210098" cy="711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재료(부품)를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주방에 영구 보관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해요. 냉장고에 계속 남아요.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예: </a:t>
            </a:r>
            <a:r>
              <a:rPr b="0" i="0" lang="ko-KR" sz="11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npm install react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353249" y="2057028"/>
            <a:ext cx="2388691" cy="1468413"/>
          </a:xfrm>
          <a:prstGeom prst="roundRect">
            <a:avLst>
              <a:gd fmla="val 126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0"/>
          <p:cNvSpPr/>
          <p:nvPr/>
        </p:nvSpPr>
        <p:spPr>
          <a:xfrm>
            <a:off x="6477223" y="218100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🧑‍🍳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npx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6477223" y="2503587"/>
            <a:ext cx="2140744" cy="910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요리사를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한 번만 불러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일을 맡겨요. 일이 끝나면 돌아가요.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예: </a:t>
            </a:r>
            <a:r>
              <a:rPr b="0" i="0" lang="ko-KR" sz="1150" u="none" cap="none" strike="noStrike">
                <a:solidFill>
                  <a:srgbClr val="FFFFFF"/>
                </a:solidFill>
                <a:highlight>
                  <a:srgbClr val="3F64C5"/>
                </a:highlight>
                <a:latin typeface="Consolas"/>
                <a:ea typeface="Consolas"/>
                <a:cs typeface="Consolas"/>
                <a:sym typeface="Consolas"/>
              </a:rPr>
              <a:t>npx create-next-app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(5계단에서 씁니다!)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3925119" y="3979867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npx는 5계단에서 Next.js 주방 기초 공사를 맡길 때 사용해요. 지금은 "있다"는 것만 확인하면 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2️⃣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계단 —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🔪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VS Code: 조리대 설치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1"/>
          <p:cNvSpPr/>
          <p:nvPr/>
        </p:nvSpPr>
        <p:spPr>
          <a:xfrm>
            <a:off x="4678412" y="748978"/>
            <a:ext cx="4431432" cy="11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코드는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파일 수십 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메모장으로 하나씩 열면 바닥에 재료를 늘어놓고 요리하는 것과 같아요.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4678400" y="1112345"/>
            <a:ext cx="166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4678400" y="1335521"/>
            <a:ext cx="1959000" cy="16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3" name="Google Shape;303;p21"/>
          <p:cNvSpPr/>
          <p:nvPr/>
        </p:nvSpPr>
        <p:spPr>
          <a:xfrm>
            <a:off x="4678400" y="1438061"/>
            <a:ext cx="19590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1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code.visualstudio.com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→ Download for Windows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1"/>
          <p:cNvSpPr/>
          <p:nvPr/>
        </p:nvSpPr>
        <p:spPr>
          <a:xfrm>
            <a:off x="6693473" y="1112345"/>
            <a:ext cx="166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1"/>
          <p:cNvSpPr/>
          <p:nvPr/>
        </p:nvSpPr>
        <p:spPr>
          <a:xfrm>
            <a:off x="6693473" y="1335521"/>
            <a:ext cx="1959300" cy="16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6" name="Google Shape;306;p21"/>
          <p:cNvSpPr/>
          <p:nvPr/>
        </p:nvSpPr>
        <p:spPr>
          <a:xfrm>
            <a:off x="6693473" y="1438061"/>
            <a:ext cx="19593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설치 파일 실행 → 동의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4678400" y="2077935"/>
            <a:ext cx="166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4678400" y="2272962"/>
            <a:ext cx="1959000" cy="16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09" name="Google Shape;309;p21"/>
          <p:cNvSpPr/>
          <p:nvPr/>
        </p:nvSpPr>
        <p:spPr>
          <a:xfrm>
            <a:off x="4678400" y="2403652"/>
            <a:ext cx="19590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추가 작업 체크 </a:t>
            </a:r>
            <a:r>
              <a:rPr b="1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4개 모두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켜기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4678400" y="2726101"/>
            <a:ext cx="1959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☑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바탕 화면 바로 가기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☑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파일 "Code로 열기"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☑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폴더 "Code로 열기"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☑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PATH에 추가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6693473" y="2077935"/>
            <a:ext cx="166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/>
          <p:nvPr/>
        </p:nvSpPr>
        <p:spPr>
          <a:xfrm>
            <a:off x="6693473" y="2272962"/>
            <a:ext cx="1959300" cy="16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13" name="Google Shape;313;p21"/>
          <p:cNvSpPr/>
          <p:nvPr/>
        </p:nvSpPr>
        <p:spPr>
          <a:xfrm>
            <a:off x="6693473" y="2403652"/>
            <a:ext cx="19593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설치 → 마침 → 실행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4678400" y="3302640"/>
            <a:ext cx="1668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678400" y="3469520"/>
            <a:ext cx="3974100" cy="16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316" name="Google Shape;316;p21"/>
          <p:cNvSpPr/>
          <p:nvPr/>
        </p:nvSpPr>
        <p:spPr>
          <a:xfrm>
            <a:off x="4678400" y="3628357"/>
            <a:ext cx="3974100" cy="2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1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🌏</a:t>
            </a: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한국어 언어 팩 알림 → 설치 → 다시 시작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2"/>
          <p:cNvSpPr/>
          <p:nvPr/>
        </p:nvSpPr>
        <p:spPr>
          <a:xfrm>
            <a:off x="496119" y="1296367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VS Code 주방 지도 — 다섯 구역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🗺️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496119" y="1946225"/>
            <a:ext cx="2634555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4" name="Google Shape;324;p22"/>
          <p:cNvSpPr/>
          <p:nvPr/>
        </p:nvSpPr>
        <p:spPr>
          <a:xfrm>
            <a:off x="620092" y="2070199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🧭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활동 막대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2"/>
          <p:cNvSpPr/>
          <p:nvPr/>
        </p:nvSpPr>
        <p:spPr>
          <a:xfrm>
            <a:off x="620092" y="2343224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왼쪽 끝 = 공구 벽걸이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2"/>
          <p:cNvSpPr/>
          <p:nvPr/>
        </p:nvSpPr>
        <p:spPr>
          <a:xfrm>
            <a:off x="3254648" y="1946225"/>
            <a:ext cx="2634630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7" name="Google Shape;327;p22"/>
          <p:cNvSpPr/>
          <p:nvPr/>
        </p:nvSpPr>
        <p:spPr>
          <a:xfrm>
            <a:off x="3378622" y="2070199"/>
            <a:ext cx="238668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탐색기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2"/>
          <p:cNvSpPr/>
          <p:nvPr/>
        </p:nvSpPr>
        <p:spPr>
          <a:xfrm>
            <a:off x="3378622" y="2343224"/>
            <a:ext cx="238668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Ctrl+Shift+E = 재료 선반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2"/>
          <p:cNvSpPr/>
          <p:nvPr/>
        </p:nvSpPr>
        <p:spPr>
          <a:xfrm>
            <a:off x="6013252" y="1946225"/>
            <a:ext cx="2634555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0" name="Google Shape;330;p22"/>
          <p:cNvSpPr/>
          <p:nvPr/>
        </p:nvSpPr>
        <p:spPr>
          <a:xfrm>
            <a:off x="6137225" y="2070199"/>
            <a:ext cx="238660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📝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편집기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6137225" y="2343224"/>
            <a:ext cx="238660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= 도마 위 (메인 작업 공간)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496119" y="2789634"/>
            <a:ext cx="4013820" cy="719435"/>
          </a:xfrm>
          <a:prstGeom prst="roundRect">
            <a:avLst>
              <a:gd fmla="val 258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3" name="Google Shape;333;p22"/>
          <p:cNvSpPr/>
          <p:nvPr/>
        </p:nvSpPr>
        <p:spPr>
          <a:xfrm>
            <a:off x="620092" y="2913608"/>
            <a:ext cx="37658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⌨️</a:t>
            </a:r>
            <a:r>
              <a:rPr b="0" i="0" lang="ko-KR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터미널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620092" y="3186633"/>
            <a:ext cx="376587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Ctrl+` =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가스레인지 스위치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4633913" y="2789634"/>
            <a:ext cx="4013895" cy="719435"/>
          </a:xfrm>
          <a:prstGeom prst="roundRect">
            <a:avLst>
              <a:gd fmla="val 2586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36" name="Google Shape;336;p22"/>
          <p:cNvSpPr/>
          <p:nvPr/>
        </p:nvSpPr>
        <p:spPr>
          <a:xfrm>
            <a:off x="4757886" y="2913608"/>
            <a:ext cx="37659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📊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상태 표시줄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4757886" y="3186633"/>
            <a:ext cx="376594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= 온도계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496119" y="3648596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터미널 단축키는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 Ctrl + 숫자 1 왼쪽 키(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`)예요. 오늘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가장 많이 누를 키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입니다!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추천 확장 +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VS Code 확인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🧩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5" name="Google Shape;3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23"/>
          <p:cNvGraphicFramePr/>
          <p:nvPr/>
        </p:nvGraphicFramePr>
        <p:xfrm>
          <a:off x="4678412" y="7615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2390500"/>
                <a:gridCol w="1793700"/>
              </a:tblGrid>
              <a:tr h="3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🧩 확장 (선택)</a:t>
                      </a:r>
                      <a:endParaRPr sz="110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하는 일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Korean Language Pack 🌏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메뉴를 한국어로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ES7+ React snippets ✂️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React 코드 틀 자동 입력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4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Tailwind CSS IntelliSense 🎨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디자인 글자 자동 완성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Markdown Preview Mermaid 🖼️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800"/>
                        <a:buFont typeface="Roboto"/>
                        <a:buNone/>
                      </a:pPr>
                      <a:r>
                        <a:rPr lang="ko-KR" sz="110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.md 안 도식을 그림으로</a:t>
                      </a:r>
                      <a:endParaRPr sz="110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83350" marL="833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7" name="Google Shape;347;p23"/>
          <p:cNvSpPr/>
          <p:nvPr/>
        </p:nvSpPr>
        <p:spPr>
          <a:xfrm>
            <a:off x="4688312" y="3116302"/>
            <a:ext cx="4431300" cy="1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확인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VS Code 터미널(Ctrl+`) → </a:t>
            </a:r>
            <a:r>
              <a:rPr b="0" i="0" lang="ko-KR" sz="10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code -v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숫자 3줄이 나오면 성공!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3"/>
          <p:cNvSpPr/>
          <p:nvPr/>
        </p:nvSpPr>
        <p:spPr>
          <a:xfrm>
            <a:off x="4594437" y="4145716"/>
            <a:ext cx="3974100" cy="253800"/>
          </a:xfrm>
          <a:prstGeom prst="roundRect">
            <a:avLst>
              <a:gd fmla="val 492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9" name="Google Shape;34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7781" y="4230548"/>
            <a:ext cx="104180" cy="83344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3"/>
          <p:cNvSpPr/>
          <p:nvPr/>
        </p:nvSpPr>
        <p:spPr>
          <a:xfrm>
            <a:off x="4865304" y="4216930"/>
            <a:ext cx="40773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💡</a:t>
            </a:r>
            <a:r>
              <a:rPr b="0" i="0" lang="ko-KR" sz="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이제부터 모든 명령은 VS Code 터미널에서!</a:t>
            </a:r>
            <a:r>
              <a:rPr b="0" i="0" lang="ko-KR" sz="6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가스레인지 스위치가 조리대에 달린 셈이에요.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6" name="Google Shape;35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24"/>
          <p:cNvSpPr/>
          <p:nvPr/>
        </p:nvSpPr>
        <p:spPr>
          <a:xfrm>
            <a:off x="3925119" y="1139800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3️⃣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계단 —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📒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Git: 레시피 일지 = 세이브 포인트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3925119" y="2239194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😱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일지 없이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3925119" y="2561779"/>
            <a:ext cx="221009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어제 맛있었던 라면, 오늘 뭘 바꿨더니 망했는데… 어제 방법이 기억이 안 나요!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6353249" y="2115220"/>
            <a:ext cx="2388691" cy="1352029"/>
          </a:xfrm>
          <a:prstGeom prst="roundRect">
            <a:avLst>
              <a:gd fmla="val 137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6477223" y="2239194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😎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일지(Git)가 있으면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6477223" y="2561779"/>
            <a:ext cx="2140744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📸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세이브 1: 기본 라면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📸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세이브 2: 계란 추가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📸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세이브 3: 파 추가 → 망함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⏪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세이브 2로 되돌리기!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4"/>
          <p:cNvSpPr/>
          <p:nvPr/>
        </p:nvSpPr>
        <p:spPr>
          <a:xfrm>
            <a:off x="3925119" y="3606775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🎮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게임의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세이브 포인트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처럼, 망치면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어제 버전으로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돌아갈 수 있어요. </a:t>
            </a:r>
            <a:b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Git은 요리할 때마다 무엇을 바꿨는지 사진과 메모를 남기는 레시피 일지예요.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5"/>
          <p:cNvSpPr/>
          <p:nvPr/>
        </p:nvSpPr>
        <p:spPr>
          <a:xfrm>
            <a:off x="496119" y="342677"/>
            <a:ext cx="8151763" cy="2664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50"/>
              <a:buFont typeface="Roboto Slab"/>
              <a:buNone/>
            </a:pPr>
            <a:r>
              <a:rPr b="0" i="0" lang="ko-KR" sz="16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Git 설치 — 화면 10개 중 딱 두 개만 바꿔요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0" name="Google Shape;3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2967"/>
            <a:ext cx="3971851" cy="3971851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5"/>
          <p:cNvSpPr/>
          <p:nvPr/>
        </p:nvSpPr>
        <p:spPr>
          <a:xfrm>
            <a:off x="4680800" y="762975"/>
            <a:ext cx="170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4680800" y="966982"/>
            <a:ext cx="3972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3" name="Google Shape;373;p25"/>
          <p:cNvSpPr/>
          <p:nvPr/>
        </p:nvSpPr>
        <p:spPr>
          <a:xfrm>
            <a:off x="4680800" y="1059950"/>
            <a:ext cx="42648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git-scm.com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→ Download for Windows → 64-bit Setup 실행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5"/>
          <p:cNvSpPr/>
          <p:nvPr/>
        </p:nvSpPr>
        <p:spPr>
          <a:xfrm>
            <a:off x="4680800" y="1445427"/>
            <a:ext cx="170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02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5"/>
          <p:cNvSpPr/>
          <p:nvPr/>
        </p:nvSpPr>
        <p:spPr>
          <a:xfrm>
            <a:off x="4680800" y="1623749"/>
            <a:ext cx="3972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6" name="Google Shape;376;p25"/>
          <p:cNvSpPr/>
          <p:nvPr/>
        </p:nvSpPr>
        <p:spPr>
          <a:xfrm>
            <a:off x="4680800" y="1742407"/>
            <a:ext cx="39720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화면이 10개 넘게 →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거의 전부 Next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5"/>
          <p:cNvSpPr/>
          <p:nvPr/>
        </p:nvSpPr>
        <p:spPr>
          <a:xfrm>
            <a:off x="4680800" y="2127878"/>
            <a:ext cx="170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03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5"/>
          <p:cNvSpPr/>
          <p:nvPr/>
        </p:nvSpPr>
        <p:spPr>
          <a:xfrm>
            <a:off x="4680800" y="2280518"/>
            <a:ext cx="3972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9" name="Google Shape;379;p25"/>
          <p:cNvSpPr/>
          <p:nvPr/>
        </p:nvSpPr>
        <p:spPr>
          <a:xfrm>
            <a:off x="4680800" y="2424850"/>
            <a:ext cx="44631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기본 편집기 →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"Use Visual Studio Code as Git's default editor"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5"/>
          <p:cNvSpPr/>
          <p:nvPr/>
        </p:nvSpPr>
        <p:spPr>
          <a:xfrm>
            <a:off x="4680800" y="2721168"/>
            <a:ext cx="39720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기본값(Vim)은 처음 쓰는 사람이 빠져나오기 어려워요 </a:t>
            </a:r>
            <a:r>
              <a:rPr b="0" i="0" lang="ko-KR" sz="10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😵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5"/>
          <p:cNvSpPr/>
          <p:nvPr/>
        </p:nvSpPr>
        <p:spPr>
          <a:xfrm>
            <a:off x="4680800" y="3184241"/>
            <a:ext cx="170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04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5"/>
          <p:cNvSpPr/>
          <p:nvPr/>
        </p:nvSpPr>
        <p:spPr>
          <a:xfrm>
            <a:off x="4680800" y="3311199"/>
            <a:ext cx="3972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3" name="Google Shape;383;p25"/>
          <p:cNvSpPr/>
          <p:nvPr/>
        </p:nvSpPr>
        <p:spPr>
          <a:xfrm>
            <a:off x="4680800" y="3376253"/>
            <a:ext cx="397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기본 브랜치 이름 → "Override …" → </a:t>
            </a:r>
            <a:r>
              <a:rPr b="1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5"/>
          <p:cNvSpPr/>
          <p:nvPr/>
        </p:nvSpPr>
        <p:spPr>
          <a:xfrm>
            <a:off x="4680800" y="3672561"/>
            <a:ext cx="3972000" cy="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GitHub·Vercel이 쓰는 이름과 맞춰요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5"/>
          <p:cNvSpPr/>
          <p:nvPr/>
        </p:nvSpPr>
        <p:spPr>
          <a:xfrm>
            <a:off x="4680800" y="4093649"/>
            <a:ext cx="170700" cy="1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05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5"/>
          <p:cNvSpPr/>
          <p:nvPr/>
        </p:nvSpPr>
        <p:spPr>
          <a:xfrm>
            <a:off x="4680800" y="4257903"/>
            <a:ext cx="3972000" cy="144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87" name="Google Shape;387;p25"/>
          <p:cNvSpPr/>
          <p:nvPr/>
        </p:nvSpPr>
        <p:spPr>
          <a:xfrm>
            <a:off x="4680800" y="4327648"/>
            <a:ext cx="39720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Install → Finish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6"/>
          <p:cNvSpPr/>
          <p:nvPr/>
        </p:nvSpPr>
        <p:spPr>
          <a:xfrm>
            <a:off x="496119" y="651718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Git 확인 +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📛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일지에 이름표 달기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496119" y="1301576"/>
            <a:ext cx="8151763" cy="541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 Code를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완전히 닫고 다시 열어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터미널에서: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git -v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git version 2.○○.○.windows.1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05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📛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이름표 달기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(선생님이 노트북마다 1회)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496119" y="1982316"/>
            <a:ext cx="8151763" cy="644872"/>
          </a:xfrm>
          <a:prstGeom prst="roundRect">
            <a:avLst>
              <a:gd fmla="val 2885" name="adj"/>
            </a:avLst>
          </a:prstGeom>
          <a:solidFill>
            <a:srgbClr val="EE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644947" y="2106290"/>
            <a:ext cx="785410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git config --global user.name "team-03"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4292E"/>
              </a:buClr>
              <a:buSzPts val="950"/>
              <a:buFont typeface="Consolas"/>
              <a:buNone/>
            </a:pPr>
            <a:r>
              <a:rPr b="0" i="0" lang="ko-KR" sz="950" u="none" cap="none" strike="noStrike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git config --global user.email "수업용계정@example.com"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7" name="Google Shape;397;p26"/>
          <p:cNvGraphicFramePr/>
          <p:nvPr/>
        </p:nvGraphicFramePr>
        <p:xfrm>
          <a:off x="496119" y="276671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2717750"/>
                <a:gridCol w="2717000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칸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넣을 값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❌ 넣지 않을 값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user.name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팀 이름 (team-03)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학생 실명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user.email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수업용 계정 이메일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학생·부모님 개인 이메일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26"/>
          <p:cNvSpPr/>
          <p:nvPr/>
        </p:nvSpPr>
        <p:spPr>
          <a:xfrm>
            <a:off x="496119" y="3995738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FCF2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9" name="Google Shape;3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17552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26"/>
          <p:cNvSpPr/>
          <p:nvPr/>
        </p:nvSpPr>
        <p:spPr>
          <a:xfrm>
            <a:off x="899071" y="4150668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🔒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기록은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영원히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남고, 공개 저장소면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누구나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볼 수 있어요. 개인정보 보호를 꼭 지켜주세요!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/>
          <p:nvPr/>
        </p:nvSpPr>
        <p:spPr>
          <a:xfrm>
            <a:off x="496119" y="1313483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4️⃣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계단 —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🏦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Git과 GitHub는 뭐가 달라?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07" name="Google Shape;407;p27"/>
          <p:cNvGraphicFramePr/>
          <p:nvPr/>
        </p:nvGraphicFramePr>
        <p:xfrm>
          <a:off x="496119" y="2040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941050"/>
                <a:gridCol w="1675475"/>
                <a:gridCol w="130807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📒 Git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🏦 GitHub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비유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서랍 속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일지 공책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은행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금고 서비스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어디에?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 컴퓨터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인터넷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7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만든 곳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리누스 토르발스 (2005)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GitHub </a:t>
                      </a:r>
                      <a:b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(2008 · 지금은 Microsoft)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8" name="Google Shape;408;p27"/>
          <p:cNvSpPr/>
          <p:nvPr/>
        </p:nvSpPr>
        <p:spPr>
          <a:xfrm>
            <a:off x="4638749" y="1901354"/>
            <a:ext cx="4103191" cy="1928589"/>
          </a:xfrm>
          <a:prstGeom prst="roundRect">
            <a:avLst>
              <a:gd fmla="val 965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7"/>
          <p:cNvSpPr/>
          <p:nvPr/>
        </p:nvSpPr>
        <p:spPr>
          <a:xfrm>
            <a:off x="4762723" y="2025328"/>
            <a:ext cx="3855244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금고(GitHub)가 있으면?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4762723" y="2343150"/>
            <a:ext cx="3855244" cy="682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REM"/>
              <a:buChar char="•"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💻</a:t>
            </a:r>
            <a:r>
              <a:rPr b="0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다른 컴퓨터에서도 꺼내 쓸 수 있어요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REM"/>
              <a:buChar char="•"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👥</a:t>
            </a:r>
            <a:r>
              <a:rPr b="0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팀원과 같은 레시피를 함께 봐요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2090" lvl="0" marL="19304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REM"/>
              <a:buChar char="•"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🚀</a:t>
            </a:r>
            <a:r>
              <a:rPr b="0" i="0" lang="ko-KR" sz="12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Vercel이 금고를 보고 자동으로 가게를 열어요!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8"/>
          <p:cNvSpPr/>
          <p:nvPr/>
        </p:nvSpPr>
        <p:spPr>
          <a:xfrm>
            <a:off x="496119" y="1062707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🏧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GitHub Desktop = 금고 ATM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17" name="Google Shape;417;p28"/>
          <p:cNvGraphicFramePr/>
          <p:nvPr/>
        </p:nvGraphicFramePr>
        <p:xfrm>
          <a:off x="496119" y="17125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4075875"/>
                <a:gridCol w="4075875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4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⌨️ 명령어 (창구 직원에게 말로)</a:t>
                      </a:r>
                      <a:endParaRPr sz="14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4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🏧 GitHub Desktop (ATM 버튼)</a:t>
                      </a:r>
                      <a:endParaRPr sz="14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Consolas"/>
                        <a:buNone/>
                      </a:pPr>
                      <a:r>
                        <a:rPr lang="ko-KR" sz="145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clone 주소</a:t>
                      </a:r>
                      <a:endParaRPr sz="14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4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Clone a repository</a:t>
                      </a:r>
                      <a:endParaRPr sz="14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Consolas"/>
                        <a:buNone/>
                      </a:pPr>
                      <a:r>
                        <a:rPr lang="ko-KR" sz="145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add .</a:t>
                      </a:r>
                      <a:endParaRPr sz="14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4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☑ 바뀐 파일 체크</a:t>
                      </a:r>
                      <a:endParaRPr sz="14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6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Consolas"/>
                        <a:buNone/>
                      </a:pPr>
                      <a:r>
                        <a:rPr lang="ko-KR" sz="145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commit -m "…"</a:t>
                      </a:r>
                      <a:endParaRPr sz="14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4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Summary 쓰고 Commit to main</a:t>
                      </a:r>
                      <a:endParaRPr sz="14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Consolas"/>
                        <a:buNone/>
                      </a:pPr>
                      <a:r>
                        <a:rPr lang="ko-KR" sz="1450" u="none" cap="none" strike="noStrike">
                          <a:solidFill>
                            <a:srgbClr val="15213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push</a:t>
                      </a:r>
                      <a:endParaRPr sz="14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4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Push origin 버튼</a:t>
                      </a:r>
                      <a:endParaRPr sz="14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18" name="Google Shape;418;p28"/>
          <p:cNvSpPr/>
          <p:nvPr/>
        </p:nvSpPr>
        <p:spPr>
          <a:xfrm>
            <a:off x="496119" y="3683794"/>
            <a:ext cx="8151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하는 일은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똑같아요.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속에서는 Git이 일하고, 우리는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화면만 보고 누르면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됩니다.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명령어는 영어 주문을 외워서 외치는 것과 같아요. 처음엔 ATM 버튼으로 시작해요!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9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GitHub Desktop 설치 + 로그인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5" name="Google Shape;42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29"/>
          <p:cNvSpPr/>
          <p:nvPr/>
        </p:nvSpPr>
        <p:spPr>
          <a:xfrm>
            <a:off x="4678400" y="761550"/>
            <a:ext cx="166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4678400" y="941472"/>
            <a:ext cx="3974100" cy="13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28" name="Google Shape;428;p29"/>
          <p:cNvSpPr/>
          <p:nvPr/>
        </p:nvSpPr>
        <p:spPr>
          <a:xfrm>
            <a:off x="4678400" y="1024139"/>
            <a:ext cx="3974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desktop.github.com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→ Download for Windows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9"/>
          <p:cNvSpPr/>
          <p:nvPr/>
        </p:nvSpPr>
        <p:spPr>
          <a:xfrm>
            <a:off x="4678400" y="1362709"/>
            <a:ext cx="166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9"/>
          <p:cNvSpPr/>
          <p:nvPr/>
        </p:nvSpPr>
        <p:spPr>
          <a:xfrm>
            <a:off x="4678400" y="1519938"/>
            <a:ext cx="3974100" cy="13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1" name="Google Shape;431;p29"/>
          <p:cNvSpPr/>
          <p:nvPr/>
        </p:nvSpPr>
        <p:spPr>
          <a:xfrm>
            <a:off x="4678400" y="1625298"/>
            <a:ext cx="3974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실행 → </a:t>
            </a: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자동 설치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(Next 버튼 없음)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4678400" y="1963869"/>
            <a:ext cx="166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9"/>
          <p:cNvSpPr/>
          <p:nvPr/>
        </p:nvSpPr>
        <p:spPr>
          <a:xfrm>
            <a:off x="4678400" y="2098404"/>
            <a:ext cx="3974100" cy="13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4" name="Google Shape;434;p29"/>
          <p:cNvSpPr/>
          <p:nvPr/>
        </p:nvSpPr>
        <p:spPr>
          <a:xfrm>
            <a:off x="4678400" y="2226458"/>
            <a:ext cx="39741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🔑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Sign in to GitHub.com → 브라우저 열림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9"/>
          <p:cNvSpPr/>
          <p:nvPr/>
        </p:nvSpPr>
        <p:spPr>
          <a:xfrm>
            <a:off x="4678400" y="2486412"/>
            <a:ext cx="3974100" cy="1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선생님이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수업용 계정으로 직접 승인합니다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9"/>
          <p:cNvSpPr/>
          <p:nvPr/>
        </p:nvSpPr>
        <p:spPr>
          <a:xfrm>
            <a:off x="4678400" y="2767959"/>
            <a:ext cx="2994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04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9"/>
          <p:cNvSpPr/>
          <p:nvPr/>
        </p:nvSpPr>
        <p:spPr>
          <a:xfrm>
            <a:off x="4678400" y="2911297"/>
            <a:ext cx="3974100" cy="13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38" name="Google Shape;438;p29"/>
          <p:cNvSpPr/>
          <p:nvPr/>
        </p:nvSpPr>
        <p:spPr>
          <a:xfrm>
            <a:off x="4678400" y="3062042"/>
            <a:ext cx="3974100" cy="1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Configure Git → Name: team-03 · Email: 수업용 이메일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9"/>
          <p:cNvSpPr/>
          <p:nvPr/>
        </p:nvSpPr>
        <p:spPr>
          <a:xfrm>
            <a:off x="4678400" y="3369122"/>
            <a:ext cx="166800" cy="14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05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9"/>
          <p:cNvSpPr/>
          <p:nvPr/>
        </p:nvSpPr>
        <p:spPr>
          <a:xfrm>
            <a:off x="4678400" y="3489763"/>
            <a:ext cx="3974100" cy="132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441" name="Google Shape;441;p29"/>
          <p:cNvSpPr/>
          <p:nvPr/>
        </p:nvSpPr>
        <p:spPr>
          <a:xfrm>
            <a:off x="4678400" y="3663202"/>
            <a:ext cx="3974100" cy="1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Finish → </a:t>
            </a:r>
            <a:r>
              <a:rPr b="1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"Let's get started!"</a:t>
            </a:r>
            <a:r>
              <a:rPr b="0" i="0" lang="ko-KR" sz="13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화면 </a:t>
            </a: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9"/>
          <p:cNvSpPr/>
          <p:nvPr/>
        </p:nvSpPr>
        <p:spPr>
          <a:xfrm>
            <a:off x="4678400" y="4026025"/>
            <a:ext cx="4264800" cy="270000"/>
          </a:xfrm>
          <a:prstGeom prst="roundRect">
            <a:avLst>
              <a:gd fmla="val 4924" name="adj"/>
            </a:avLst>
          </a:prstGeom>
          <a:solidFill>
            <a:srgbClr val="FFB3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3" name="Google Shape;44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756" y="4110858"/>
            <a:ext cx="104180" cy="8334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29"/>
          <p:cNvSpPr/>
          <p:nvPr/>
        </p:nvSpPr>
        <p:spPr>
          <a:xfrm>
            <a:off x="4865929" y="4101784"/>
            <a:ext cx="40773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8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🔒</a:t>
            </a: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약속</a:t>
            </a: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GitHub 비밀번호·인증 코드는 </a:t>
            </a:r>
            <a:r>
              <a:rPr b="1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학생이 입력하지 않아요.</a:t>
            </a:r>
            <a:r>
              <a:rPr b="0" i="0" lang="ko-KR" sz="8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선생님이 직접 승인합니다.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0"/>
          <p:cNvSpPr/>
          <p:nvPr/>
        </p:nvSpPr>
        <p:spPr>
          <a:xfrm>
            <a:off x="496119" y="1267792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VS Code와 짝 맺기 +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🏧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ATM 화면 지도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496119" y="1917650"/>
            <a:ext cx="8608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🔗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짝 맺기 (30초)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File → Options → Integrations → External Editor: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Visual Studio Code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Shell: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Command Prompt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496119" y="2255639"/>
            <a:ext cx="2634555" cy="748010"/>
          </a:xfrm>
          <a:prstGeom prst="roundRect">
            <a:avLst>
              <a:gd fmla="val 2488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3" name="Google Shape;453;p30"/>
          <p:cNvSpPr/>
          <p:nvPr/>
        </p:nvSpPr>
        <p:spPr>
          <a:xfrm>
            <a:off x="634380" y="2393900"/>
            <a:ext cx="235803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📁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Current repository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0"/>
          <p:cNvSpPr/>
          <p:nvPr/>
        </p:nvSpPr>
        <p:spPr>
          <a:xfrm>
            <a:off x="634380" y="2666926"/>
            <a:ext cx="235803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왼쪽 위 = 어느 금고 칸?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3254648" y="2255639"/>
            <a:ext cx="2634630" cy="748010"/>
          </a:xfrm>
          <a:prstGeom prst="roundRect">
            <a:avLst>
              <a:gd fmla="val 2488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6" name="Google Shape;456;p30"/>
          <p:cNvSpPr/>
          <p:nvPr/>
        </p:nvSpPr>
        <p:spPr>
          <a:xfrm>
            <a:off x="3392909" y="2393900"/>
            <a:ext cx="235810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🌳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Current branch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0"/>
          <p:cNvSpPr/>
          <p:nvPr/>
        </p:nvSpPr>
        <p:spPr>
          <a:xfrm>
            <a:off x="3392909" y="2666926"/>
            <a:ext cx="235810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가운데 위 = main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6013252" y="2255639"/>
            <a:ext cx="2634555" cy="748010"/>
          </a:xfrm>
          <a:prstGeom prst="roundRect">
            <a:avLst>
              <a:gd fmla="val 2488" name="adj"/>
            </a:avLst>
          </a:prstGeom>
          <a:solidFill>
            <a:srgbClr val="FBFCFE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59" name="Google Shape;459;p30"/>
          <p:cNvSpPr/>
          <p:nvPr/>
        </p:nvSpPr>
        <p:spPr>
          <a:xfrm>
            <a:off x="6151513" y="2393900"/>
            <a:ext cx="235803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🔄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Fetch / Push origin </a:t>
            </a: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6151513" y="2666926"/>
            <a:ext cx="235803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오른쪽 위 = 입금·조회 버튼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0"/>
          <p:cNvSpPr/>
          <p:nvPr/>
        </p:nvSpPr>
        <p:spPr>
          <a:xfrm>
            <a:off x="496119" y="3127623"/>
            <a:ext cx="4013820" cy="748010"/>
          </a:xfrm>
          <a:prstGeom prst="roundRect">
            <a:avLst>
              <a:gd fmla="val 2488" name="adj"/>
            </a:avLst>
          </a:prstGeom>
          <a:solidFill>
            <a:srgbClr val="FBFCFE"/>
          </a:solidFill>
          <a:ln cap="flat" cmpd="sng" w="14275">
            <a:solidFill>
              <a:srgbClr val="CF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2" name="Google Shape;462;p30"/>
          <p:cNvSpPr/>
          <p:nvPr/>
        </p:nvSpPr>
        <p:spPr>
          <a:xfrm>
            <a:off x="634380" y="3265884"/>
            <a:ext cx="373729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Changes · History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/>
          <p:nvPr/>
        </p:nvSpPr>
        <p:spPr>
          <a:xfrm>
            <a:off x="634380" y="3538910"/>
            <a:ext cx="373729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왼쪽 아래 = 오늘/지난 거래 내역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4633913" y="3127623"/>
            <a:ext cx="4013895" cy="748010"/>
          </a:xfrm>
          <a:prstGeom prst="roundRect">
            <a:avLst>
              <a:gd fmla="val 2488" name="adj"/>
            </a:avLst>
          </a:prstGeom>
          <a:solidFill>
            <a:srgbClr val="FBFCFE"/>
          </a:solidFill>
          <a:ln cap="flat" cmpd="sng" w="14275">
            <a:solidFill>
              <a:srgbClr val="3257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465" name="Google Shape;465;p30"/>
          <p:cNvSpPr/>
          <p:nvPr/>
        </p:nvSpPr>
        <p:spPr>
          <a:xfrm>
            <a:off x="4772174" y="3265884"/>
            <a:ext cx="3737372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📝</a:t>
            </a: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Summary + Commit to main </a:t>
            </a:r>
            <a:r>
              <a:rPr b="0" i="0" lang="ko-KR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0"/>
          <p:cNvSpPr/>
          <p:nvPr/>
        </p:nvSpPr>
        <p:spPr>
          <a:xfrm>
            <a:off x="4772174" y="3538910"/>
            <a:ext cx="3737372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왼쪽 맨 아래 = 세이브 포인트 찍기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2" name="Google Shape;47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31"/>
          <p:cNvSpPr/>
          <p:nvPr/>
        </p:nvSpPr>
        <p:spPr>
          <a:xfrm>
            <a:off x="496119" y="795858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5️⃣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계단 —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🍳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드디어 첫 요리! 무슨 일이 일어날까?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4" name="Google Shape;47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771278"/>
            <a:ext cx="4722763" cy="2039913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31"/>
          <p:cNvSpPr/>
          <p:nvPr/>
        </p:nvSpPr>
        <p:spPr>
          <a:xfrm>
            <a:off x="1623126" y="3255171"/>
            <a:ext cx="701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npx 질문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1"/>
          <p:cNvSpPr/>
          <p:nvPr/>
        </p:nvSpPr>
        <p:spPr>
          <a:xfrm>
            <a:off x="1623126" y="3450704"/>
            <a:ext cx="7011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옵션은 Enter로 답변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1"/>
          <p:cNvSpPr/>
          <p:nvPr/>
        </p:nvSpPr>
        <p:spPr>
          <a:xfrm>
            <a:off x="3423694" y="3215980"/>
            <a:ext cx="701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주방 완성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1"/>
          <p:cNvSpPr/>
          <p:nvPr/>
        </p:nvSpPr>
        <p:spPr>
          <a:xfrm>
            <a:off x="3423694" y="3422011"/>
            <a:ext cx="701226" cy="204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기본 Next.js 템플릿 준비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1"/>
          <p:cNvSpPr/>
          <p:nvPr/>
        </p:nvSpPr>
        <p:spPr>
          <a:xfrm>
            <a:off x="725077" y="1955347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터미널 실행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1"/>
          <p:cNvSpPr/>
          <p:nvPr/>
        </p:nvSpPr>
        <p:spPr>
          <a:xfrm>
            <a:off x="725077" y="2119389"/>
            <a:ext cx="701226" cy="204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나(터미널)에서 명령 시작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1"/>
          <p:cNvSpPr/>
          <p:nvPr/>
        </p:nvSpPr>
        <p:spPr>
          <a:xfrm>
            <a:off x="4294994" y="1955347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서버 실행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1"/>
          <p:cNvSpPr/>
          <p:nvPr/>
        </p:nvSpPr>
        <p:spPr>
          <a:xfrm>
            <a:off x="4294994" y="2119389"/>
            <a:ext cx="701226" cy="306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npm run dev → localhost:3000 완료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1"/>
          <p:cNvSpPr/>
          <p:nvPr/>
        </p:nvSpPr>
        <p:spPr>
          <a:xfrm>
            <a:off x="2534585" y="1955347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0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패키지 설치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1"/>
          <p:cNvSpPr/>
          <p:nvPr/>
        </p:nvSpPr>
        <p:spPr>
          <a:xfrm>
            <a:off x="2534585" y="2119389"/>
            <a:ext cx="701226" cy="306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npm 창고에서 node_modules 전달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1"/>
          <p:cNvSpPr/>
          <p:nvPr/>
        </p:nvSpPr>
        <p:spPr>
          <a:xfrm>
            <a:off x="496119" y="3950717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출장 요리사(npx)를 불러서 Next.js 주방 기초 공사를 맡기고, </a:t>
            </a:r>
            <a:b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가스레인지를 켜서</a:t>
            </a:r>
            <a:r>
              <a:rPr b="0" i="0" lang="ko-KR" sz="13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(npm run dev</a:t>
            </a: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) 맛을 봐요!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600"/>
              <a:buFont typeface="Roboto Slab"/>
              <a:buNone/>
            </a:pP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따라 치기 — 한 줄씩 Enter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⌨️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2" name="Google Shape;4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2"/>
          <p:cNvSpPr/>
          <p:nvPr/>
        </p:nvSpPr>
        <p:spPr>
          <a:xfrm>
            <a:off x="4678400" y="761550"/>
            <a:ext cx="166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2"/>
          <p:cNvSpPr/>
          <p:nvPr/>
        </p:nvSpPr>
        <p:spPr>
          <a:xfrm>
            <a:off x="4678400" y="976217"/>
            <a:ext cx="1287300" cy="153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95" name="Google Shape;495;p32"/>
          <p:cNvSpPr/>
          <p:nvPr/>
        </p:nvSpPr>
        <p:spPr>
          <a:xfrm>
            <a:off x="4678400" y="1074848"/>
            <a:ext cx="1287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작업 폴더로 이동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2"/>
          <p:cNvSpPr/>
          <p:nvPr/>
        </p:nvSpPr>
        <p:spPr>
          <a:xfrm>
            <a:off x="4678400" y="1377269"/>
            <a:ext cx="1287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cd C:\dev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2"/>
          <p:cNvSpPr/>
          <p:nvPr/>
        </p:nvSpPr>
        <p:spPr>
          <a:xfrm>
            <a:off x="6021805" y="761550"/>
            <a:ext cx="166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2"/>
          <p:cNvSpPr/>
          <p:nvPr/>
        </p:nvSpPr>
        <p:spPr>
          <a:xfrm>
            <a:off x="6021805" y="976217"/>
            <a:ext cx="1287300" cy="153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99" name="Google Shape;499;p32"/>
          <p:cNvSpPr/>
          <p:nvPr/>
        </p:nvSpPr>
        <p:spPr>
          <a:xfrm>
            <a:off x="6021805" y="1074848"/>
            <a:ext cx="1287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출장 요리사 부르기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6021805" y="1377269"/>
            <a:ext cx="12873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npx create-next-app@latest hello-next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(질문은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그냥 Enter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7365211" y="761550"/>
            <a:ext cx="166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7365211" y="976217"/>
            <a:ext cx="1287300" cy="153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03" name="Google Shape;503;p32"/>
          <p:cNvSpPr/>
          <p:nvPr/>
        </p:nvSpPr>
        <p:spPr>
          <a:xfrm>
            <a:off x="7365211" y="1074848"/>
            <a:ext cx="1287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만든 주방으로 들어가기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7365211" y="1377269"/>
            <a:ext cx="1287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cd hello-next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4678400" y="2128363"/>
            <a:ext cx="166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4678400" y="2315955"/>
            <a:ext cx="1959000" cy="153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07" name="Google Shape;507;p32"/>
          <p:cNvSpPr/>
          <p:nvPr/>
        </p:nvSpPr>
        <p:spPr>
          <a:xfrm>
            <a:off x="4678400" y="2441662"/>
            <a:ext cx="19590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조리대에 올리기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4678400" y="2744082"/>
            <a:ext cx="19590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code 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6693472" y="2128363"/>
            <a:ext cx="166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05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6693472" y="2315955"/>
            <a:ext cx="1959300" cy="15300"/>
          </a:xfrm>
          <a:prstGeom prst="rect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511" name="Google Shape;511;p32"/>
          <p:cNvSpPr/>
          <p:nvPr/>
        </p:nvSpPr>
        <p:spPr>
          <a:xfrm>
            <a:off x="6693472" y="2441662"/>
            <a:ext cx="19593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새 VS Code 창 터미널에서 불 켜기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6693472" y="2744082"/>
            <a:ext cx="1959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Consolas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npm run dev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4678400" y="3170181"/>
            <a:ext cx="3974100" cy="423900"/>
          </a:xfrm>
          <a:prstGeom prst="roundRect">
            <a:avLst>
              <a:gd fmla="val 492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4" name="Google Shape;51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756" y="3254998"/>
            <a:ext cx="104180" cy="83344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32"/>
          <p:cNvSpPr/>
          <p:nvPr/>
        </p:nvSpPr>
        <p:spPr>
          <a:xfrm>
            <a:off x="4907291" y="3264221"/>
            <a:ext cx="40773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oboto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↑ 키로 방금 쓴 명령을 다시 불러올 수 있어요!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3"/>
          <p:cNvSpPr/>
          <p:nvPr/>
        </p:nvSpPr>
        <p:spPr>
          <a:xfrm>
            <a:off x="496119" y="661169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create-next-app 질문 — 모르면 Enter가 정답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⌨️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22" name="Google Shape;522;p33"/>
          <p:cNvGraphicFramePr/>
          <p:nvPr/>
        </p:nvGraphicFramePr>
        <p:xfrm>
          <a:off x="496119" y="13110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2717750"/>
                <a:gridCol w="2717000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질문 (영어로 나와요)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뜻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오늘 답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Need to install create-next-app?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출장 요리사 불러도 돼?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Use the recommended defaults?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추천 설정으로 할래?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TypeScript?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철자 검사기 달린 JS?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Tailwind CSS?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양념(디자인) 세트?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 ⭐ v0와 같아요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App Router?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새 방식 길 안내?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Yes ⭐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src/ · import alias?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서랍·별명 바꾸기?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23" name="Google Shape;523;p33"/>
          <p:cNvSpPr/>
          <p:nvPr/>
        </p:nvSpPr>
        <p:spPr>
          <a:xfrm>
            <a:off x="496125" y="3986347"/>
            <a:ext cx="8151900" cy="63660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4" name="Google Shape;52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4166146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33"/>
          <p:cNvSpPr/>
          <p:nvPr/>
        </p:nvSpPr>
        <p:spPr>
          <a:xfrm>
            <a:off x="899071" y="4141291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💡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버전마다 질문 순서·개수가 달라요.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모르면 Enter!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Tailwind와 App Router는 v0가 쓰는 것과 같아서 2교시에 v0 코드를 그대로 붙일 수 있어요.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31" name="Google Shape;5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2" name="Google Shape;532;p34"/>
          <p:cNvSpPr/>
          <p:nvPr/>
        </p:nvSpPr>
        <p:spPr>
          <a:xfrm>
            <a:off x="3925119" y="846237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🎉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localhost:3000 — 첫 요리 성공!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3" name="Google Shape;53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434108"/>
            <a:ext cx="4722763" cy="1709663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34"/>
          <p:cNvSpPr/>
          <p:nvPr/>
        </p:nvSpPr>
        <p:spPr>
          <a:xfrm>
            <a:off x="4271789" y="2726442"/>
            <a:ext cx="1183108" cy="147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Next.js 기본 페이지 🎉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4"/>
          <p:cNvSpPr/>
          <p:nvPr/>
        </p:nvSpPr>
        <p:spPr>
          <a:xfrm>
            <a:off x="4271789" y="2211133"/>
            <a:ext cx="1183108" cy="147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Ctrl+클릭으로 열기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4"/>
          <p:cNvSpPr/>
          <p:nvPr/>
        </p:nvSpPr>
        <p:spPr>
          <a:xfrm>
            <a:off x="4271789" y="1690565"/>
            <a:ext cx="1183108" cy="1478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Slab"/>
              <a:buNone/>
            </a:pPr>
            <a:r>
              <a:rPr b="0" i="0" lang="ko-KR" sz="9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터미널에 ✓ Ready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4"/>
          <p:cNvSpPr/>
          <p:nvPr/>
        </p:nvSpPr>
        <p:spPr>
          <a:xfrm>
            <a:off x="4111154" y="3422824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2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🍲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localhost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주방에서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나만 맛보는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주소예요. 아직 손님은 못 봐요. 2교시에 GitHub+Vercel을 연결하면 진짜 가게가 열립니다!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4"/>
          <p:cNvSpPr/>
          <p:nvPr/>
        </p:nvSpPr>
        <p:spPr>
          <a:xfrm>
            <a:off x="3925119" y="3283297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4"/>
          <p:cNvSpPr/>
          <p:nvPr/>
        </p:nvSpPr>
        <p:spPr>
          <a:xfrm>
            <a:off x="3925119" y="4098801"/>
            <a:ext cx="5179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3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첫 화면이 뜨면 팀 모두 박수! 체크 카드 5번째 도장을 찍어요 </a:t>
            </a:r>
            <a:r>
              <a:rPr b="0" i="0" lang="ko-KR" sz="13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🏆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5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🍳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맛 바꿔 보기 — 내 손으로 한 글자 (1분)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46" name="Google Shape;54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47" name="Google Shape;54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8412" y="761554"/>
            <a:ext cx="3974232" cy="1788393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5"/>
          <p:cNvSpPr/>
          <p:nvPr/>
        </p:nvSpPr>
        <p:spPr>
          <a:xfrm>
            <a:off x="5277063" y="875370"/>
            <a:ext cx="6954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파일 열기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5"/>
          <p:cNvSpPr/>
          <p:nvPr/>
        </p:nvSpPr>
        <p:spPr>
          <a:xfrm>
            <a:off x="5277063" y="1013416"/>
            <a:ext cx="695400" cy="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app/page.tsx를 엽니다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5964907" y="2180780"/>
            <a:ext cx="6993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문장 수정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5964907" y="2318826"/>
            <a:ext cx="6993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영어 문장을 한국어로 바꿉니다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6645108" y="861995"/>
            <a:ext cx="6954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저장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6645108" y="1000042"/>
            <a:ext cx="695400" cy="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Ctrl+S로 변경사항 저장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7332951" y="2180780"/>
            <a:ext cx="695400" cy="1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 Slab"/>
              <a:buNone/>
            </a:pPr>
            <a:r>
              <a:rPr b="1" i="0" lang="ko-KR" sz="9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핫 리로드</a:t>
            </a:r>
            <a:endParaRPr b="1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5"/>
          <p:cNvSpPr/>
          <p:nvPr/>
        </p:nvSpPr>
        <p:spPr>
          <a:xfrm>
            <a:off x="7332951" y="2318826"/>
            <a:ext cx="695400" cy="1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500"/>
              <a:buFont typeface="Roboto"/>
              <a:buNone/>
            </a:pPr>
            <a:r>
              <a:rPr b="0" i="0" lang="ko-KR" sz="8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크롬이 자동으로 업데이트됨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5"/>
          <p:cNvSpPr/>
          <p:nvPr/>
        </p:nvSpPr>
        <p:spPr>
          <a:xfrm>
            <a:off x="4678400" y="2980303"/>
            <a:ext cx="39741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⚡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핫 리로드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국에 소금 넣고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바로 한 숟갈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맛보기. </a:t>
            </a:r>
            <a:b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오븐에 다시 넣고 기다릴 필요가 없어요. 저장하는 순간 바로 바뀌어요!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5"/>
          <p:cNvSpPr/>
          <p:nvPr/>
        </p:nvSpPr>
        <p:spPr>
          <a:xfrm>
            <a:off x="4678400" y="3381645"/>
            <a:ext cx="3974100" cy="390900"/>
          </a:xfrm>
          <a:prstGeom prst="roundRect">
            <a:avLst>
              <a:gd fmla="val 4924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8" name="Google Shape;55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1756" y="3466491"/>
            <a:ext cx="104180" cy="83344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5"/>
          <p:cNvSpPr/>
          <p:nvPr/>
        </p:nvSpPr>
        <p:spPr>
          <a:xfrm>
            <a:off x="4949279" y="3452873"/>
            <a:ext cx="40773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🛑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끄는 법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— 터미널에서 Ctrl + C → Y =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가스 불 끄기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6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첫 주방 둘러보기 — 무엇이 생겼나?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66" name="Google Shape;56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567" name="Google Shape;56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8887" y="752029"/>
            <a:ext cx="3983757" cy="321469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36"/>
          <p:cNvSpPr/>
          <p:nvPr/>
        </p:nvSpPr>
        <p:spPr>
          <a:xfrm>
            <a:off x="4780806" y="761554"/>
            <a:ext cx="387183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app/ </a:t>
            </a: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🚪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방(페이지)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4780806" y="952500"/>
            <a:ext cx="3871838" cy="11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page.tsx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= 정문 (첫 화면) </a:t>
            </a:r>
            <a:r>
              <a:rPr b="0" i="0" lang="ko-KR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✏️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· layout.tsx = 건물 뼈대 · globals.css = 기본 양념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0" name="Google Shape;57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8887" y="1166440"/>
            <a:ext cx="3983757" cy="1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36"/>
          <p:cNvSpPr/>
          <p:nvPr/>
        </p:nvSpPr>
        <p:spPr>
          <a:xfrm>
            <a:off x="4780806" y="1175965"/>
            <a:ext cx="387183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public/ </a:t>
            </a: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🖼️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사진 창고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2" name="Google Shape;57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8887" y="1413421"/>
            <a:ext cx="3983757" cy="321469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36"/>
          <p:cNvSpPr/>
          <p:nvPr/>
        </p:nvSpPr>
        <p:spPr>
          <a:xfrm>
            <a:off x="4780806" y="1422946"/>
            <a:ext cx="387183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📂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node_modules/ </a:t>
            </a: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🛵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배달 온 재료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4780806" y="1613892"/>
            <a:ext cx="3871838" cy="11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절대 건드리지 않기!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5" name="Google Shape;57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8887" y="1827833"/>
            <a:ext cx="3983757" cy="1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36"/>
          <p:cNvSpPr/>
          <p:nvPr/>
        </p:nvSpPr>
        <p:spPr>
          <a:xfrm>
            <a:off x="4780806" y="1837358"/>
            <a:ext cx="387183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package.json </a:t>
            </a: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재료 주문서 + 요리 버튼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7" name="Google Shape;577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8887" y="2074813"/>
            <a:ext cx="3983757" cy="154037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6"/>
          <p:cNvSpPr/>
          <p:nvPr/>
        </p:nvSpPr>
        <p:spPr>
          <a:xfrm>
            <a:off x="4780806" y="2084338"/>
            <a:ext cx="3871838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.gitignore </a:t>
            </a: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🙈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일지에 안 적을 목록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36"/>
          <p:cNvSpPr/>
          <p:nvPr/>
        </p:nvSpPr>
        <p:spPr>
          <a:xfrm>
            <a:off x="4668887" y="2838629"/>
            <a:ext cx="44313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직접 고친 건 </a:t>
            </a: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page.tsx 하나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나머지는 "아, 이런 게 있구나"만 보면 됩니다.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5" name="Google Shape;58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7"/>
          <p:cNvSpPr/>
          <p:nvPr/>
        </p:nvSpPr>
        <p:spPr>
          <a:xfrm>
            <a:off x="3925119" y="1094705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❓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node_modules는 왜 일지(Git)에 안 적어요?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7"/>
          <p:cNvSpPr/>
          <p:nvPr/>
        </p:nvSpPr>
        <p:spPr>
          <a:xfrm>
            <a:off x="3925119" y="2194099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📋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package.json (주문서)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7"/>
          <p:cNvSpPr/>
          <p:nvPr/>
        </p:nvSpPr>
        <p:spPr>
          <a:xfrm>
            <a:off x="3925119" y="2516684"/>
            <a:ext cx="2210098" cy="604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"밀가루 200g"이라고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적어 둔 종이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가볍고, Git에 기록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이것만 있으면 → </a:t>
            </a:r>
            <a:r>
              <a:rPr b="0" i="0" lang="ko-KR" sz="950" u="none" cap="none" strike="noStrike">
                <a:solidFill>
                  <a:srgbClr val="15213F"/>
                </a:solidFill>
                <a:highlight>
                  <a:srgbClr val="EEEFF1"/>
                </a:highlight>
                <a:latin typeface="Consolas"/>
                <a:ea typeface="Consolas"/>
                <a:cs typeface="Consolas"/>
                <a:sym typeface="Consolas"/>
              </a:rPr>
              <a:t>npm install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→ 언제든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다시 배달!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6442546" y="2194099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📦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node_modules (재료 창고)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6442546" y="2516684"/>
            <a:ext cx="221009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진짜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밀가루 포대 수백 개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무거워서 Git에 기록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❌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필요할 때 다시 받으면 돼요.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7"/>
          <p:cNvSpPr/>
          <p:nvPr/>
        </p:nvSpPr>
        <p:spPr>
          <a:xfrm>
            <a:off x="4111154" y="3512269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📒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레시피에는 "밀가루 200g"이라고만 적지,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밀가루 자체를 공책에 붙이진 않죠?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그래서 .gitignore에 node_modules가 적혀 있어요!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3925119" y="3372743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8"/>
          <p:cNvSpPr/>
          <p:nvPr/>
        </p:nvSpPr>
        <p:spPr>
          <a:xfrm>
            <a:off x="496119" y="978917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🆘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설치 막혔을 때 — 통합 대처표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9" name="Google Shape;599;p38"/>
          <p:cNvGraphicFramePr/>
          <p:nvPr/>
        </p:nvGraphicFramePr>
        <p:xfrm>
          <a:off x="496119" y="162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3624500"/>
                <a:gridCol w="452725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😱 증상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🔧 해결법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"내부 또는 외부 명령이 아닙니다"</a:t>
                      </a:r>
                      <a:endParaRPr sz="13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🔄 창 </a:t>
                      </a:r>
                      <a:r>
                        <a:rPr b="1"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모두</a:t>
                      </a: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닫고 다시 열기 → 재부팅</a:t>
                      </a:r>
                      <a:endParaRPr sz="13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"npm.ps1 … 실행할 수 없으므로"</a:t>
                      </a:r>
                      <a:endParaRPr sz="13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⌨️ 터미널 + 옆 ∨ → </a:t>
                      </a:r>
                      <a:r>
                        <a:rPr b="1"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Command Prompt</a:t>
                      </a: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선택</a:t>
                      </a:r>
                      <a:endParaRPr sz="13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npx 질문 화면에서 멈춤</a:t>
                      </a:r>
                      <a:endParaRPr sz="13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⏳ 1~2분 기다리기 → Enter</a:t>
                      </a:r>
                      <a:endParaRPr sz="13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npm install 5분 넘게</a:t>
                      </a:r>
                      <a:endParaRPr sz="13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📶 Wi-Fi·방화벽 확인 → 🙋 선생님</a:t>
                      </a:r>
                      <a:endParaRPr sz="13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EPERM · 권한 오류</a:t>
                      </a:r>
                      <a:endParaRPr sz="13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📁 C:\dev에서 했는지 · OneDrive ❌</a:t>
                      </a:r>
                      <a:endParaRPr sz="13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Port 3000 is in use</a:t>
                      </a:r>
                      <a:endParaRPr sz="13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🅿️ </a:t>
                      </a:r>
                      <a:r>
                        <a:rPr b="1"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3001</a:t>
                      </a:r>
                      <a:r>
                        <a:rPr lang="ko-KR" sz="13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주소로 열기</a:t>
                      </a:r>
                      <a:endParaRPr sz="13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39"/>
          <p:cNvSpPr/>
          <p:nvPr/>
        </p:nvSpPr>
        <p:spPr>
          <a:xfrm>
            <a:off x="496119" y="841921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막힘의 원인 — 주방 비유로 이해하기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06" name="Google Shape;606;p39"/>
          <p:cNvGraphicFramePr/>
          <p:nvPr/>
        </p:nvGraphicFramePr>
        <p:xfrm>
          <a:off x="496119" y="1491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2170825"/>
                <a:gridCol w="3263925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증상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🍳 원인</a:t>
                      </a:r>
                      <a:endParaRPr sz="9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9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해결</a:t>
                      </a:r>
                      <a:endParaRPr sz="9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명령을 못 찾음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📞 주방 전화번호부(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PATH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)에 아직 안 적힘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창 다시 열기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npm.ps1 오류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🛡️ PowerShell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경비원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이 막음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Command Prompt로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v16 같은 옛 숫자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🧓 예전에 깔린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낡은 가스레인지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🙋 제거 → LTS 재설치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한글 경로 오류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🔤 출장 요리사가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한글 주소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를 못 읽음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영어 경로(C:\dev)로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Missing script: "dev"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🚪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다른 방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에서 스위치를 찾음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cd hello-next 확인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07" name="Google Shape;607;p39"/>
          <p:cNvSpPr/>
          <p:nvPr/>
        </p:nvSpPr>
        <p:spPr>
          <a:xfrm>
            <a:off x="496119" y="3805535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8" name="Google Shape;60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98532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39"/>
          <p:cNvSpPr/>
          <p:nvPr/>
        </p:nvSpPr>
        <p:spPr>
          <a:xfrm>
            <a:off x="899071" y="3960465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💡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터미널은 무섭지 않아요!</a:t>
            </a: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컴퓨터와 채팅하는 창이에요. 틀려도 컴퓨터는 고장 나지 않아요. ↑ 키로 고쳐서 다시 치면 됩니다.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15" name="Google Shape;61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40"/>
          <p:cNvSpPr/>
          <p:nvPr/>
        </p:nvSpPr>
        <p:spPr>
          <a:xfrm>
            <a:off x="496119" y="1332384"/>
            <a:ext cx="455191" cy="188565"/>
          </a:xfrm>
          <a:prstGeom prst="roundRect">
            <a:avLst>
              <a:gd fmla="val 7894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0"/>
          <p:cNvSpPr/>
          <p:nvPr/>
        </p:nvSpPr>
        <p:spPr>
          <a:xfrm>
            <a:off x="570533" y="1373272"/>
            <a:ext cx="763563" cy="1141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750"/>
              <a:buFont typeface="Roboto"/>
              <a:buNone/>
            </a:pPr>
            <a:r>
              <a:rPr b="0" i="0" lang="ko-KR" sz="7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③ 섹션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0"/>
          <p:cNvSpPr/>
          <p:nvPr/>
        </p:nvSpPr>
        <p:spPr>
          <a:xfrm>
            <a:off x="496119" y="1570509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Next.js 이야기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0"/>
          <p:cNvSpPr/>
          <p:nvPr/>
        </p:nvSpPr>
        <p:spPr>
          <a:xfrm>
            <a:off x="496119" y="2158380"/>
            <a:ext cx="4722763" cy="1069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350"/>
              <a:buFont typeface="Roboto Slab"/>
              <a:buNone/>
            </a:pPr>
            <a:r>
              <a:rPr b="0" i="0" lang="ko-KR" sz="335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엔진에서 자동차까지 — "왜 하필 Next.js야?"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0"/>
          <p:cNvSpPr/>
          <p:nvPr/>
        </p:nvSpPr>
        <p:spPr>
          <a:xfrm>
            <a:off x="496119" y="3414192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도구는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불편함을 해결하려고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태어나요. 그 불편함을 알면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왜 쓰는지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알게 됩니다. 설치를 끝낸 뒤 쉬어 가는 이야기 시간이에요. 그냥 JavaScript로 만들면 안 될까요? 함께 알아봐요!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1"/>
          <p:cNvSpPr/>
          <p:nvPr/>
        </p:nvSpPr>
        <p:spPr>
          <a:xfrm>
            <a:off x="496119" y="1040383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웹 화면 만들기의 30년 연표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41"/>
          <p:cNvSpPr/>
          <p:nvPr/>
        </p:nvSpPr>
        <p:spPr>
          <a:xfrm>
            <a:off x="496119" y="2727647"/>
            <a:ext cx="8151763" cy="14288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41"/>
          <p:cNvSpPr/>
          <p:nvPr/>
        </p:nvSpPr>
        <p:spPr>
          <a:xfrm>
            <a:off x="1334393" y="2479625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41"/>
          <p:cNvSpPr/>
          <p:nvPr/>
        </p:nvSpPr>
        <p:spPr>
          <a:xfrm>
            <a:off x="1295028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1"/>
          <p:cNvSpPr/>
          <p:nvPr/>
        </p:nvSpPr>
        <p:spPr>
          <a:xfrm>
            <a:off x="620092" y="1690241"/>
            <a:ext cx="1442963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1995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⚡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JavaScript 탄생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1"/>
          <p:cNvSpPr/>
          <p:nvPr/>
        </p:nvSpPr>
        <p:spPr>
          <a:xfrm>
            <a:off x="620092" y="2157115"/>
            <a:ext cx="1442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 안 작은 움직임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1"/>
          <p:cNvSpPr/>
          <p:nvPr/>
        </p:nvSpPr>
        <p:spPr>
          <a:xfrm>
            <a:off x="2257351" y="2727647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1"/>
          <p:cNvSpPr/>
          <p:nvPr/>
        </p:nvSpPr>
        <p:spPr>
          <a:xfrm>
            <a:off x="2217986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1"/>
          <p:cNvSpPr/>
          <p:nvPr/>
        </p:nvSpPr>
        <p:spPr>
          <a:xfrm>
            <a:off x="1543050" y="3099718"/>
            <a:ext cx="14429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2009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Node.js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1"/>
          <p:cNvSpPr/>
          <p:nvPr/>
        </p:nvSpPr>
        <p:spPr>
          <a:xfrm>
            <a:off x="1543050" y="3372743"/>
            <a:ext cx="1442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브라우저 밖에서도 JS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1"/>
          <p:cNvSpPr/>
          <p:nvPr/>
        </p:nvSpPr>
        <p:spPr>
          <a:xfrm>
            <a:off x="3180308" y="2479625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1"/>
          <p:cNvSpPr/>
          <p:nvPr/>
        </p:nvSpPr>
        <p:spPr>
          <a:xfrm>
            <a:off x="3140943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1"/>
          <p:cNvSpPr/>
          <p:nvPr/>
        </p:nvSpPr>
        <p:spPr>
          <a:xfrm>
            <a:off x="2466008" y="1690241"/>
            <a:ext cx="14429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2010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🛵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npm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1"/>
          <p:cNvSpPr/>
          <p:nvPr/>
        </p:nvSpPr>
        <p:spPr>
          <a:xfrm>
            <a:off x="2466008" y="1963266"/>
            <a:ext cx="1442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부품 배달 시스템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41"/>
          <p:cNvSpPr/>
          <p:nvPr/>
        </p:nvSpPr>
        <p:spPr>
          <a:xfrm>
            <a:off x="4103340" y="2727647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1"/>
          <p:cNvSpPr/>
          <p:nvPr/>
        </p:nvSpPr>
        <p:spPr>
          <a:xfrm>
            <a:off x="4063975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41"/>
          <p:cNvSpPr/>
          <p:nvPr/>
        </p:nvSpPr>
        <p:spPr>
          <a:xfrm>
            <a:off x="3388965" y="3099718"/>
            <a:ext cx="1443038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2013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🧱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React (Facebook)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41"/>
          <p:cNvSpPr/>
          <p:nvPr/>
        </p:nvSpPr>
        <p:spPr>
          <a:xfrm>
            <a:off x="3388965" y="3566592"/>
            <a:ext cx="144303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레고 블록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41"/>
          <p:cNvSpPr/>
          <p:nvPr/>
        </p:nvSpPr>
        <p:spPr>
          <a:xfrm>
            <a:off x="5026298" y="2479625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1"/>
          <p:cNvSpPr/>
          <p:nvPr/>
        </p:nvSpPr>
        <p:spPr>
          <a:xfrm>
            <a:off x="4986933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41"/>
          <p:cNvSpPr/>
          <p:nvPr/>
        </p:nvSpPr>
        <p:spPr>
          <a:xfrm>
            <a:off x="4311923" y="1690241"/>
            <a:ext cx="1443038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2015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🔪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VS Code (Microsoft)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1"/>
          <p:cNvSpPr/>
          <p:nvPr/>
        </p:nvSpPr>
        <p:spPr>
          <a:xfrm>
            <a:off x="4311923" y="2157115"/>
            <a:ext cx="144303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무료 조리대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1"/>
          <p:cNvSpPr/>
          <p:nvPr/>
        </p:nvSpPr>
        <p:spPr>
          <a:xfrm>
            <a:off x="5949255" y="2727647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41"/>
          <p:cNvSpPr/>
          <p:nvPr/>
        </p:nvSpPr>
        <p:spPr>
          <a:xfrm>
            <a:off x="5909890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1"/>
          <p:cNvSpPr/>
          <p:nvPr/>
        </p:nvSpPr>
        <p:spPr>
          <a:xfrm>
            <a:off x="5234955" y="3099718"/>
            <a:ext cx="1442963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2016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🚗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Next.js (ZEIT)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1"/>
          <p:cNvSpPr/>
          <p:nvPr/>
        </p:nvSpPr>
        <p:spPr>
          <a:xfrm>
            <a:off x="5234955" y="3566592"/>
            <a:ext cx="1442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React 완성차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1"/>
          <p:cNvSpPr/>
          <p:nvPr/>
        </p:nvSpPr>
        <p:spPr>
          <a:xfrm>
            <a:off x="6872213" y="2479625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41"/>
          <p:cNvSpPr/>
          <p:nvPr/>
        </p:nvSpPr>
        <p:spPr>
          <a:xfrm>
            <a:off x="6832848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1"/>
          <p:cNvSpPr/>
          <p:nvPr/>
        </p:nvSpPr>
        <p:spPr>
          <a:xfrm>
            <a:off x="6157913" y="1690241"/>
            <a:ext cx="1442963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2023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 출시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1"/>
          <p:cNvSpPr/>
          <p:nvPr/>
        </p:nvSpPr>
        <p:spPr>
          <a:xfrm>
            <a:off x="6157913" y="1963266"/>
            <a:ext cx="144296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화면 디자이너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1"/>
          <p:cNvSpPr/>
          <p:nvPr/>
        </p:nvSpPr>
        <p:spPr>
          <a:xfrm>
            <a:off x="7795245" y="2727647"/>
            <a:ext cx="14288" cy="248022"/>
          </a:xfrm>
          <a:prstGeom prst="roundRect">
            <a:avLst>
              <a:gd fmla="val 4999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41"/>
          <p:cNvSpPr/>
          <p:nvPr/>
        </p:nvSpPr>
        <p:spPr>
          <a:xfrm>
            <a:off x="7755880" y="2681139"/>
            <a:ext cx="93018" cy="93018"/>
          </a:xfrm>
          <a:prstGeom prst="ellipse">
            <a:avLst/>
          </a:prstGeom>
          <a:solidFill>
            <a:srgbClr val="476F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41"/>
          <p:cNvSpPr/>
          <p:nvPr/>
        </p:nvSpPr>
        <p:spPr>
          <a:xfrm>
            <a:off x="7080870" y="3099718"/>
            <a:ext cx="1443038" cy="3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2025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Claude Code 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1"/>
          <p:cNvSpPr/>
          <p:nvPr/>
        </p:nvSpPr>
        <p:spPr>
          <a:xfrm>
            <a:off x="7080870" y="3566592"/>
            <a:ext cx="144303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 주방의 AI 요리사</a:t>
            </a:r>
            <a:endParaRPr b="1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1"/>
          <p:cNvSpPr/>
          <p:nvPr/>
        </p:nvSpPr>
        <p:spPr>
          <a:xfrm>
            <a:off x="496119" y="4044223"/>
            <a:ext cx="86091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오늘 우리가 깐 도구들이 이 연표에 다 있어요! 자기가 깐 도구를 찾아보세요.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66" name="Google Shape;66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42"/>
          <p:cNvSpPr/>
          <p:nvPr/>
        </p:nvSpPr>
        <p:spPr>
          <a:xfrm>
            <a:off x="496119" y="1211833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🎬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장면 1·2 — 맨손 모래성 → 가스레인지와 배달 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42"/>
          <p:cNvSpPr/>
          <p:nvPr/>
        </p:nvSpPr>
        <p:spPr>
          <a:xfrm>
            <a:off x="496119" y="2474142"/>
            <a:ext cx="2210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🏖️</a:t>
            </a:r>
            <a:r>
              <a:rPr b="0" i="0" lang="ko-KR" sz="13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장면 1 · 순수 JavaScript (1995~)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2"/>
          <p:cNvSpPr/>
          <p:nvPr/>
        </p:nvSpPr>
        <p:spPr>
          <a:xfrm>
            <a:off x="496119" y="2990576"/>
            <a:ext cx="22101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HTML 뼈대 → CSS 옷 → JavaScript 움직임. </a:t>
            </a:r>
            <a:r>
              <a:rPr b="1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화면이 커질수록 코드가 엉킴.</a:t>
            </a:r>
            <a:r>
              <a:rPr b="0" i="0" lang="ko-KR" sz="10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맨손으로 모래성 짓기 — 작은 건 되지만 큰 성은 무너져요.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2"/>
          <p:cNvSpPr/>
          <p:nvPr/>
        </p:nvSpPr>
        <p:spPr>
          <a:xfrm>
            <a:off x="2924250" y="2350175"/>
            <a:ext cx="2388600" cy="1878600"/>
          </a:xfrm>
          <a:prstGeom prst="roundRect">
            <a:avLst>
              <a:gd fmla="val 1067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71" name="Google Shape;671;p42"/>
          <p:cNvSpPr/>
          <p:nvPr/>
        </p:nvSpPr>
        <p:spPr>
          <a:xfrm>
            <a:off x="3048223" y="2474142"/>
            <a:ext cx="2140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3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🔥</a:t>
            </a:r>
            <a:r>
              <a:rPr b="0" i="0" lang="ko-KR" sz="1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장면 2 · Node.js · npm (2009~2010)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2"/>
          <p:cNvSpPr/>
          <p:nvPr/>
        </p:nvSpPr>
        <p:spPr>
          <a:xfrm>
            <a:off x="3048223" y="2990576"/>
            <a:ext cx="2140800" cy="9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라이언 달이 JS를 </a:t>
            </a: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브라우저 밖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으로 꺼내줬어요. 곧이어 </a:t>
            </a: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부품 배달 시스템(npm)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도 생겼어요. 전 세계 부품을 </a:t>
            </a: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한 줄로 받아 쓰는</a:t>
            </a:r>
            <a:r>
              <a:rPr b="0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시대가 시작됐어요 = </a:t>
            </a:r>
            <a:r>
              <a:rPr b="1" i="0" lang="ko-KR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오늘 1계단에서 깐 그것!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8" name="Google Shape;67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43"/>
          <p:cNvSpPr/>
          <p:nvPr/>
        </p:nvSpPr>
        <p:spPr>
          <a:xfrm>
            <a:off x="3925119" y="1301651"/>
            <a:ext cx="4722763" cy="803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🎬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장면 3 — React (2013, Facebook): 레고 블록의 발명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43"/>
          <p:cNvSpPr/>
          <p:nvPr/>
        </p:nvSpPr>
        <p:spPr>
          <a:xfrm>
            <a:off x="3925119" y="2415332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😵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예전 방식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3"/>
          <p:cNvSpPr/>
          <p:nvPr/>
        </p:nvSpPr>
        <p:spPr>
          <a:xfrm>
            <a:off x="3925119" y="2737917"/>
            <a:ext cx="2210098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페이지 전체가 하나의 큰 덩어리. 블록 하나 바꾸면 다른 곳이 망가져요. Facebook은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좋아요·댓글·알림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 쉴 새 없이 바뀌는데 전체를 다시 그릴 수 없었어요.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3"/>
          <p:cNvSpPr/>
          <p:nvPr/>
        </p:nvSpPr>
        <p:spPr>
          <a:xfrm>
            <a:off x="6353249" y="2291358"/>
            <a:ext cx="2388691" cy="1550491"/>
          </a:xfrm>
          <a:prstGeom prst="roundRect">
            <a:avLst>
              <a:gd fmla="val 1200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3"/>
          <p:cNvSpPr/>
          <p:nvPr/>
        </p:nvSpPr>
        <p:spPr>
          <a:xfrm>
            <a:off x="6477223" y="2415332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🧱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React 방식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43"/>
          <p:cNvSpPr/>
          <p:nvPr/>
        </p:nvSpPr>
        <p:spPr>
          <a:xfrm>
            <a:off x="6477223" y="2737917"/>
            <a:ext cx="2140744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🔘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Button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🃏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Card · </a:t>
            </a: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🔍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SearchBar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블록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으로 나눠요. 블록을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조립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해서 페이지를 완성하고, 데이터가 바뀌면 </a:t>
            </a:r>
            <a:r>
              <a:rPr b="1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그 블록만</a:t>
            </a:r>
            <a:r>
              <a:rPr b="0" i="0" lang="ko-KR" sz="9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새로 그려요. 블록 틀 하나를 만들면 100번 찍어 쓸 수 있어요!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90" name="Google Shape;6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44"/>
          <p:cNvSpPr/>
          <p:nvPr/>
        </p:nvSpPr>
        <p:spPr>
          <a:xfrm>
            <a:off x="496119" y="972294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React의 핵심 아이디어 4개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2" name="Google Shape;69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560165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93" name="Google Shape;693;p44"/>
          <p:cNvSpPr/>
          <p:nvPr/>
        </p:nvSpPr>
        <p:spPr>
          <a:xfrm>
            <a:off x="961206" y="1560165"/>
            <a:ext cx="4257675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컴포넌트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4"/>
          <p:cNvSpPr/>
          <p:nvPr/>
        </p:nvSpPr>
        <p:spPr>
          <a:xfrm>
            <a:off x="961206" y="1828428"/>
            <a:ext cx="4257675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레고 블록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틀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질문 카드 틀 1개 → 20번 찍기. 2교시 askback에서 직접 써요!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5" name="Google Shape;69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19" y="240291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96" name="Google Shape;696;p44"/>
          <p:cNvSpPr/>
          <p:nvPr/>
        </p:nvSpPr>
        <p:spPr>
          <a:xfrm>
            <a:off x="961206" y="2402918"/>
            <a:ext cx="4257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props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4"/>
          <p:cNvSpPr/>
          <p:nvPr/>
        </p:nvSpPr>
        <p:spPr>
          <a:xfrm>
            <a:off x="961206" y="2671181"/>
            <a:ext cx="4257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블록에 붙이는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이름표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카드마다 다른 질문 글을 넣을 수 있어요.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98" name="Google Shape;698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96119" y="3106028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4"/>
          <p:cNvSpPr/>
          <p:nvPr/>
        </p:nvSpPr>
        <p:spPr>
          <a:xfrm>
            <a:off x="961206" y="3117665"/>
            <a:ext cx="4257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state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4"/>
          <p:cNvSpPr/>
          <p:nvPr/>
        </p:nvSpPr>
        <p:spPr>
          <a:xfrm>
            <a:off x="961206" y="3374291"/>
            <a:ext cx="4257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블록의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기분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(켜짐/꺼짐). 답 카드 접힘/펼침을 담당해요.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1" name="Google Shape;701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6119" y="3867322"/>
            <a:ext cx="310083" cy="310083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44"/>
          <p:cNvSpPr/>
          <p:nvPr/>
        </p:nvSpPr>
        <p:spPr>
          <a:xfrm>
            <a:off x="961206" y="3832412"/>
            <a:ext cx="42576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b="0" i="0" lang="ko-KR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JSX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4"/>
          <p:cNvSpPr/>
          <p:nvPr/>
        </p:nvSpPr>
        <p:spPr>
          <a:xfrm>
            <a:off x="961206" y="4077401"/>
            <a:ext cx="42576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블록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조립 설명서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. HTML처럼 생겼지만 JavaScript 안에 있어요.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9" name="Google Shape;7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45"/>
          <p:cNvSpPr/>
          <p:nvPr/>
        </p:nvSpPr>
        <p:spPr>
          <a:xfrm>
            <a:off x="3925119" y="1245840"/>
            <a:ext cx="4722763" cy="803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🎬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장면 4 — Next.js (2016): 엔진에 차체를 씌우다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5"/>
          <p:cNvSpPr/>
          <p:nvPr/>
        </p:nvSpPr>
        <p:spPr>
          <a:xfrm>
            <a:off x="3925119" y="2359521"/>
            <a:ext cx="2210098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🔧</a:t>
            </a: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React만 = 자동차 엔진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5"/>
          <p:cNvSpPr/>
          <p:nvPr/>
        </p:nvSpPr>
        <p:spPr>
          <a:xfrm>
            <a:off x="3925119" y="2682106"/>
            <a:ext cx="2210098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화면 블록은 강력하게 그릴 수 있어요. 하지만 바퀴(페이지 이동)·핸들(검색·속도)·차고(배포)를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매번 직접 조립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해야 해요. 너무 힘들어요!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5"/>
          <p:cNvSpPr/>
          <p:nvPr/>
        </p:nvSpPr>
        <p:spPr>
          <a:xfrm>
            <a:off x="6353250" y="2235550"/>
            <a:ext cx="2655900" cy="1662000"/>
          </a:xfrm>
          <a:prstGeom prst="roundRect">
            <a:avLst>
              <a:gd fmla="val 1119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45"/>
          <p:cNvSpPr/>
          <p:nvPr/>
        </p:nvSpPr>
        <p:spPr>
          <a:xfrm>
            <a:off x="6477223" y="2359521"/>
            <a:ext cx="21407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🚗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Next.js = 완성된 자동차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5"/>
          <p:cNvSpPr/>
          <p:nvPr/>
        </p:nvSpPr>
        <p:spPr>
          <a:xfrm>
            <a:off x="6402600" y="2682100"/>
            <a:ext cx="2494500" cy="11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🛞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폴더 = 주소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(바퀴)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⚡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서버에서 미리 그리기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(핸들·속도, SSR)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🏁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build 한 번으로 배포 준비</a:t>
            </a: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(차고)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85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ZEIT(지금의 Vercel)의 팀이 만들었어요!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46"/>
          <p:cNvSpPr/>
          <p:nvPr/>
        </p:nvSpPr>
        <p:spPr>
          <a:xfrm>
            <a:off x="496119" y="841921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React만 vs Next.js — 자세히 비교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📊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22" name="Google Shape;722;p46"/>
          <p:cNvGraphicFramePr/>
          <p:nvPr/>
        </p:nvGraphicFramePr>
        <p:xfrm>
          <a:off x="496119" y="149177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1891525"/>
                <a:gridCol w="3543225"/>
                <a:gridCol w="27170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기능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🔧 React만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🚗 Next.js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페이지 주소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라우터 부품을 골라 조립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📁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폴더를 만들면 주소가 생김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첫 화면 속도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브라우저가 다 받은 뒤 그림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⚡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서버가 미리 그려서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보냄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검색엔진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빈 화면으로 보일 수 있음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🔍 내용이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이미 들어간</a:t>
                      </a: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화면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이미지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직접 크기 조절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🖼️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자동 최적화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배포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방법을 직접 고민</a:t>
                      </a:r>
                      <a:endParaRPr sz="12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🏁 </a:t>
                      </a:r>
                      <a:r>
                        <a:rPr b="1" lang="ko-KR" sz="12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npm run build → Vercel에 바로!</a:t>
                      </a:r>
                      <a:endParaRPr sz="12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3" name="Google Shape;723;p46"/>
          <p:cNvSpPr/>
          <p:nvPr/>
        </p:nvSpPr>
        <p:spPr>
          <a:xfrm>
            <a:off x="496125" y="3805520"/>
            <a:ext cx="8151900" cy="760800"/>
          </a:xfrm>
          <a:prstGeom prst="roundRect">
            <a:avLst>
              <a:gd fmla="val 375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24" name="Google Shape;72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985320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46"/>
          <p:cNvSpPr/>
          <p:nvPr/>
        </p:nvSpPr>
        <p:spPr>
          <a:xfrm>
            <a:off x="899071" y="3960465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오늘 1교시에 create-next-app으로 </a:t>
            </a:r>
            <a:r>
              <a:rPr b="1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이미 만들어 봤어요!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SSR = 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🍱</a:t>
            </a:r>
            <a:r>
              <a:rPr b="0" i="0" lang="ko-KR" sz="11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미리 담아 둔 도시락. 손님(브라우저)이 오자마자 바로 내줄 수 있어요.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47"/>
          <p:cNvSpPr/>
          <p:nvPr/>
        </p:nvSpPr>
        <p:spPr>
          <a:xfrm>
            <a:off x="496119" y="344686"/>
            <a:ext cx="8151763" cy="269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EM"/>
              <a:buNone/>
            </a:pP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📁</a:t>
            </a:r>
            <a:r>
              <a:rPr b="0" i="0" lang="ko-KR" sz="16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폴더 = 주소 — Next.js의 가장 쉬운 마법 </a:t>
            </a:r>
            <a:r>
              <a:rPr b="0" i="0" lang="ko-KR" sz="16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✨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2" name="Google Shape;73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761554"/>
            <a:ext cx="3974232" cy="39742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33" name="Google Shape;73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8412" y="761554"/>
            <a:ext cx="3974232" cy="488156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47"/>
          <p:cNvSpPr/>
          <p:nvPr/>
        </p:nvSpPr>
        <p:spPr>
          <a:xfrm>
            <a:off x="4809381" y="854422"/>
            <a:ext cx="3750394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app/page.tsx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7"/>
          <p:cNvSpPr/>
          <p:nvPr/>
        </p:nvSpPr>
        <p:spPr>
          <a:xfrm>
            <a:off x="4809381" y="1045369"/>
            <a:ext cx="3750394" cy="11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(정문, 첫 화면)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6" name="Google Shape;736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78412" y="1305669"/>
            <a:ext cx="3974232" cy="48815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47"/>
          <p:cNvSpPr/>
          <p:nvPr/>
        </p:nvSpPr>
        <p:spPr>
          <a:xfrm>
            <a:off x="4809381" y="1398538"/>
            <a:ext cx="3750394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app/about/page.tsx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7"/>
          <p:cNvSpPr/>
          <p:nvPr/>
        </p:nvSpPr>
        <p:spPr>
          <a:xfrm>
            <a:off x="4809381" y="1589484"/>
            <a:ext cx="3750394" cy="11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/about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9" name="Google Shape;739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78412" y="1849785"/>
            <a:ext cx="3974232" cy="650007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47"/>
          <p:cNvSpPr/>
          <p:nvPr/>
        </p:nvSpPr>
        <p:spPr>
          <a:xfrm>
            <a:off x="4809381" y="1942654"/>
            <a:ext cx="3750394" cy="1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REM"/>
              <a:buNone/>
            </a:pP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📄</a:t>
            </a:r>
            <a:r>
              <a:rPr b="0" i="0" lang="ko-KR" sz="8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app/p/[id]/page.tsx </a:t>
            </a:r>
            <a:r>
              <a:rPr b="0" i="0" lang="ko-KR" sz="8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⭐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7"/>
          <p:cNvSpPr/>
          <p:nvPr/>
        </p:nvSpPr>
        <p:spPr>
          <a:xfrm>
            <a:off x="4809381" y="2133600"/>
            <a:ext cx="3750394" cy="2733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→ </a:t>
            </a:r>
            <a:r>
              <a:rPr b="0" i="0" lang="ko-KR" sz="6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🌐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/p/prj_example_turtle-neck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1000"/>
              </a:lnSpc>
              <a:spcBef>
                <a:spcPts val="350"/>
              </a:spcBef>
              <a:spcAft>
                <a:spcPts val="0"/>
              </a:spcAft>
              <a:buClr>
                <a:srgbClr val="15213F"/>
              </a:buClr>
              <a:buSzPts val="650"/>
              <a:buFont typeface="Roboto"/>
              <a:buNone/>
            </a:pP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[id] = </a:t>
            </a:r>
            <a:r>
              <a:rPr b="1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"여기에 아무 이름이나 들어와도 돼"</a:t>
            </a:r>
            <a:r>
              <a:rPr b="0" i="0" lang="ko-KR" sz="6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라는 빈칸 → 2교시 askback 주소!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7"/>
          <p:cNvSpPr/>
          <p:nvPr/>
        </p:nvSpPr>
        <p:spPr>
          <a:xfrm>
            <a:off x="4712562" y="3405646"/>
            <a:ext cx="4431300" cy="1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REM"/>
              <a:buNone/>
            </a:pPr>
            <a:r>
              <a:rPr b="0" i="0" lang="ko-KR" sz="11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🏠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아파트에 </a:t>
            </a:r>
            <a:r>
              <a:rPr b="1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방을 하나 만들면 자동으로 호수(주소)가 붙는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것과 같아요.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48" name="Google Shape;74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48"/>
          <p:cNvSpPr/>
          <p:nvPr/>
        </p:nvSpPr>
        <p:spPr>
          <a:xfrm>
            <a:off x="496119" y="928018"/>
            <a:ext cx="4722763" cy="803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🎬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장면 5 — 한 회사의 세 가지 도구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🏢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8"/>
          <p:cNvSpPr/>
          <p:nvPr/>
        </p:nvSpPr>
        <p:spPr>
          <a:xfrm>
            <a:off x="496125" y="1917725"/>
            <a:ext cx="2299500" cy="1123800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48"/>
          <p:cNvSpPr/>
          <p:nvPr/>
        </p:nvSpPr>
        <p:spPr>
          <a:xfrm>
            <a:off x="620092" y="2041699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🚗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Next.js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48"/>
          <p:cNvSpPr/>
          <p:nvPr/>
        </p:nvSpPr>
        <p:spPr>
          <a:xfrm>
            <a:off x="620092" y="2314724"/>
            <a:ext cx="20514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자동차 (설계·제작). 무료 공개. v0가 만든 코드가 여기서 돌아요.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48"/>
          <p:cNvSpPr/>
          <p:nvPr/>
        </p:nvSpPr>
        <p:spPr>
          <a:xfrm>
            <a:off x="2919486" y="1917725"/>
            <a:ext cx="2299500" cy="1123800"/>
          </a:xfrm>
          <a:prstGeom prst="roundRect">
            <a:avLst>
              <a:gd fmla="val 2027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48"/>
          <p:cNvSpPr/>
          <p:nvPr/>
        </p:nvSpPr>
        <p:spPr>
          <a:xfrm>
            <a:off x="3043461" y="2041699"/>
            <a:ext cx="2051447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2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 v0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8"/>
          <p:cNvSpPr/>
          <p:nvPr/>
        </p:nvSpPr>
        <p:spPr>
          <a:xfrm>
            <a:off x="3043461" y="2314724"/>
            <a:ext cx="205144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AI 디자인 스튜디오 (2023~). 말로 Next.js 코드를 만들어요. 어제 쓴 그것!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8"/>
          <p:cNvSpPr/>
          <p:nvPr/>
        </p:nvSpPr>
        <p:spPr>
          <a:xfrm>
            <a:off x="496119" y="3227244"/>
            <a:ext cx="4722900" cy="719400"/>
          </a:xfrm>
          <a:prstGeom prst="roundRect">
            <a:avLst>
              <a:gd fmla="val 2586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48"/>
          <p:cNvSpPr/>
          <p:nvPr/>
        </p:nvSpPr>
        <p:spPr>
          <a:xfrm>
            <a:off x="620092" y="3351218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🏢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Vercel 호스팅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8"/>
          <p:cNvSpPr/>
          <p:nvPr/>
        </p:nvSpPr>
        <p:spPr>
          <a:xfrm>
            <a:off x="620092" y="3624243"/>
            <a:ext cx="44748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전용 주차장·정비소. GitHub에 push하면 </a:t>
            </a:r>
            <a:r>
              <a:rPr b="1" i="0" lang="ko-KR" sz="1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자동으로 가게를 열어요.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8"/>
          <p:cNvSpPr/>
          <p:nvPr/>
        </p:nvSpPr>
        <p:spPr>
          <a:xfrm>
            <a:off x="496119" y="4086206"/>
            <a:ext cx="47229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자동차 회사가 차도 만들고, 디자인 스튜디오도 차리고, 전용 정비소까지 만들었어요. 세 도구가 모두 </a:t>
            </a:r>
            <a:r>
              <a:rPr b="1" i="0" lang="ko-KR" sz="1150" u="none" cap="none" strike="noStrike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Vercel 한 회사</a:t>
            </a:r>
            <a:r>
              <a:rPr b="0" i="0" lang="ko-KR" sz="11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의 제품이에요!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65" name="Google Shape;76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49"/>
          <p:cNvSpPr/>
          <p:nvPr/>
        </p:nvSpPr>
        <p:spPr>
          <a:xfrm>
            <a:off x="3925119" y="539204"/>
            <a:ext cx="4722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💬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한 줄로 정리 — 왜 Next.js인가?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49"/>
          <p:cNvSpPr/>
          <p:nvPr/>
        </p:nvSpPr>
        <p:spPr>
          <a:xfrm>
            <a:off x="4111154" y="1266602"/>
            <a:ext cx="4536728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"프론트 화면은 JavaScript로, 레고 블록(React)으로 나누고, 바퀴·핸들·차고까지 달린 완성차(Next.js)를 쓴다. 그 완성차는 v0가 디자인하고 Vercel이 몰아 준다."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9"/>
          <p:cNvSpPr/>
          <p:nvPr/>
        </p:nvSpPr>
        <p:spPr>
          <a:xfrm>
            <a:off x="3925119" y="1127075"/>
            <a:ext cx="14288" cy="675977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69" name="Google Shape;76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25119" y="1942579"/>
            <a:ext cx="4722763" cy="2125191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49"/>
          <p:cNvSpPr/>
          <p:nvPr/>
        </p:nvSpPr>
        <p:spPr>
          <a:xfrm>
            <a:off x="4636554" y="2081931"/>
            <a:ext cx="826463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JavaScript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9"/>
          <p:cNvSpPr/>
          <p:nvPr/>
        </p:nvSpPr>
        <p:spPr>
          <a:xfrm>
            <a:off x="4671465" y="2292523"/>
            <a:ext cx="8265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웹의 언어, 기본 엔진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9"/>
          <p:cNvSpPr/>
          <p:nvPr/>
        </p:nvSpPr>
        <p:spPr>
          <a:xfrm>
            <a:off x="5453935" y="3675824"/>
            <a:ext cx="831005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9"/>
          <p:cNvSpPr/>
          <p:nvPr/>
        </p:nvSpPr>
        <p:spPr>
          <a:xfrm>
            <a:off x="5488846" y="3886417"/>
            <a:ext cx="831000" cy="1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레고 블록으로 UI 구성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9"/>
          <p:cNvSpPr/>
          <p:nvPr/>
        </p:nvSpPr>
        <p:spPr>
          <a:xfrm>
            <a:off x="6262234" y="2014951"/>
            <a:ext cx="826464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Next.js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9"/>
          <p:cNvSpPr/>
          <p:nvPr/>
        </p:nvSpPr>
        <p:spPr>
          <a:xfrm>
            <a:off x="6297145" y="2225543"/>
            <a:ext cx="8265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라우팅·퍼포먼스·배포 완성차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9"/>
          <p:cNvSpPr/>
          <p:nvPr/>
        </p:nvSpPr>
        <p:spPr>
          <a:xfrm>
            <a:off x="7079616" y="3624738"/>
            <a:ext cx="826463" cy="1277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Vercel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9"/>
          <p:cNvSpPr/>
          <p:nvPr/>
        </p:nvSpPr>
        <p:spPr>
          <a:xfrm>
            <a:off x="7114527" y="3835330"/>
            <a:ext cx="8265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6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v0가 만들고 Vercel이 배포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9"/>
          <p:cNvSpPr/>
          <p:nvPr/>
        </p:nvSpPr>
        <p:spPr>
          <a:xfrm>
            <a:off x="3925119" y="4207297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EM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✍️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 한 줄 정리</a:t>
            </a:r>
            <a:r>
              <a:rPr b="0" i="0" lang="ko-KR" sz="9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— React는 ________ 이고, Next.js는 ________ 이다. (체크 카드 뒷면에 써보세요!)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84" name="Google Shape;78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50"/>
          <p:cNvSpPr/>
          <p:nvPr/>
        </p:nvSpPr>
        <p:spPr>
          <a:xfrm>
            <a:off x="496119" y="795858"/>
            <a:ext cx="4722763" cy="789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④ 회사는 어떻게 일할까? —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🏭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공장의 컨베이어 벨트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86" name="Google Shape;78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771278"/>
            <a:ext cx="4722763" cy="2039913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50"/>
          <p:cNvSpPr/>
          <p:nvPr/>
        </p:nvSpPr>
        <p:spPr>
          <a:xfrm>
            <a:off x="1623126" y="3118325"/>
            <a:ext cx="701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v0 레이아웃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50"/>
          <p:cNvSpPr/>
          <p:nvPr/>
        </p:nvSpPr>
        <p:spPr>
          <a:xfrm>
            <a:off x="1623126" y="3340553"/>
            <a:ext cx="7011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빠르게 화면과 흐름 구성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0"/>
          <p:cNvSpPr/>
          <p:nvPr/>
        </p:nvSpPr>
        <p:spPr>
          <a:xfrm>
            <a:off x="3423694" y="3071778"/>
            <a:ext cx="7011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로컬 다듬기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0"/>
          <p:cNvSpPr/>
          <p:nvPr/>
        </p:nvSpPr>
        <p:spPr>
          <a:xfrm>
            <a:off x="3423694" y="3270732"/>
            <a:ext cx="7011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VS Code·Claude Code로 개선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0"/>
          <p:cNvSpPr/>
          <p:nvPr/>
        </p:nvSpPr>
        <p:spPr>
          <a:xfrm>
            <a:off x="725077" y="1955347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기획·분석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0"/>
          <p:cNvSpPr/>
          <p:nvPr/>
        </p:nvSpPr>
        <p:spPr>
          <a:xfrm>
            <a:off x="725077" y="2119389"/>
            <a:ext cx="701226" cy="204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분석.md로 요구사항 정리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0"/>
          <p:cNvSpPr/>
          <p:nvPr/>
        </p:nvSpPr>
        <p:spPr>
          <a:xfrm>
            <a:off x="4294994" y="1955347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CI/CD 배포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0"/>
          <p:cNvSpPr/>
          <p:nvPr/>
        </p:nvSpPr>
        <p:spPr>
          <a:xfrm>
            <a:off x="4294994" y="2119389"/>
            <a:ext cx="701226" cy="204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Vercel로 자동 검사·빌드·오픈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0"/>
          <p:cNvSpPr/>
          <p:nvPr/>
        </p:nvSpPr>
        <p:spPr>
          <a:xfrm>
            <a:off x="2534585" y="1955347"/>
            <a:ext cx="701226" cy="127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800"/>
              <a:buFont typeface="Roboto Slab"/>
              <a:buNone/>
            </a:pPr>
            <a:r>
              <a:rPr b="0" i="0" lang="ko-KR" sz="11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GitHub 금고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0"/>
          <p:cNvSpPr/>
          <p:nvPr/>
        </p:nvSpPr>
        <p:spPr>
          <a:xfrm>
            <a:off x="2534585" y="2352127"/>
            <a:ext cx="701100" cy="2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600"/>
              <a:buFont typeface="Roboto"/>
              <a:buNone/>
            </a:pPr>
            <a:r>
              <a:rPr b="0" i="0" lang="ko-KR" sz="90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팀이 코드와 자산 함께 보관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0"/>
          <p:cNvSpPr/>
          <p:nvPr/>
        </p:nvSpPr>
        <p:spPr>
          <a:xfrm>
            <a:off x="496119" y="3950717"/>
            <a:ext cx="4722763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"2교시에 우리가 할 일이 실제 회사의 일하는 순서와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똑같아요.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미리 지도를 보고 가면 길을 안 잃어요!"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1"/>
          <p:cNvSpPr/>
          <p:nvPr/>
        </p:nvSpPr>
        <p:spPr>
          <a:xfrm>
            <a:off x="496119" y="846386"/>
            <a:ext cx="8151763" cy="4018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CI/CD = 자동 검사·자동 배달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🏭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+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내 주방의 AI 요리사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51"/>
          <p:cNvSpPr/>
          <p:nvPr/>
        </p:nvSpPr>
        <p:spPr>
          <a:xfrm>
            <a:off x="496119" y="1558230"/>
            <a:ext cx="3924598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b="0" i="0" lang="ko-KR" sz="12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CI/CD란?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5" name="Google Shape;805;p51"/>
          <p:cNvGraphicFramePr/>
          <p:nvPr/>
        </p:nvGraphicFramePr>
        <p:xfrm>
          <a:off x="496119" y="18916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1962300"/>
                <a:gridCol w="1962300"/>
              </a:tblGrid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😓 손으로 할 때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😎 CI/CD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6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 고침 → 직접 빌드 → 직접 서버에 올림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 고침 → git push → 🤖 자동 검사·빌드·배포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실수하면 가게 고장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5213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🌐 가게가 </a:t>
                      </a:r>
                      <a:r>
                        <a:rPr b="1"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저절로</a:t>
                      </a:r>
                      <a:r>
                        <a:rPr lang="ko-KR" sz="1150" u="none" cap="none" strike="noStrike">
                          <a:solidFill>
                            <a:srgbClr val="15213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새 모습</a:t>
                      </a:r>
                      <a:endParaRPr sz="1150" u="none" cap="none" strike="noStrike">
                        <a:latin typeface="REM"/>
                        <a:ea typeface="REM"/>
                        <a:cs typeface="REM"/>
                        <a:sym typeface="REM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FBFC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FD2D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6" name="Google Shape;806;p51"/>
          <p:cNvSpPr/>
          <p:nvPr/>
        </p:nvSpPr>
        <p:spPr>
          <a:xfrm>
            <a:off x="4638749" y="1434257"/>
            <a:ext cx="4103191" cy="2227362"/>
          </a:xfrm>
          <a:prstGeom prst="roundRect">
            <a:avLst>
              <a:gd fmla="val 835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51"/>
          <p:cNvSpPr/>
          <p:nvPr/>
        </p:nvSpPr>
        <p:spPr>
          <a:xfrm>
            <a:off x="4762723" y="1558230"/>
            <a:ext cx="3855244" cy="198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EM"/>
              <a:buNone/>
            </a:pP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🎨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v0 vs </a:t>
            </a:r>
            <a:r>
              <a:rPr b="0" i="0" lang="ko-KR" sz="12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🤖</a:t>
            </a:r>
            <a:r>
              <a:rPr b="0" i="0" lang="ko-KR" sz="12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 Claude Code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08" name="Google Shape;808;p51"/>
          <p:cNvGraphicFramePr/>
          <p:nvPr/>
        </p:nvGraphicFramePr>
        <p:xfrm>
          <a:off x="4762723" y="1896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{F9DDC1E5-DF62-490F-B10C-564F8ADFDB76}</a:tableStyleId>
              </a:tblPr>
              <a:tblGrid>
                <a:gridCol w="854775"/>
                <a:gridCol w="1447850"/>
                <a:gridCol w="1552600"/>
              </a:tblGrid>
              <a:tr h="35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v0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Claude Code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어디서?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v0 웹사이트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 컴퓨터 터미널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5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잘하는 것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처음 레이아웃 빠르게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b="1"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코드를 읽고·고치고·명령 실행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6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비유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디자인 스튜디오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50"/>
                        <a:buFont typeface="Roboto"/>
                        <a:buNone/>
                      </a:pPr>
                      <a:r>
                        <a:rPr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내 주방 </a:t>
                      </a:r>
                      <a:r>
                        <a:rPr b="1" lang="ko-KR" sz="1150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AI 요리사</a:t>
                      </a:r>
                      <a:endParaRPr sz="1150" u="none" cap="none" strike="noStrik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4775" marB="4775" marR="124050" marL="124050" anchor="ctr">
                    <a:lnL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3257B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09" name="Google Shape;809;p51"/>
          <p:cNvSpPr/>
          <p:nvPr/>
        </p:nvSpPr>
        <p:spPr>
          <a:xfrm>
            <a:off x="496119" y="3801145"/>
            <a:ext cx="8151763" cy="495970"/>
          </a:xfrm>
          <a:prstGeom prst="roundRect">
            <a:avLst>
              <a:gd fmla="val 3752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0" name="Google Shape;81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092" y="3980929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51"/>
          <p:cNvSpPr/>
          <p:nvPr/>
        </p:nvSpPr>
        <p:spPr>
          <a:xfrm>
            <a:off x="899071" y="3956075"/>
            <a:ext cx="8082037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b="0" i="0" lang="ko-KR" sz="9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요리사는 내 주방에 와서 일해요. 가스레인지·조리대·일지·금고가 없으면 AI 요리사도 요리할 곳이 없어요. 오늘 1교시가 그 주방을 차린 시간이에요!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CFE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17" name="Google Shape;81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52"/>
          <p:cNvSpPr/>
          <p:nvPr/>
        </p:nvSpPr>
        <p:spPr>
          <a:xfrm>
            <a:off x="496119" y="683791"/>
            <a:ext cx="4722763" cy="803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EM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🔗</a:t>
            </a:r>
            <a:r>
              <a:rPr b="0" i="0" lang="ko-KR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 1교시 → 2교시 + 쉬는 시간 전 체크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REM"/>
                <a:ea typeface="REM"/>
                <a:cs typeface="REM"/>
                <a:sym typeface="REM"/>
              </a:rPr>
              <a:t>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9" name="Google Shape;81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19" y="1673498"/>
            <a:ext cx="4722763" cy="177217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52"/>
          <p:cNvSpPr/>
          <p:nvPr/>
        </p:nvSpPr>
        <p:spPr>
          <a:xfrm>
            <a:off x="4312044" y="301545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Claude 연결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2"/>
          <p:cNvSpPr/>
          <p:nvPr/>
        </p:nvSpPr>
        <p:spPr>
          <a:xfrm>
            <a:off x="3414322" y="2946848"/>
            <a:ext cx="712323" cy="27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GitHub+Vercel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2"/>
          <p:cNvSpPr/>
          <p:nvPr/>
        </p:nvSpPr>
        <p:spPr>
          <a:xfrm>
            <a:off x="2521479" y="301545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v0 레이아웃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52"/>
          <p:cNvSpPr/>
          <p:nvPr/>
        </p:nvSpPr>
        <p:spPr>
          <a:xfrm>
            <a:off x="1628635" y="301545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askback 분석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52"/>
          <p:cNvSpPr/>
          <p:nvPr/>
        </p:nvSpPr>
        <p:spPr>
          <a:xfrm>
            <a:off x="716276" y="3015458"/>
            <a:ext cx="712323" cy="137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 Slab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주방 완성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52"/>
          <p:cNvSpPr/>
          <p:nvPr/>
        </p:nvSpPr>
        <p:spPr>
          <a:xfrm>
            <a:off x="682154" y="3724721"/>
            <a:ext cx="4536728" cy="59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"오늘 여러분은 빌린 주방에서 나와 </a:t>
            </a:r>
            <a:r>
              <a:rPr b="1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내 주방을 차렸어요.</a:t>
            </a:r>
            <a:r>
              <a:rPr b="0" i="0" lang="ko-KR" sz="1250" u="none" cap="none" strike="noStrike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쉬는 시간 뒤에는 이 주방에서 진짜 서비스를 따라 만들고, 자동 컨베이어 벨트를 설치하고, 마지막으로 AI 요리사를 초대할 거예요!"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52"/>
          <p:cNvSpPr/>
          <p:nvPr/>
        </p:nvSpPr>
        <p:spPr>
          <a:xfrm>
            <a:off x="496119" y="3585195"/>
            <a:ext cx="14288" cy="874440"/>
          </a:xfrm>
          <a:prstGeom prst="roundRect">
            <a:avLst>
              <a:gd fmla="val 49998" name="adj"/>
            </a:avLst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