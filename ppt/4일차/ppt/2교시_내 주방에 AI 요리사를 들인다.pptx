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5143500" cy="9144000"/>
  <p:embeddedFontLst>
    <p:embeddedFont>
      <p:font typeface="Roboto Slab"/>
      <p:regular r:id="rId56"/>
      <p:bold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REM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AED4A8-E7DA-4069-A96D-CFE5099F2BEA}">
  <a:tblStyle styleId="{63AED4A8-E7DA-4069-A96D-CFE5099F2B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EM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64" Type="http://schemas.openxmlformats.org/officeDocument/2006/relationships/font" Target="fonts/REM-italic.fntdata"/><Relationship Id="rId63" Type="http://schemas.openxmlformats.org/officeDocument/2006/relationships/font" Target="fonts/REM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font" Target="fonts/REM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Slab-bold.fntdata"/><Relationship Id="rId12" Type="http://schemas.openxmlformats.org/officeDocument/2006/relationships/slide" Target="slides/slide7.xml"/><Relationship Id="rId56" Type="http://schemas.openxmlformats.org/officeDocument/2006/relationships/font" Target="fonts/RobotoSlab-regular.fntdata"/><Relationship Id="rId15" Type="http://schemas.openxmlformats.org/officeDocument/2006/relationships/slide" Target="slides/slide10.xml"/><Relationship Id="rId59" Type="http://schemas.openxmlformats.org/officeDocument/2006/relationships/font" Target="fonts/Roboto-bold.fntdata"/><Relationship Id="rId14" Type="http://schemas.openxmlformats.org/officeDocument/2006/relationships/slide" Target="slides/slide9.xml"/><Relationship Id="rId58" Type="http://schemas.openxmlformats.org/officeDocument/2006/relationships/font" Target="fonts/Robot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4.png"/><Relationship Id="rId5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jp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jpg"/><Relationship Id="rId4" Type="http://schemas.openxmlformats.org/officeDocument/2006/relationships/image" Target="../media/image42.png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jp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jpg"/><Relationship Id="rId4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jpg"/><Relationship Id="rId4" Type="http://schemas.openxmlformats.org/officeDocument/2006/relationships/image" Target="../media/image48.png"/><Relationship Id="rId5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jp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5.jpg"/><Relationship Id="rId4" Type="http://schemas.openxmlformats.org/officeDocument/2006/relationships/image" Target="../media/image52.png"/><Relationship Id="rId5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5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9.png"/><Relationship Id="rId7" Type="http://schemas.openxmlformats.org/officeDocument/2006/relationships/image" Target="../media/image51.png"/><Relationship Id="rId8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8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Relationship Id="rId7" Type="http://schemas.openxmlformats.org/officeDocument/2006/relationships/image" Target="../media/image60.png"/><Relationship Id="rId8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0.png"/><Relationship Id="rId4" Type="http://schemas.openxmlformats.org/officeDocument/2006/relationships/image" Target="../media/image66.png"/><Relationship Id="rId11" Type="http://schemas.openxmlformats.org/officeDocument/2006/relationships/image" Target="../media/image72.png"/><Relationship Id="rId10" Type="http://schemas.openxmlformats.org/officeDocument/2006/relationships/image" Target="../media/image76.png"/><Relationship Id="rId12" Type="http://schemas.openxmlformats.org/officeDocument/2006/relationships/image" Target="../media/image77.png"/><Relationship Id="rId9" Type="http://schemas.openxmlformats.org/officeDocument/2006/relationships/image" Target="../media/image79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96.png"/><Relationship Id="rId8" Type="http://schemas.openxmlformats.org/officeDocument/2006/relationships/image" Target="../media/image9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6.png"/><Relationship Id="rId4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5.jpg"/><Relationship Id="rId4" Type="http://schemas.openxmlformats.org/officeDocument/2006/relationships/image" Target="../media/image75.png"/><Relationship Id="rId5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8.png"/><Relationship Id="rId4" Type="http://schemas.openxmlformats.org/officeDocument/2006/relationships/image" Target="../media/image94.png"/><Relationship Id="rId5" Type="http://schemas.openxmlformats.org/officeDocument/2006/relationships/image" Target="../media/image82.png"/><Relationship Id="rId6" Type="http://schemas.openxmlformats.org/officeDocument/2006/relationships/image" Target="../media/image81.png"/><Relationship Id="rId7" Type="http://schemas.openxmlformats.org/officeDocument/2006/relationships/image" Target="../media/image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3.png"/><Relationship Id="rId4" Type="http://schemas.openxmlformats.org/officeDocument/2006/relationships/image" Target="../media/image87.png"/><Relationship Id="rId5" Type="http://schemas.openxmlformats.org/officeDocument/2006/relationships/image" Target="../media/image108.png"/><Relationship Id="rId6" Type="http://schemas.openxmlformats.org/officeDocument/2006/relationships/image" Target="../media/image91.png"/><Relationship Id="rId7" Type="http://schemas.openxmlformats.org/officeDocument/2006/relationships/image" Target="../media/image88.png"/><Relationship Id="rId8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6.png"/><Relationship Id="rId4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95.png"/><Relationship Id="rId13" Type="http://schemas.openxmlformats.org/officeDocument/2006/relationships/image" Target="../media/image1.png"/><Relationship Id="rId1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0.png"/><Relationship Id="rId4" Type="http://schemas.openxmlformats.org/officeDocument/2006/relationships/image" Target="../media/image105.png"/><Relationship Id="rId9" Type="http://schemas.openxmlformats.org/officeDocument/2006/relationships/image" Target="../media/image79.png"/><Relationship Id="rId5" Type="http://schemas.openxmlformats.org/officeDocument/2006/relationships/image" Target="../media/image68.png"/><Relationship Id="rId6" Type="http://schemas.openxmlformats.org/officeDocument/2006/relationships/image" Target="../media/image89.png"/><Relationship Id="rId7" Type="http://schemas.openxmlformats.org/officeDocument/2006/relationships/image" Target="../media/image96.png"/><Relationship Id="rId8" Type="http://schemas.openxmlformats.org/officeDocument/2006/relationships/image" Target="../media/image9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7.jpg"/><Relationship Id="rId4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3.png"/><Relationship Id="rId4" Type="http://schemas.openxmlformats.org/officeDocument/2006/relationships/image" Target="../media/image10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1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0.jp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6119" y="1498327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내 주방에 AI 요리사를 들인다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6119" y="2086198"/>
            <a:ext cx="65000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" name="Google Shape;19;p3"/>
          <p:cNvSpPr/>
          <p:nvPr/>
        </p:nvSpPr>
        <p:spPr>
          <a:xfrm>
            <a:off x="570533" y="2127087"/>
            <a:ext cx="95837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4일차 2교시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208098" y="2086200"/>
            <a:ext cx="1959300" cy="188700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" name="Google Shape;21;p3"/>
          <p:cNvSpPr/>
          <p:nvPr/>
        </p:nvSpPr>
        <p:spPr>
          <a:xfrm>
            <a:off x="1282526" y="2127087"/>
            <a:ext cx="2046610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V0 → GITHUB → CLAUDE DESKTOP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96119" y="2414290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1교시엔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주방을 차렸고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2교시엔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요리사를 들여 말로 요리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합니다. 코드는 AI가, 버튼은 사람이, 판단은 우리 팀이 해요!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96125" y="2950754"/>
            <a:ext cx="4722900" cy="987300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313052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899071" y="3105671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🗣️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"1교시에 여러분 노트북 안에 주방을 차렸죠? 오늘은 그 주방에 AI 요리사를 모셔 올 거예요. 우리는 말로 부탁하고, 요리사는 요리하고, 결정은 우리가 해요."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96119" y="623813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오늘의 길 — 45분 5정거장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59384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620092" y="1879476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① v0 뼈대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20092" y="2147739"/>
            <a:ext cx="24692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259384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3337322" y="1879476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② GitHub 버튼 4번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337322" y="2147739"/>
            <a:ext cx="24692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259384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054551" y="1879476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③ Claude Desktop 세팅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054551" y="2147739"/>
            <a:ext cx="24692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15분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핵심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696" y="2470175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978670" y="3090267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④ 다듬기 루프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978670" y="3358530"/>
            <a:ext cx="24692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1926" y="2470175"/>
            <a:ext cx="2717304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4695862" y="3090267"/>
            <a:ext cx="246935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🪞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닫기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95899" y="3363292"/>
            <a:ext cx="246935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96119" y="3825255"/>
            <a:ext cx="8151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092" y="400503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899071" y="3980185"/>
            <a:ext cx="7624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가장 긴 정거장: 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③ Claude Desktop 세팅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시간이 밀리면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① v0는 주문 1번만, ② Vercel 연결은 선생님이 대신. 하지만 ③ 세팅과 ④ 한 바퀴는 꼭 지킵니다.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496119" y="768623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어제의 공유 주방 → 오늘의 AI 요리사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96119" y="1729755"/>
            <a:ext cx="2299395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20092" y="1853729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3일차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20092" y="2126754"/>
            <a:ext cx="2051447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🏢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v0 공유 주방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빌린 곳에서 요리 연습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919487" y="1729755"/>
            <a:ext cx="2299395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043461" y="1853729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4일차 1교시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043461" y="2126754"/>
            <a:ext cx="2051447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내 주방 차리기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Node · npm · Git ·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96119" y="2846040"/>
            <a:ext cx="4722763" cy="992312"/>
          </a:xfrm>
          <a:prstGeom prst="roundRect">
            <a:avLst>
              <a:gd fmla="val 1875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20092" y="2970014"/>
            <a:ext cx="447481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📅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4일차 2교시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20092" y="3243039"/>
            <a:ext cx="4474815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내 주방 + </a:t>
            </a: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요리사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규칙 +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매뉴얼까지!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96119" y="3977878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주방만 있고 요리사가 없으면? 오늘은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요리사를 들이고, 일하는 규칙까지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정해 줘요. 이전 수업에서 쓰던 같은 주방 그림이 계속 이어집니다!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496119" y="677838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오늘의 핵심 한 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27696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620092" y="1947788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v0로 만들고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327696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3337322" y="1947788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🏦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GitHub에 올리고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327696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054514" y="1947788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 Desktop에 연결해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696" y="2270373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1978670" y="2890465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말로 조금씩 다듬는다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1926" y="2270373"/>
            <a:ext cx="2717304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4695862" y="2890465"/>
            <a:ext cx="246935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가게가 저절로 바뀐다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82154" y="3492103"/>
            <a:ext cx="8422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코드는 AI가 · 버튼은 사람이 · 판단은 우리 팀이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96119" y="3352577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96119" y="3969618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092" y="4149403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899071" y="4124548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카드를 오늘 세 번 다시 보여 줍니다: 시작할 때, ③ 세팅 전, 닫기 때. "지금 우리는 몇 번째 칸?" 하고 물어보세요.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496119" y="1163092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 = 말로 요리하기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🗣️🍳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06822" y="1750963"/>
            <a:ext cx="2388691" cy="1413942"/>
          </a:xfrm>
          <a:prstGeom prst="roundRect">
            <a:avLst>
              <a:gd fmla="val 131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30796" y="1874937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AI 요리사가 하는 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30796" y="2197522"/>
            <a:ext cx="2140744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✏️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코드 쓰기 · 고치기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📦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설치 · 서버 켜기 · 검사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commit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📤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push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설명 · 제안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013546" y="1874937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🧑‍🤝‍🧑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우리 팀이 하는 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013546" y="2197522"/>
            <a:ext cx="22100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📐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설계도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그리기 (분석.md)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정하기 (CLAUDE.md)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하나씩 부탁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허락 / 거절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판단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눈으로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82154" y="3443957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코딩에서 사람의 일 =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지휘자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🎼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"코드를 직접 안 쓰면 우리는 뭐 해요?" → 설계도, 규칙, 부탁, 허락, 확인. 이게 사람이 하는 일이에요!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96119" y="3304431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/>
          <p:nvPr/>
        </p:nvSpPr>
        <p:spPr>
          <a:xfrm>
            <a:off x="3925119" y="523949"/>
            <a:ext cx="4722763" cy="353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EM"/>
              <a:buNone/>
            </a:pPr>
            <a:r>
              <a:rPr b="0" i="0" lang="ko-KR" sz="2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한 방향 원칙 — 요리사는 한 명만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3925119" y="1114797"/>
            <a:ext cx="2228999" cy="17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두 요리사가 같은 냄비에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3925119" y="1384027"/>
            <a:ext cx="2228999" cy="554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v0도 고치고 · Claude도 고치고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Char char="•"/>
            </a:pP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🧂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소금을 두 번 넣음 =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충돌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누가 뭘 바꿨는지 모름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345510" y="1019845"/>
            <a:ext cx="2385268" cy="952202"/>
          </a:xfrm>
          <a:prstGeom prst="roundRect">
            <a:avLst>
              <a:gd fmla="val 1710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6454006" y="1114797"/>
            <a:ext cx="2168277" cy="174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한 방향으로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54006" y="1384027"/>
            <a:ext cx="2168277" cy="554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v0는 뼈대까지만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GitHub로 옮긴 뒤엔 </a:t>
            </a: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Claude Desktop에서만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Char char="•"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기록이 한 줄로 깔끔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078831"/>
            <a:ext cx="4722763" cy="203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4242890" y="3729194"/>
            <a:ext cx="19113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다듬기 루프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242890" y="3257759"/>
            <a:ext cx="19113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Claude Desktop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242890" y="2791086"/>
            <a:ext cx="19113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242890" y="2319650"/>
            <a:ext cx="19113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v0 (처음)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925125" y="4222174"/>
            <a:ext cx="4722600" cy="554700"/>
          </a:xfrm>
          <a:prstGeom prst="roundRect">
            <a:avLst>
              <a:gd fmla="val 4097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3614" y="4358804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4277767" y="4344219"/>
            <a:ext cx="4718819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학생들이 가장 많이 하는 실수! "v0에서 또 고치고 싶어요!" </a:t>
            </a:r>
            <a:b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"같은 주문을 Claude에게 하세요."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/>
          <p:nvPr/>
        </p:nvSpPr>
        <p:spPr>
          <a:xfrm>
            <a:off x="496119" y="742057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 쓰는 도구 = 주방 소품 매핑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77628"/>
            <a:ext cx="4013895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/>
          <p:nvPr/>
        </p:nvSpPr>
        <p:spPr>
          <a:xfrm>
            <a:off x="691530" y="1515889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🏭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밀키트 공장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91530" y="1788914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80% 손질된 재료를 받아 오는 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87" y="1377628"/>
            <a:ext cx="4013895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4829398" y="1515889"/>
            <a:ext cx="3680222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🏦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🔐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벽 금고 ·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🏧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 Desktop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ATM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829398" y="1982763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안전하게 보관하는 창고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443460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/>
          <p:nvPr/>
        </p:nvSpPr>
        <p:spPr>
          <a:xfrm>
            <a:off x="691530" y="2581721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Vercel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🏪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자동 컨베이어 벨트 + 가게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91530" y="2854747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push하면 가게가 저절로 업데이트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3987" y="2443460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/>
          <p:nvPr/>
        </p:nvSpPr>
        <p:spPr>
          <a:xfrm>
            <a:off x="4829398" y="2581721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 Desktop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🧑‍🍳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AI 요리사 + 작업대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829398" y="2854747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말로 부탁하면 코드로 요리해 주는 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315444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691530" y="3453705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🧲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냉장고 규칙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91530" y="3726731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AI가 매번 읽는 우리 팀 규칙서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3987" y="3315444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9"/>
          <p:cNvSpPr/>
          <p:nvPr/>
        </p:nvSpPr>
        <p:spPr>
          <a:xfrm>
            <a:off x="4829398" y="3453705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Skill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📘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본사 요리 매뉴얼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829398" y="3726731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반 전체 공통 규칙 (선생님이 준비)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96119" y="4202981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앞 세 개는 1교시·3일차에 본 것,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뒤 세 개가 오늘의 주인공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/>
          <p:nvPr/>
        </p:nvSpPr>
        <p:spPr>
          <a:xfrm>
            <a:off x="3925119" y="1744117"/>
            <a:ext cx="869454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3999533" y="1785005"/>
            <a:ext cx="1177826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 첫 번째 정거장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3925119" y="1982242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① v0로 뼈대 만들기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3925119" y="2419350"/>
            <a:ext cx="4722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🏭</a:t>
            </a:r>
            <a:r>
              <a:rPr b="0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밀키트 공장에서 80% 손질된 재료를 받아 온다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925119" y="2803996"/>
            <a:ext cx="472276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v0는 처음부터 끝까지 다 만들어 주는 곳이 아니에요.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빠르게 뼈대를 받아 오는 곳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입니다. 80%면 충분하고, 나머지 20%는 Claude Desktop에서 함께 다듬어요. v0 사용량도 아끼고, Claude와 연습하는 시간도 확보하는 전략이에요!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3925119" y="499244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📐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분석.md — 4칸만 채운다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087115"/>
            <a:ext cx="1491555" cy="149802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/>
          <p:nvPr/>
        </p:nvSpPr>
        <p:spPr>
          <a:xfrm>
            <a:off x="4596482" y="1180133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063380" y="1583234"/>
            <a:ext cx="121503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한 줄 요약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063380" y="1851496"/>
            <a:ext cx="121503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○○가 질문하면 AI 코치가 △△로 답하는 페이지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0648" y="1087115"/>
            <a:ext cx="1491630" cy="1498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6212012" y="1180133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678909" y="1583234"/>
            <a:ext cx="121510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레이아웃 6구역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678909" y="1851496"/>
            <a:ext cx="1215107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사이드바 · 상단 바 · 알림 · 5단계 카드 · 타임라인 · 입력창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6252" y="1087115"/>
            <a:ext cx="1491630" cy="1498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/>
          <p:nvPr/>
        </p:nvSpPr>
        <p:spPr>
          <a:xfrm>
            <a:off x="7827615" y="1180133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7294513" y="1583234"/>
            <a:ext cx="121510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강조 순위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7294513" y="1851496"/>
            <a:ext cx="121510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🙋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되물음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5단계 카드 → 결론 첫 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709118"/>
            <a:ext cx="4722763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/>
          <p:nvPr/>
        </p:nvSpPr>
        <p:spPr>
          <a:xfrm>
            <a:off x="6212086" y="2802136"/>
            <a:ext cx="148828" cy="18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063380" y="3205237"/>
            <a:ext cx="444624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데이터 모양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063380" y="3473500"/>
            <a:ext cx="44462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data/projects.json 칸 이름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925119" y="3949750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9092" y="4129534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/>
          <p:nvPr/>
        </p:nvSpPr>
        <p:spPr>
          <a:xfrm>
            <a:off x="4328071" y="4104680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📐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이 설계도는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v0에게도, Claude에게도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똑같이 줘요 = 공통 설계도. 상세판 템플릿에서 1·3·6·8번 칸만 채웁니다. 5분 이내!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/>
          <p:nvPr/>
        </p:nvSpPr>
        <p:spPr>
          <a:xfrm>
            <a:off x="496119" y="448121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v0 주문 3번 — 한 번에 한 구역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96119" y="1021705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542627" y="1044959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899145" y="1064344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주문 ① — 6구역 전체 틀 + 디자인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899145" y="1332607"/>
            <a:ext cx="431973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분석.md 첨부 + 전체 레이아웃 뼈대 요청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496119" y="1779091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542627" y="1802346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899145" y="1821731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주문 ② — 데이터 + 5단계 카드 + 타임라인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899145" y="2089993"/>
            <a:ext cx="431973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data/projects.json + lib/repo.ts + 핵심 컴포넌트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96119" y="2536478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542627" y="2559732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99145" y="2579117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주문 ③ — 되물음 강조 + 되묻기 카드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99145" y="2847380"/>
            <a:ext cx="431973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 없으면 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Claude에게 넘기기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82154" y="3324895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마지막 한 줄 — 폴더 정리 주문: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"데이터는 data/projects.json, 데이터 통로는 lib/repo.ts, 화면 부품은 components/ 폴더로 정리해 줘. 다른 화면은 바꾸지 마."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496119" y="3185368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496119" y="4000872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18065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/>
          <p:nvPr/>
        </p:nvSpPr>
        <p:spPr>
          <a:xfrm>
            <a:off x="899071" y="4155802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마지막 "폴더 정리" 한 줄이 나중에 Claude가 코드를 읽기 쉽게 만들어 줍니다. 꼭 넣으세요!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/>
          <p:nvPr/>
        </p:nvSpPr>
        <p:spPr>
          <a:xfrm>
            <a:off x="496119" y="1246659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80%면 충분 + v0가 만든 폴더 지도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96119" y="1944216"/>
            <a:ext cx="246132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askback-clone-t03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96119" y="2266801"/>
            <a:ext cx="2461320" cy="1586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📁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app/p/[id]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프로젝트 페이지 (폴더 = 주소)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📁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components/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화면 부품 (사이드바 · 카드 · 입력창)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📁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data/projects.json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모든 데이터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📁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lib/repo.ts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데이터 통로 하나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분석.md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📐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설계도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175471" y="1820242"/>
            <a:ext cx="2137395" cy="2076524"/>
          </a:xfrm>
          <a:prstGeom prst="roundRect">
            <a:avLst>
              <a:gd fmla="val 89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3299445" y="1944216"/>
            <a:ext cx="1889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전략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299445" y="2266801"/>
            <a:ext cx="1889447" cy="1215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v0에서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100%를 만들지 마세요.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나머지 20%는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Claude Desktop에서 조금씩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= 오늘의 연습!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v0 사용량도 아끼고, Claude와 다듬는 연습 시간도 확보해요.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/>
          <p:nvPr/>
        </p:nvSpPr>
        <p:spPr>
          <a:xfrm>
            <a:off x="496119" y="1843311"/>
            <a:ext cx="869454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570533" y="1884199"/>
            <a:ext cx="1177826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② 두 번째 정거장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96119" y="2081436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② GitHub — 버튼으로 옮기기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496119" y="2518544"/>
            <a:ext cx="4722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🔐</a:t>
            </a:r>
            <a:r>
              <a:rPr b="0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밀키트를 금고에 넣고, 우리 주방으로 꺼내 온다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96119" y="3077740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GitHub는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1분만 설명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대부분 버튼과 자동화로 지나갑니다.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명령어 없이도 충분해요!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/>
          <p:nvPr/>
        </p:nvSpPr>
        <p:spPr>
          <a:xfrm>
            <a:off x="496119" y="932334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GitHub, 딱 다섯 단어만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67904"/>
            <a:ext cx="2634555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5"/>
          <p:cNvSpPr/>
          <p:nvPr/>
        </p:nvSpPr>
        <p:spPr>
          <a:xfrm>
            <a:off x="691530" y="1706166"/>
            <a:ext cx="230088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🗄️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저장소 (repo) = 금고 한 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691530" y="1979191"/>
            <a:ext cx="230088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🔘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v0 버튼이 만들어 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648" y="1567904"/>
            <a:ext cx="2634630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5"/>
          <p:cNvSpPr/>
          <p:nvPr/>
        </p:nvSpPr>
        <p:spPr>
          <a:xfrm>
            <a:off x="3450059" y="1706166"/>
            <a:ext cx="2300957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📥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clone = 금고 → 우리 주방으로 복사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3450059" y="2173039"/>
            <a:ext cx="230095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🔘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GitHub Desktop 버튼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252" y="1567904"/>
            <a:ext cx="2634555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/>
          <p:nvPr/>
        </p:nvSpPr>
        <p:spPr>
          <a:xfrm>
            <a:off x="6208663" y="1706166"/>
            <a:ext cx="230088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commit = 세이브 포인트 한 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6208663" y="1979191"/>
            <a:ext cx="230088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Claude가 "저장해 줘" 하면 자동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633737"/>
            <a:ext cx="2634555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5"/>
          <p:cNvSpPr/>
          <p:nvPr/>
        </p:nvSpPr>
        <p:spPr>
          <a:xfrm>
            <a:off x="691530" y="2771998"/>
            <a:ext cx="230088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📤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push = 세이브 포인트를 금고로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691530" y="3045023"/>
            <a:ext cx="230088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Claude가 "올려 줘" 하면 자동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648" y="2633737"/>
            <a:ext cx="2634630" cy="94185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/>
          <p:nvPr/>
        </p:nvSpPr>
        <p:spPr>
          <a:xfrm>
            <a:off x="3450059" y="2771998"/>
            <a:ext cx="2300957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자동 배포 = 금고에 들어오면 가게가 저절로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3450059" y="3238872"/>
            <a:ext cx="230095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Vercel이 자동으로 처리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496119" y="3715122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389490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5"/>
          <p:cNvSpPr/>
          <p:nvPr/>
        </p:nvSpPr>
        <p:spPr>
          <a:xfrm>
            <a:off x="899071" y="3870052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외울 것은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commit ·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📤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push 두 개뿐!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"명령어는 외우지 않아요. 세이브 포인트와 금고로 보내기, 두 단어만 기억해요."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6"/>
          <p:cNvSpPr/>
          <p:nvPr/>
        </p:nvSpPr>
        <p:spPr>
          <a:xfrm>
            <a:off x="3925119" y="992088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🔘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버튼 4번이면 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620217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6"/>
          <p:cNvSpPr/>
          <p:nvPr/>
        </p:nvSpPr>
        <p:spPr>
          <a:xfrm>
            <a:off x="3925119" y="1776413"/>
            <a:ext cx="22993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3925119" y="1866974"/>
            <a:ext cx="229939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 — GitHub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3925119" y="2140000"/>
            <a:ext cx="2299395" cy="4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오른쪽 위 GitHub 아이콘 → 이름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askback-clone-t03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🔒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Private → 만들기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8487" y="1620217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/>
          <p:nvPr/>
        </p:nvSpPr>
        <p:spPr>
          <a:xfrm>
            <a:off x="6348487" y="1778794"/>
            <a:ext cx="22993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6348487" y="1866974"/>
            <a:ext cx="229939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🏧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 Desktop — Clone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348487" y="2140000"/>
            <a:ext cx="2299395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File → Clone repository → 우리 저장소 → Local path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C:\dev\…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Clone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2778919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6"/>
          <p:cNvSpPr/>
          <p:nvPr/>
        </p:nvSpPr>
        <p:spPr>
          <a:xfrm>
            <a:off x="3925119" y="2947467"/>
            <a:ext cx="22993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3925119" y="3050456"/>
            <a:ext cx="229939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vercel.com — 자동 배포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3925119" y="3323481"/>
            <a:ext cx="22993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Add New → Project → 우리 저장소 Import → Deploy (설정 그대로)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8487" y="2778919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6"/>
          <p:cNvSpPr/>
          <p:nvPr/>
        </p:nvSpPr>
        <p:spPr>
          <a:xfrm>
            <a:off x="6348487" y="2959894"/>
            <a:ext cx="22993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6348487" y="3050456"/>
            <a:ext cx="229939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휴대폰 — 가게 열어 두기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6348487" y="3323481"/>
            <a:ext cx="2299395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○○.vercel.app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열어 두기 — 배포 확인용!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3925119" y="3952949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명령어 없이 버튼만으로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저장소 생성 → 복사 → 자동 배포 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연결까지 끝납니다.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/>
          <p:nvPr/>
        </p:nvSpPr>
        <p:spPr>
          <a:xfrm>
            <a:off x="496119" y="1170756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Clone 위치는 C:\dev 로!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96119" y="1882601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기본값 그대로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96119" y="2205186"/>
            <a:ext cx="2210098" cy="89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C:\Users\(한글이름)\Documents\GitHub\…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한글 이름 · OneDrive 동기화 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AI가 엉뚱한 폴더를 볼 수 있음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2924249" y="1758628"/>
            <a:ext cx="2388691" cy="1380083"/>
          </a:xfrm>
          <a:prstGeom prst="roundRect">
            <a:avLst>
              <a:gd fmla="val 134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3048223" y="1882601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전용 주방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3048223" y="2205186"/>
            <a:ext cx="2597944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C:\dev\askback-clone-t03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3048223" y="2520032"/>
            <a:ext cx="2140744" cy="44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짧고 깨끗한 경로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 폴더 =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요리사의 작업 범위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496125" y="3278223"/>
            <a:ext cx="4722900" cy="787800"/>
          </a:xfrm>
          <a:prstGeom prst="roundRect">
            <a:avLst>
              <a:gd fmla="val 267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345802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7"/>
          <p:cNvSpPr/>
          <p:nvPr/>
        </p:nvSpPr>
        <p:spPr>
          <a:xfrm>
            <a:off x="899071" y="3433167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③ 단계에서 Claude Desktop에 고를 폴더가 바로 이 폴더입니다. </a:t>
            </a:r>
            <a:b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여기서 경로가 꼬이면 뒤가 다 꼬여요!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0" name="Google Shape;3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8"/>
          <p:cNvSpPr/>
          <p:nvPr/>
        </p:nvSpPr>
        <p:spPr>
          <a:xfrm>
            <a:off x="496119" y="974750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Vercel — 자동 컨베이어 벨트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562621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8"/>
          <p:cNvSpPr/>
          <p:nvPr/>
        </p:nvSpPr>
        <p:spPr>
          <a:xfrm>
            <a:off x="4312044" y="29045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간판 교체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3414322" y="29045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출고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2521479" y="29045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조립 + 검사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1628635" y="29045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재료 설치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716276" y="29045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코드 받기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496119" y="3474318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92" y="3654103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8"/>
          <p:cNvSpPr/>
          <p:nvPr/>
        </p:nvSpPr>
        <p:spPr>
          <a:xfrm>
            <a:off x="899071" y="3629248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검사(③)에서 불합격이면 출고 중지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→ 손님 가게는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예전 그대로 안전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! "push하면 저절로 바뀐다 + 고장 나면 가게는 안전하다" 두 가지만 기억해요.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6" name="Google Shape;3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"/>
          <p:cNvSpPr/>
          <p:nvPr/>
        </p:nvSpPr>
        <p:spPr>
          <a:xfrm>
            <a:off x="496119" y="878532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🆘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막혔을 때 — 세 갈래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496119" y="1466404"/>
            <a:ext cx="2299395" cy="1121122"/>
          </a:xfrm>
          <a:prstGeom prst="roundRect">
            <a:avLst>
              <a:gd fmla="val 166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620092" y="1590377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v0에 Git 메뉴가 없다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620092" y="1863403"/>
            <a:ext cx="2051447" cy="600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Download ZIP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C:\dev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 압축 풀기 → GitHub Desktop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Add local repository → Publish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Private)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2919487" y="1466404"/>
            <a:ext cx="2299395" cy="1121122"/>
          </a:xfrm>
          <a:prstGeom prst="roundRect">
            <a:avLst>
              <a:gd fmla="val 166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3043461" y="1590377"/>
            <a:ext cx="2051447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Vercel 목록에 저장소가 없다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3043461" y="2057251"/>
            <a:ext cx="20514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Adjust GitHub App Permissions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🙋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선생님 호출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496119" y="2711500"/>
            <a:ext cx="4722763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620092" y="2835473"/>
            <a:ext cx="447481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🌿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v0가 main이 아닌 가지로 올렸다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620092" y="3108499"/>
            <a:ext cx="447481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github.com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Compare &amp; pull request → Merge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(버튼 2번)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96119" y="3570461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375024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9"/>
          <p:cNvSpPr/>
          <p:nvPr/>
        </p:nvSpPr>
        <p:spPr>
          <a:xfrm>
            <a:off x="899071" y="3725391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세 번째(가지 합치기)는 v0 버전에 따라 생깁니다. </a:t>
            </a:r>
            <a:b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Vercel 진짜 가게는 main만 보기 때문에 꼭 합쳐야 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5" name="Google Shape;3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0"/>
          <p:cNvSpPr/>
          <p:nvPr/>
        </p:nvSpPr>
        <p:spPr>
          <a:xfrm>
            <a:off x="3925119" y="860375"/>
            <a:ext cx="152310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3999533" y="901264"/>
            <a:ext cx="183147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③ 세 번째 정거장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오늘의 핵심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925119" y="1098500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③ Claude Desktop — 우리 개발실 세팅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3925119" y="1923157"/>
            <a:ext cx="4722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AI 요리사에게 열쇠 · 규칙 · 매뉴얼을 준다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3925119" y="2307803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수업의 절반이 여기 있습니다.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3925119" y="2645792"/>
            <a:ext cx="4722763" cy="1637333"/>
          </a:xfrm>
          <a:prstGeom prst="roundRect">
            <a:avLst>
              <a:gd fmla="val 113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3925119" y="2645792"/>
            <a:ext cx="2361381" cy="917897"/>
          </a:xfrm>
          <a:custGeom>
            <a:rect b="b" l="l" r="r" t="t"/>
            <a:pathLst>
              <a:path extrusionOk="0" h="917897" w="2361381">
                <a:moveTo>
                  <a:pt x="15506" y="0"/>
                </a:moveTo>
                <a:lnTo>
                  <a:pt x="2361381" y="0"/>
                </a:lnTo>
                <a:lnTo>
                  <a:pt x="2361381" y="917897"/>
                </a:lnTo>
                <a:lnTo>
                  <a:pt x="0" y="917897"/>
                </a:lnTo>
                <a:lnTo>
                  <a:pt x="0" y="15506"/>
                </a:lnTo>
                <a:cubicBezTo>
                  <a:pt x="0" y="6942"/>
                  <a:pt x="6942" y="0"/>
                  <a:pt x="15506" y="0"/>
                </a:cubicBezTo>
                <a:close/>
              </a:path>
            </a:pathLst>
          </a:cu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4049092" y="2769766"/>
            <a:ext cx="211343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🔑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열쇠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4049092" y="3042791"/>
            <a:ext cx="211343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폴더 선택 = AI가 일할 수 있는 범위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6286500" y="2645792"/>
            <a:ext cx="2361381" cy="917897"/>
          </a:xfrm>
          <a:custGeom>
            <a:rect b="b" l="l" r="r" t="t"/>
            <a:pathLst>
              <a:path extrusionOk="0" h="917897" w="2361381">
                <a:moveTo>
                  <a:pt x="0" y="0"/>
                </a:moveTo>
                <a:lnTo>
                  <a:pt x="2345876" y="0"/>
                </a:lnTo>
                <a:cubicBezTo>
                  <a:pt x="2349988" y="0"/>
                  <a:pt x="2353932" y="1634"/>
                  <a:pt x="2356840" y="4542"/>
                </a:cubicBezTo>
                <a:cubicBezTo>
                  <a:pt x="2359748" y="7450"/>
                  <a:pt x="2361382" y="11394"/>
                  <a:pt x="2361382" y="15506"/>
                </a:cubicBezTo>
                <a:lnTo>
                  <a:pt x="2361381" y="917897"/>
                </a:lnTo>
                <a:lnTo>
                  <a:pt x="0" y="917897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6286500" y="2645792"/>
            <a:ext cx="14288" cy="917897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6410474" y="2769766"/>
            <a:ext cx="211343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규칙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6410474" y="3042791"/>
            <a:ext cx="211343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CLAUDE.md = 냉장고에 붙은 주방 규칙서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3925119" y="3563689"/>
            <a:ext cx="4722763" cy="719435"/>
          </a:xfrm>
          <a:custGeom>
            <a:rect b="b" l="l" r="r" t="t"/>
            <a:pathLst>
              <a:path extrusionOk="0" h="719435" w="4722763">
                <a:moveTo>
                  <a:pt x="0" y="0"/>
                </a:moveTo>
                <a:lnTo>
                  <a:pt x="4722763" y="0"/>
                </a:lnTo>
                <a:lnTo>
                  <a:pt x="4722763" y="703929"/>
                </a:lnTo>
                <a:cubicBezTo>
                  <a:pt x="4722763" y="712493"/>
                  <a:pt x="4715821" y="719435"/>
                  <a:pt x="4707257" y="719435"/>
                </a:cubicBezTo>
                <a:lnTo>
                  <a:pt x="15506" y="719435"/>
                </a:lnTo>
                <a:cubicBezTo>
                  <a:pt x="6942" y="719435"/>
                  <a:pt x="0" y="712493"/>
                  <a:pt x="0" y="703929"/>
                </a:cubicBez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3925119" y="3563689"/>
            <a:ext cx="4722763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4049092" y="3687663"/>
            <a:ext cx="447481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매뉴얼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049092" y="3960688"/>
            <a:ext cx="447481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Skill = 본사 요리 매뉴얼 (반 공통)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8" name="Google Shape;3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/>
          <p:nvPr/>
        </p:nvSpPr>
        <p:spPr>
          <a:xfrm>
            <a:off x="496119" y="1210494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Claude Desktop일까?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496119" y="1908051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도구가 흩어진 창고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496119" y="2230636"/>
            <a:ext cx="2210098" cy="1122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 Code + 터미널 + 브라우저 + GitHub Desktop 왔다 갔다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명령어를 직접 입력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바뀐 곳을 직접 찾기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화면은 다른 창에서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2924249" y="1784077"/>
            <a:ext cx="2388691" cy="1612404"/>
          </a:xfrm>
          <a:prstGeom prst="roundRect">
            <a:avLst>
              <a:gd fmla="val 115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3048223" y="1908051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😎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요리사 전용 작업대 하나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3048223" y="2230636"/>
            <a:ext cx="2140744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앱 하나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안에서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말로 부탁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바뀐 내용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을 빨강/초록으로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미리보기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가 바로 옆에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대화 · 수정 · 실행 · 저장 한 곳에서!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96119" y="3536007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대화, 파일 수정, 명령 실행, 미리보기, 바뀐 내용 확인, 저장까지 한 곳에서.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이게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 개발실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/>
          <p:nvPr/>
        </p:nvSpPr>
        <p:spPr>
          <a:xfrm>
            <a:off x="496119" y="584299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🗺️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Code 탭 화면 지도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3" name="Google Shape;37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172170"/>
            <a:ext cx="2299395" cy="131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2"/>
          <p:cNvSpPr/>
          <p:nvPr/>
        </p:nvSpPr>
        <p:spPr>
          <a:xfrm>
            <a:off x="1552798" y="1256184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634380" y="1682502"/>
            <a:ext cx="202287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① 왼쪽 — 세션 목록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634380" y="1950765"/>
            <a:ext cx="202287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대화 목록 · ＋ 새 세션 = 작업 노트 한 권씩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9487" y="1172170"/>
            <a:ext cx="2299395" cy="131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2"/>
          <p:cNvSpPr/>
          <p:nvPr/>
        </p:nvSpPr>
        <p:spPr>
          <a:xfrm>
            <a:off x="3976167" y="1256184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3057748" y="1682502"/>
            <a:ext cx="202287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② 가운데 — 대화창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3057748" y="1950765"/>
            <a:ext cx="20228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부탁 · 허락 · 결과 — </a:t>
            </a:r>
            <a:r>
              <a:rPr b="0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핵심 공간!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609924"/>
            <a:ext cx="2299395" cy="131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/>
          <p:nvPr/>
        </p:nvSpPr>
        <p:spPr>
          <a:xfrm>
            <a:off x="1552798" y="2693938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634380" y="3120256"/>
            <a:ext cx="202287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③ 오른쪽 패널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634380" y="3388519"/>
            <a:ext cx="202287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미리보기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바뀐 내용(Diff)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⌨️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터미널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9487" y="2609924"/>
            <a:ext cx="2299395" cy="13137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2"/>
          <p:cNvSpPr/>
          <p:nvPr/>
        </p:nvSpPr>
        <p:spPr>
          <a:xfrm>
            <a:off x="3976167" y="2693938"/>
            <a:ext cx="186035" cy="232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3057748" y="3120256"/>
            <a:ext cx="202287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④ 입력창 아래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057748" y="3388519"/>
            <a:ext cx="20228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폴더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권한 모드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모델 선택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96119" y="4063231"/>
            <a:ext cx="4722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92" y="424301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2"/>
          <p:cNvSpPr/>
          <p:nvPr/>
        </p:nvSpPr>
        <p:spPr>
          <a:xfrm>
            <a:off x="899071" y="4218161"/>
            <a:ext cx="4653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메뉴 이름·위치는 업데이트로 바뀔 수 있어요. 반드시 리허설 캡처로 보여 주세요!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7" name="Google Shape;3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3"/>
          <p:cNvSpPr/>
          <p:nvPr/>
        </p:nvSpPr>
        <p:spPr>
          <a:xfrm>
            <a:off x="3925119" y="739899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⚙️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설정 지도 — 계정 한 번 · 노트북마다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3835822" y="1715319"/>
            <a:ext cx="2388691" cy="1655787"/>
          </a:xfrm>
          <a:prstGeom prst="roundRect">
            <a:avLst>
              <a:gd fmla="val 112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3959796" y="183929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👤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계정 (한 번만 → 모든 노트북)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3959796" y="2161877"/>
            <a:ext cx="2140744" cy="116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📊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사용량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메모리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Skills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🔌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커넥터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🧩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플러그인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6442546" y="183929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💻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노트북마다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6442546" y="2161877"/>
            <a:ext cx="22100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Claude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Claude in Chrome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🖥️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시스템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확장 · 개발자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3925119" y="3510632"/>
            <a:ext cx="4722763" cy="892894"/>
          </a:xfrm>
          <a:prstGeom prst="roundRect">
            <a:avLst>
              <a:gd fmla="val 208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092" y="3690417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/>
          <p:nvPr/>
        </p:nvSpPr>
        <p:spPr>
          <a:xfrm>
            <a:off x="4328071" y="3665562"/>
            <a:ext cx="4195837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수업 계정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하나를 여러 노트북이 같이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쓰기 때문에, 계정 설정은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선생님이 한 번만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합니다. 학생에게는 "선생님이 미리 주방 스위치를 맞춰 뒀어요"라고만 말해도 충분해요.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/>
          <p:nvPr/>
        </p:nvSpPr>
        <p:spPr>
          <a:xfrm>
            <a:off x="496119" y="480343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⚙️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설정 메뉴 체크표 — 켤 것 · 끌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24"/>
          <p:cNvGraphicFramePr/>
          <p:nvPr/>
        </p:nvGraphicFramePr>
        <p:xfrm>
          <a:off x="496119" y="1130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{63AED4A8-E7DA-4069-A96D-CFE5099F2BEA}</a:tableStyleId>
              </a:tblPr>
              <a:tblGrid>
                <a:gridCol w="2717750"/>
                <a:gridCol w="27170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메뉴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수업 권장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왜?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💳 결제 · 📊 사용량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👀 확인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Code 탭 요금제 · 팀 수 × 1시간 여유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🧠 </a:t>
                      </a: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메모리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⛔ </a:t>
                      </a: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끄기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팀끼리 대화가 섞임 → 규칙은 CLAUDE.md에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Claude Code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⚙️ 다음 카드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바이브 코딩 핵심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📚 </a:t>
                      </a: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Skills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vibe-class-coach 1개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모든 팀 같은 규칙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🌐 Chrome · 🔌 커넥터 · 🔑 API 키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⛔ 사용 안 함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계정 · 비밀 노출 길 차단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🧩 플러그인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⛔ 안 쓰는 것 끄기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개발자용 스킬이 끼어들지 않게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🖥️ 시스템 · 확장 · 개발자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✋ 건드리지 않기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리허설 화면과 같게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4" name="Google Shape;414;p24"/>
          <p:cNvSpPr/>
          <p:nvPr/>
        </p:nvSpPr>
        <p:spPr>
          <a:xfrm>
            <a:off x="496119" y="4167113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5" name="Google Shape;4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346897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4"/>
          <p:cNvSpPr/>
          <p:nvPr/>
        </p:nvSpPr>
        <p:spPr>
          <a:xfrm>
            <a:off x="899071" y="4322043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핵심 세 가지: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메모리 끄기, 수업 스킬 1개 켜기, 외부 연결 쓰지 않기.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2" name="Google Shape;4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5"/>
          <p:cNvSpPr/>
          <p:nvPr/>
        </p:nvSpPr>
        <p:spPr>
          <a:xfrm>
            <a:off x="496119" y="1423541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메모리를 끄는 이유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496119" y="2135386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메모리 켜짐 (한 계정 · 여러 팀)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496119" y="2457971"/>
            <a:ext cx="221009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A팀: "우리 서비스 이름은 거북이 코치"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B팀 대화에 "거북이 코치" 등장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무엇을 기억했는지 안 보임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2924249" y="2011412"/>
            <a:ext cx="2388691" cy="1172096"/>
          </a:xfrm>
          <a:prstGeom prst="roundRect">
            <a:avLst>
              <a:gd fmla="val 158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3048223" y="2135386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메모리 끄고 CLAUDE.md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3048223" y="2457971"/>
            <a:ext cx="21407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A팀 저장소의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CLAUDE.md에만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B팀은 B팀 CLAUDE.md만 읽음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규칙이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파일로 보이고 고칠 수 있음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496119" y="3323034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규칙은 메모리(보이지 않는 기억)가 아니라 저장소 안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CLAUDE.md(보이는 파일)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 둡니다. 팀마다 냉장고에 본인 팀 규칙만 붙어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6"/>
          <p:cNvSpPr/>
          <p:nvPr/>
        </p:nvSpPr>
        <p:spPr>
          <a:xfrm>
            <a:off x="496119" y="668313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Claude Code 설정 — 바이브 코딩 핵심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26"/>
          <p:cNvGraphicFramePr/>
          <p:nvPr/>
        </p:nvGraphicFramePr>
        <p:xfrm>
          <a:off x="496119" y="13038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{63AED4A8-E7DA-4069-A96D-CFE5099F2BEA}</a:tableStyleId>
              </a:tblPr>
              <a:tblGrid>
                <a:gridCol w="2717750"/>
                <a:gridCol w="27170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항목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수업 권장값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🍳</a:t>
                      </a: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비유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🛡️ 기본 권한 모드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매번 묻기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요리사가 소금 넣기 전마다 물어봄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🌿 worktree (작업 복사본)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끄기 → 고른 폴더에서 바로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복사본 주방 말고 진짜 주방에서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🔔 알림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켜기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설치 끝나면 "띵!"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🗃️ 자동 보관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끄기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수업 중 노트가 사라지지 않게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☕ 화면 꺼짐 방지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켜기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빌드 중 노트북이 잠들지 않게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📡 원격 조작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끄기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다른 기기에서 조작 ❌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7" name="Google Shape;437;p26"/>
          <p:cNvSpPr/>
          <p:nvPr/>
        </p:nvSpPr>
        <p:spPr>
          <a:xfrm>
            <a:off x="496119" y="3979218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5900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6"/>
          <p:cNvSpPr/>
          <p:nvPr/>
        </p:nvSpPr>
        <p:spPr>
          <a:xfrm>
            <a:off x="899071" y="4134148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항목 이름은 버전마다 조금씩 다릅니다. 리허설 캡처의 실제 이름으로 바꿔 말해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5" name="Google Shape;4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7"/>
          <p:cNvSpPr/>
          <p:nvPr/>
        </p:nvSpPr>
        <p:spPr>
          <a:xfrm>
            <a:off x="3925119" y="888727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🌿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worktree를 끄는 이유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3835822" y="1476598"/>
            <a:ext cx="2388691" cy="1128713"/>
          </a:xfrm>
          <a:prstGeom prst="roundRect">
            <a:avLst>
              <a:gd fmla="val 164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3959796" y="160057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고른 폴더 ·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3959796" y="1923157"/>
            <a:ext cx="2140744" cy="44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push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진짜 가게가 바뀜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Char char="•"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미리보기 = 우리 폴더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6442546" y="160057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복사본 폴더 · 다른 가지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6442546" y="1923157"/>
            <a:ext cx="2210098" cy="63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push가 다른 가지로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🪧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가게가 안 바뀜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미리보기도 다른 폴더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4111154" y="2884363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지금 어느 폴더 · 어느 가지(branch)에서 일하고 있어?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답이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C:\dev\askback-clone-t03 · main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이면 성공!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3925119" y="2744837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7"/>
          <p:cNvSpPr/>
          <p:nvPr/>
        </p:nvSpPr>
        <p:spPr>
          <a:xfrm>
            <a:off x="3925119" y="3560341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092" y="374012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7"/>
          <p:cNvSpPr/>
          <p:nvPr/>
        </p:nvSpPr>
        <p:spPr>
          <a:xfrm>
            <a:off x="4328071" y="3715271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리허설 때 이 질문을 꼭 해 보세요. </a:t>
            </a:r>
            <a:b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수업 당일 "push했는데 가게가 안 바뀌어요"의 1순위 원인입니다.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2" name="Google Shape;4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8"/>
          <p:cNvSpPr/>
          <p:nvPr/>
        </p:nvSpPr>
        <p:spPr>
          <a:xfrm>
            <a:off x="496119" y="872356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Skill이란? — 본사 매뉴얼 vs 우리 가게 메뉴판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496119" y="1971749"/>
            <a:ext cx="2210098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</a:t>
            </a:r>
            <a:b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       = 우리 가게 메뉴판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496119" y="2488183"/>
            <a:ext cx="22100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각 팀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저장소 안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파일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폴더 지도 · 디자인 · 강조 순위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+ Claude가 만듦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바뀌면 그 팀만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2924249" y="1847776"/>
            <a:ext cx="2388691" cy="1607790"/>
          </a:xfrm>
          <a:prstGeom prst="roundRect">
            <a:avLst>
              <a:gd fmla="val 115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"/>
          <p:cNvSpPr/>
          <p:nvPr/>
        </p:nvSpPr>
        <p:spPr>
          <a:xfrm>
            <a:off x="3048223" y="1971749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Skill = 본사 요리 매뉴얼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3048223" y="2294334"/>
            <a:ext cx="2140744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계정 설정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에 한 번 → 모든 노트북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수업 공통 규칙 · 말투 · 진행 순서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Char char="•"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🧑‍🏫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선생님이 미리 준비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바뀌면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모든 팀 한 번에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682154" y="3850988"/>
            <a:ext cx="4536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스킬 = 반 공통 · CLAUDE.md = 팀 전용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"프랜차이즈 본사 매뉴얼은 모든 가게가 같고, 메뉴판은 가게마다 달라요."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496119" y="3711461"/>
            <a:ext cx="14400" cy="67590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6" name="Google Shape;4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9"/>
          <p:cNvSpPr/>
          <p:nvPr/>
        </p:nvSpPr>
        <p:spPr>
          <a:xfrm>
            <a:off x="3925119" y="422672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Skill 올리는 법 — 클릭 4번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8" name="Google Shape;47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010543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9"/>
          <p:cNvSpPr/>
          <p:nvPr/>
        </p:nvSpPr>
        <p:spPr>
          <a:xfrm>
            <a:off x="7741044" y="2352503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내 항목 켜짐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6843322" y="2352503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zip 업로드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5950479" y="2352503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추가 클릭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5057635" y="2352503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Skills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4145276" y="2352503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설정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3835822" y="2922240"/>
            <a:ext cx="2388691" cy="964629"/>
          </a:xfrm>
          <a:prstGeom prst="roundRect">
            <a:avLst>
              <a:gd fmla="val 192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3959796" y="3046214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📦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업로드용 파일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3959796" y="3368799"/>
            <a:ext cx="2597944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ppt/4일차/skills/vibe-class-coach.zip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6442546" y="3046214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내용 파일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6442546" y="3368799"/>
            <a:ext cx="2210098" cy="4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ppt/4일차/skills/vibe-class-coach/SKILL.md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3925119" y="4026396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0" name="Google Shape;49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9092" y="420618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9"/>
          <p:cNvSpPr/>
          <p:nvPr/>
        </p:nvSpPr>
        <p:spPr>
          <a:xfrm>
            <a:off x="4328071" y="4181326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목록의 "</a:t>
            </a:r>
            <a:r>
              <a:rPr b="0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Anthropic 및 파트너 제공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 아래 기본 스킬들과 별개로 "내 항목"에 들어갑니다. 수정하면 zip을 다시 만들어 기존 것을 지우고 다시 업로드하세요.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7" name="Google Shape;4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0"/>
          <p:cNvSpPr/>
          <p:nvPr/>
        </p:nvSpPr>
        <p:spPr>
          <a:xfrm>
            <a:off x="3925119" y="553194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Skill을 준비하는 3가지 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3925119" y="1126778"/>
            <a:ext cx="2299395" cy="1786161"/>
          </a:xfrm>
          <a:prstGeom prst="roundRect">
            <a:avLst>
              <a:gd fmla="val 1042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/>
          <p:nvPr/>
        </p:nvSpPr>
        <p:spPr>
          <a:xfrm>
            <a:off x="4049092" y="1250752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🅰️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zip 업로드 (추천)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4049092" y="1523777"/>
            <a:ext cx="205144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 수업 스킬 그대로 → 계정 전체 적용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6348487" y="1126778"/>
            <a:ext cx="2299395" cy="1786161"/>
          </a:xfrm>
          <a:prstGeom prst="roundRect">
            <a:avLst>
              <a:gd fmla="val 104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6472461" y="1250752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🅱️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skill-creator에게 부탁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6472461" y="1523777"/>
            <a:ext cx="2051447" cy="126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반에 맞게 새로 만들기 · 고치기 → 계정 전체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1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"초·중학생 수업용 스킬 vibe-class-coach를 첨부한 SKILL.md를 바탕으로 고쳐 줘. 답은 3줄 이내, 끝에 항상 '미리보기에서 확인할 곳' 한 줄."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3925119" y="3036912"/>
            <a:ext cx="4722763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"/>
          <p:cNvSpPr/>
          <p:nvPr/>
        </p:nvSpPr>
        <p:spPr>
          <a:xfrm>
            <a:off x="4049092" y="3160886"/>
            <a:ext cx="447481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🅲 저장소 안에 넣기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4049092" y="3429149"/>
            <a:ext cx="4474815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.claude/skills/vibe-class-coach/SKILL.md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그 프로젝트만 (플랜 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3925119" y="3895874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9" name="Google Shape;50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9092" y="4075658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0"/>
          <p:cNvSpPr/>
          <p:nvPr/>
        </p:nvSpPr>
        <p:spPr>
          <a:xfrm>
            <a:off x="4328071" y="4050804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 탭에서 계정 스킬이 안 보이면 🅲로 저장소 안에 넣어 두면</a:t>
            </a:r>
            <a:br>
              <a:rPr lang="ko-KR" sz="950"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그 프로젝트에서는 반드시 읽힙니다.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496119" y="730225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vibe-class-coach가 하는 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7" name="Google Shape;5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80083"/>
            <a:ext cx="4013895" cy="946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1"/>
          <p:cNvSpPr/>
          <p:nvPr/>
        </p:nvSpPr>
        <p:spPr>
          <a:xfrm>
            <a:off x="691530" y="1518345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"시작"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691530" y="1791370"/>
            <a:ext cx="368022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규칙 읽기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📦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설치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서버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미리보기 → 최근 commit 3개 요약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0" name="Google Shape;5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87" y="1380083"/>
            <a:ext cx="4013895" cy="946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1"/>
          <p:cNvSpPr/>
          <p:nvPr/>
        </p:nvSpPr>
        <p:spPr>
          <a:xfrm>
            <a:off x="4829398" y="1518345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"구경시켜 줘"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4829398" y="1791370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✋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안 고침 · 구역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파일 표 ·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분석.md와 다른 곳 3개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450529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1"/>
          <p:cNvSpPr/>
          <p:nvPr/>
        </p:nvSpPr>
        <p:spPr>
          <a:xfrm>
            <a:off x="691530" y="2588791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"○○ 고쳐 줘"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691530" y="2861816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흐릿하면 되묻기 → 고치기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검사 → 확인할 곳 안내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6" name="Google Shape;52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987" y="2450529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1"/>
          <p:cNvSpPr/>
          <p:nvPr/>
        </p:nvSpPr>
        <p:spPr>
          <a:xfrm>
            <a:off x="4829398" y="2588791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"저장하고 올려 줘"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1"/>
          <p:cNvSpPr/>
          <p:nvPr/>
        </p:nvSpPr>
        <p:spPr>
          <a:xfrm>
            <a:off x="4829398" y="2861816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바뀐 내용 3줄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commit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📤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push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새로고침 안내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9" name="Google Shape;5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322513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1"/>
          <p:cNvSpPr/>
          <p:nvPr/>
        </p:nvSpPr>
        <p:spPr>
          <a:xfrm>
            <a:off x="691530" y="3460775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"되돌려 줘"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691530" y="3733800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안전하게 되돌리기 (강제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2" name="Google Shape;5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987" y="3322513"/>
            <a:ext cx="4013895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1"/>
          <p:cNvSpPr/>
          <p:nvPr/>
        </p:nvSpPr>
        <p:spPr>
          <a:xfrm>
            <a:off x="4829398" y="3460775"/>
            <a:ext cx="36802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"규칙 만들어 줘"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1"/>
          <p:cNvSpPr/>
          <p:nvPr/>
        </p:nvSpPr>
        <p:spPr>
          <a:xfrm>
            <a:off x="4829398" y="3733800"/>
            <a:ext cx="36802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CLAUDE.md 틀 채우기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96119" y="4210050"/>
            <a:ext cx="8608963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학생은 이 여섯 마디만 알면 됩니다. 입력창에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시작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처럼 불러요.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1" name="Google Shape;5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2"/>
          <p:cNvSpPr/>
          <p:nvPr/>
        </p:nvSpPr>
        <p:spPr>
          <a:xfrm>
            <a:off x="496119" y="981894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"고쳐 줘"가 들어오면 — 스킬 속 흐름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3" name="Google Shape;54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555477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2"/>
          <p:cNvSpPr/>
          <p:nvPr/>
        </p:nvSpPr>
        <p:spPr>
          <a:xfrm>
            <a:off x="4312044" y="289743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파일 2개 이상?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2"/>
          <p:cNvSpPr/>
          <p:nvPr/>
        </p:nvSpPr>
        <p:spPr>
          <a:xfrm>
            <a:off x="3414322" y="289743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학생이 고름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2521479" y="289743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보여줘 2–3개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2"/>
          <p:cNvSpPr/>
          <p:nvPr/>
        </p:nvSpPr>
        <p:spPr>
          <a:xfrm>
            <a:off x="1628635" y="289743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흐릿하다?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716276" y="289743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고쳐 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496119" y="3467174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92" y="364695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2"/>
          <p:cNvSpPr/>
          <p:nvPr/>
        </p:nvSpPr>
        <p:spPr>
          <a:xfrm>
            <a:off x="899071" y="3622104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"예쁘게 해 줘"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라고 해도 스킬이 알아서 </a:t>
            </a:r>
            <a:r>
              <a:rPr b="0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"어디를 어떻게?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"로 되묻게 되어 있어요. 학생이 부탁 공식을 자연스럽게 배웁니다.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3"/>
          <p:cNvSpPr/>
          <p:nvPr/>
        </p:nvSpPr>
        <p:spPr>
          <a:xfrm>
            <a:off x="496119" y="620613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스킬에 넣어 둔 안전 규칙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496119" y="1270471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9" name="Google Shape;559;p33"/>
          <p:cNvSpPr/>
          <p:nvPr/>
        </p:nvSpPr>
        <p:spPr>
          <a:xfrm>
            <a:off x="899145" y="1313111"/>
            <a:ext cx="774873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프로젝트 폴더 밖은 읽지도 바꾸지도 않는다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496119" y="1797546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1" name="Google Shape;561;p33"/>
          <p:cNvSpPr/>
          <p:nvPr/>
        </p:nvSpPr>
        <p:spPr>
          <a:xfrm>
            <a:off x="899145" y="1840185"/>
            <a:ext cx="774873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🗑️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파일 · 폴더 삭제는 먼저 묻는다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496119" y="2324621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3" name="Google Shape;563;p33"/>
          <p:cNvSpPr/>
          <p:nvPr/>
        </p:nvSpPr>
        <p:spPr>
          <a:xfrm>
            <a:off x="899145" y="2367260"/>
            <a:ext cx="774873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📤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commit · push는 "저장해 줘 / 올려 줘" 할 때만 · main에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496119" y="2851696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5" name="Google Shape;565;p33"/>
          <p:cNvSpPr/>
          <p:nvPr/>
        </p:nvSpPr>
        <p:spPr>
          <a:xfrm>
            <a:off x="899145" y="2894335"/>
            <a:ext cx="774873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🔐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첫 push 로그인 창 → "선생님을 불러 주세요" 하고 멈춤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496119" y="3378771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7" name="Google Shape;567;p33"/>
          <p:cNvSpPr/>
          <p:nvPr/>
        </p:nvSpPr>
        <p:spPr>
          <a:xfrm>
            <a:off x="899145" y="3421410"/>
            <a:ext cx="774873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되돌리기는 안전하게 — 강제 push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3"/>
          <p:cNvSpPr/>
          <p:nvPr/>
        </p:nvSpPr>
        <p:spPr>
          <a:xfrm>
            <a:off x="496119" y="3905845"/>
            <a:ext cx="279053" cy="279053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9" name="Google Shape;569;p33"/>
          <p:cNvSpPr/>
          <p:nvPr/>
        </p:nvSpPr>
        <p:spPr>
          <a:xfrm>
            <a:off x="899145" y="3948485"/>
            <a:ext cx="774873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🔒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이름 · 학교 · 비밀번호가 나오면 쓰지 말라고 알려 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496119" y="4324424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학생이 실수로 위험한 부탁을 해도 스킬이 한 번 더 막아 줍니다. 그래도 </a:t>
            </a: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최종 허락은 사람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해요.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"/>
          <p:cNvSpPr/>
          <p:nvPr/>
        </p:nvSpPr>
        <p:spPr>
          <a:xfrm>
            <a:off x="496119" y="1017910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스킬 관리 규칙 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7" name="Google Shape;5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08026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4"/>
          <p:cNvSpPr/>
          <p:nvPr/>
        </p:nvSpPr>
        <p:spPr>
          <a:xfrm>
            <a:off x="496119" y="1864221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>
            <a:off x="496119" y="1954783"/>
            <a:ext cx="263455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수업 스킬은 1개만 켜기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4"/>
          <p:cNvSpPr/>
          <p:nvPr/>
        </p:nvSpPr>
        <p:spPr>
          <a:xfrm>
            <a:off x="496119" y="2223046"/>
            <a:ext cx="26345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매뉴얼이 여러 권이면 엉뚱한 걸 꺼내요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1" name="Google Shape;58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4648" y="1708026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4"/>
          <p:cNvSpPr/>
          <p:nvPr/>
        </p:nvSpPr>
        <p:spPr>
          <a:xfrm>
            <a:off x="3254648" y="1864221"/>
            <a:ext cx="2634630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4"/>
          <p:cNvSpPr/>
          <p:nvPr/>
        </p:nvSpPr>
        <p:spPr>
          <a:xfrm>
            <a:off x="3254648" y="1954783"/>
            <a:ext cx="263463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안 쓰는 플러그인 스킬은 끄기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3254648" y="2223046"/>
            <a:ext cx="263463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개발자용 매뉴얼이 끼어들지 않게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5" name="Google Shape;58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3252" y="1708026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4"/>
          <p:cNvSpPr/>
          <p:nvPr/>
        </p:nvSpPr>
        <p:spPr>
          <a:xfrm>
            <a:off x="6013252" y="1864221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>
            <a:off x="6013252" y="1954783"/>
            <a:ext cx="263455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고치면 리허설 노트북 1대에서 먼저 시험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6013252" y="2223046"/>
            <a:ext cx="26345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모든 팀에 한 번에 퍼지니까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653978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4"/>
          <p:cNvSpPr/>
          <p:nvPr/>
        </p:nvSpPr>
        <p:spPr>
          <a:xfrm>
            <a:off x="496119" y="2822600"/>
            <a:ext cx="4013820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4"/>
          <p:cNvSpPr/>
          <p:nvPr/>
        </p:nvSpPr>
        <p:spPr>
          <a:xfrm>
            <a:off x="496119" y="2925514"/>
            <a:ext cx="401382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팀마다 다른 내용은 CLAUDE.md에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496119" y="3193777"/>
            <a:ext cx="401382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스킬 = 반 공통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3" name="Google Shape;59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3913" y="2653978"/>
            <a:ext cx="12397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4"/>
          <p:cNvSpPr/>
          <p:nvPr/>
        </p:nvSpPr>
        <p:spPr>
          <a:xfrm>
            <a:off x="4633913" y="2822600"/>
            <a:ext cx="401389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4"/>
          <p:cNvSpPr/>
          <p:nvPr/>
        </p:nvSpPr>
        <p:spPr>
          <a:xfrm>
            <a:off x="4633913" y="2925514"/>
            <a:ext cx="401389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스킬에 비밀번호 · 키 · 실명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4633913" y="3198540"/>
            <a:ext cx="401389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계정 전체에 공유되는 파일이에요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496119" y="3604766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8" name="Google Shape;598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092" y="378455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4"/>
          <p:cNvSpPr/>
          <p:nvPr/>
        </p:nvSpPr>
        <p:spPr>
          <a:xfrm>
            <a:off x="899071" y="3784476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선생님용 카드입니다. 스킬을 고칠 땐 항상 한 대에서 먼저 시험하세요.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/>
          <p:nvPr/>
        </p:nvSpPr>
        <p:spPr>
          <a:xfrm>
            <a:off x="496119" y="341784"/>
            <a:ext cx="8151763" cy="372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REM"/>
              <a:buNone/>
            </a:pPr>
            <a:r>
              <a:rPr b="0" i="0" lang="ko-KR" sz="2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노트북별 최종 점검 (1대당 1분)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6" name="Google Shape;6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932706"/>
            <a:ext cx="4021336" cy="102289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5"/>
          <p:cNvSpPr/>
          <p:nvPr/>
        </p:nvSpPr>
        <p:spPr>
          <a:xfrm>
            <a:off x="2436986" y="1019919"/>
            <a:ext cx="139526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5"/>
          <p:cNvSpPr/>
          <p:nvPr/>
        </p:nvSpPr>
        <p:spPr>
          <a:xfrm>
            <a:off x="626641" y="1397794"/>
            <a:ext cx="3760291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Code 탭 확인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626641" y="1644848"/>
            <a:ext cx="3760291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Code 탭이 보이고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수업 계정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로그인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0" name="Google Shape;6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471" y="932706"/>
            <a:ext cx="4021410" cy="1022896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5"/>
          <p:cNvSpPr/>
          <p:nvPr/>
        </p:nvSpPr>
        <p:spPr>
          <a:xfrm>
            <a:off x="6567339" y="1019919"/>
            <a:ext cx="139526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5"/>
          <p:cNvSpPr/>
          <p:nvPr/>
        </p:nvSpPr>
        <p:spPr>
          <a:xfrm>
            <a:off x="4756993" y="1397794"/>
            <a:ext cx="3760366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메모리 끄기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4756993" y="1644848"/>
            <a:ext cx="3760366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설정 → </a:t>
            </a: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메모리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꺼짐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4" name="Google Shape;6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64618"/>
            <a:ext cx="4021336" cy="102289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5"/>
          <p:cNvSpPr/>
          <p:nvPr/>
        </p:nvSpPr>
        <p:spPr>
          <a:xfrm>
            <a:off x="2436986" y="2151831"/>
            <a:ext cx="139526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626641" y="2529706"/>
            <a:ext cx="3760291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스킬 켜기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626641" y="2776761"/>
            <a:ext cx="3760291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설정 → </a:t>
            </a: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Skills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vibe-class-coach 켜짐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8" name="Google Shape;6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471" y="2064618"/>
            <a:ext cx="4021410" cy="1022896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5"/>
          <p:cNvSpPr/>
          <p:nvPr/>
        </p:nvSpPr>
        <p:spPr>
          <a:xfrm>
            <a:off x="6567339" y="2151831"/>
            <a:ext cx="139526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5"/>
          <p:cNvSpPr/>
          <p:nvPr/>
        </p:nvSpPr>
        <p:spPr>
          <a:xfrm>
            <a:off x="4756993" y="2529706"/>
            <a:ext cx="3760366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Claude Code 설정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5"/>
          <p:cNvSpPr/>
          <p:nvPr/>
        </p:nvSpPr>
        <p:spPr>
          <a:xfrm>
            <a:off x="4756993" y="2776761"/>
            <a:ext cx="3760366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권한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매번 묻기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worktree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2" name="Google Shape;62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196530"/>
            <a:ext cx="4021336" cy="103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5"/>
          <p:cNvSpPr/>
          <p:nvPr/>
        </p:nvSpPr>
        <p:spPr>
          <a:xfrm>
            <a:off x="2436986" y="3283744"/>
            <a:ext cx="139526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5"/>
          <p:cNvSpPr/>
          <p:nvPr/>
        </p:nvSpPr>
        <p:spPr>
          <a:xfrm>
            <a:off x="626641" y="3661618"/>
            <a:ext cx="3760291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외부 연결 끄기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5"/>
          <p:cNvSpPr/>
          <p:nvPr/>
        </p:nvSpPr>
        <p:spPr>
          <a:xfrm>
            <a:off x="626641" y="3908673"/>
            <a:ext cx="3760291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Chrome · </a:t>
            </a: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🔌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커넥터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연결 없음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6" name="Google Shape;62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6471" y="3196530"/>
            <a:ext cx="4021410" cy="103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35"/>
          <p:cNvSpPr/>
          <p:nvPr/>
        </p:nvSpPr>
        <p:spPr>
          <a:xfrm>
            <a:off x="6567339" y="3283744"/>
            <a:ext cx="139526" cy="174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4756993" y="3661618"/>
            <a:ext cx="3760366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최종 확인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4756993" y="3918198"/>
            <a:ext cx="3760366" cy="184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새 세션 → </a:t>
            </a:r>
            <a:r>
              <a:rPr b="0" i="0" lang="ko-KR" sz="9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C:\dev\…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9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시작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미리보기 화면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496119" y="4356348"/>
            <a:ext cx="8151763" cy="445368"/>
          </a:xfrm>
          <a:prstGeom prst="roundRect">
            <a:avLst>
              <a:gd fmla="val 3917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1" name="Google Shape;63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353" y="4511725"/>
            <a:ext cx="145331" cy="11623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5"/>
          <p:cNvSpPr/>
          <p:nvPr/>
        </p:nvSpPr>
        <p:spPr>
          <a:xfrm>
            <a:off x="873919" y="4494386"/>
            <a:ext cx="8114928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수업 전날 노트북마다 6번까지 확인하면 수업 당일 막힘이 크게 줄어요!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"/>
          <p:cNvSpPr/>
          <p:nvPr/>
        </p:nvSpPr>
        <p:spPr>
          <a:xfrm>
            <a:off x="496119" y="403473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🪜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세팅 5단계 — 학생이 하는 순서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682154" y="1549450"/>
            <a:ext cx="2448446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6"/>
          <p:cNvSpPr/>
          <p:nvPr/>
        </p:nvSpPr>
        <p:spPr>
          <a:xfrm>
            <a:off x="620092" y="1921446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1️⃣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 Desktop 열기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620092" y="2194471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Code 탭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선택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3440683" y="1363414"/>
            <a:ext cx="2448520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6"/>
          <p:cNvSpPr/>
          <p:nvPr/>
        </p:nvSpPr>
        <p:spPr>
          <a:xfrm>
            <a:off x="3378622" y="1735410"/>
            <a:ext cx="23866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2️⃣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폴더 선택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3378622" y="2008436"/>
            <a:ext cx="2386682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C:\dev\askback-clone-t03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신뢰 "예"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6"/>
          <p:cNvSpPr/>
          <p:nvPr/>
        </p:nvSpPr>
        <p:spPr>
          <a:xfrm>
            <a:off x="6199287" y="1177379"/>
            <a:ext cx="2448446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6137225" y="1549375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3️⃣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권한 매번 묻기 확인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6137225" y="1822400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입력창 아래에서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6"/>
          <p:cNvSpPr/>
          <p:nvPr/>
        </p:nvSpPr>
        <p:spPr>
          <a:xfrm>
            <a:off x="682154" y="3136999"/>
            <a:ext cx="2448446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6"/>
          <p:cNvSpPr/>
          <p:nvPr/>
        </p:nvSpPr>
        <p:spPr>
          <a:xfrm>
            <a:off x="620092" y="3508995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4️⃣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만들기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620092" y="3782020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규칙서 작성 → "규칙 만들어 줘"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6"/>
          <p:cNvSpPr/>
          <p:nvPr/>
        </p:nvSpPr>
        <p:spPr>
          <a:xfrm>
            <a:off x="3440683" y="2950964"/>
            <a:ext cx="2448520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6"/>
          <p:cNvSpPr/>
          <p:nvPr/>
        </p:nvSpPr>
        <p:spPr>
          <a:xfrm>
            <a:off x="3378622" y="3322960"/>
            <a:ext cx="23866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5️⃣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설치하고 서버 켜기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3378622" y="3595985"/>
            <a:ext cx="23866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"설치하고 서버 켜서 미리보기로 보여 줘"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496119" y="4243983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5" name="Google Shape;65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423767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6"/>
          <p:cNvSpPr/>
          <p:nvPr/>
        </p:nvSpPr>
        <p:spPr>
          <a:xfrm>
            <a:off x="899071" y="4398913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2번(폴더)과 4번(규칙서)이 가장 중요합니다.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여기만 정확하면 나머지는 AI가 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6"/>
          <p:cNvSpPr/>
          <p:nvPr/>
        </p:nvSpPr>
        <p:spPr>
          <a:xfrm>
            <a:off x="496119" y="1425401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8" name="Google Shape;65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36" y="151841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36"/>
          <p:cNvSpPr/>
          <p:nvPr/>
        </p:nvSpPr>
        <p:spPr>
          <a:xfrm>
            <a:off x="3254648" y="1239366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0" name="Google Shape;66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7665" y="1332384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6"/>
          <p:cNvSpPr/>
          <p:nvPr/>
        </p:nvSpPr>
        <p:spPr>
          <a:xfrm>
            <a:off x="6013252" y="1053331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2" name="Google Shape;66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6269" y="114634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6"/>
          <p:cNvSpPr/>
          <p:nvPr/>
        </p:nvSpPr>
        <p:spPr>
          <a:xfrm>
            <a:off x="496119" y="3012951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136" y="310596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6"/>
          <p:cNvSpPr/>
          <p:nvPr/>
        </p:nvSpPr>
        <p:spPr>
          <a:xfrm>
            <a:off x="3254648" y="2826916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6" name="Google Shape;666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7665" y="2919933"/>
            <a:ext cx="186035" cy="1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2" name="Google Shape;6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7"/>
          <p:cNvSpPr/>
          <p:nvPr/>
        </p:nvSpPr>
        <p:spPr>
          <a:xfrm>
            <a:off x="3925119" y="1276127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폴더 선택 = 열쇠 주기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7"/>
          <p:cNvSpPr/>
          <p:nvPr/>
        </p:nvSpPr>
        <p:spPr>
          <a:xfrm>
            <a:off x="3925119" y="198797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집 전체 열쇠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7"/>
          <p:cNvSpPr/>
          <p:nvPr/>
        </p:nvSpPr>
        <p:spPr>
          <a:xfrm>
            <a:off x="3925119" y="2310557"/>
            <a:ext cx="2210098" cy="691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바탕화면 · 문서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C:\dev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(다른 팀 폴더까지 보임)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AI가 엉뚱한 곳을 읽고 고침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7"/>
          <p:cNvSpPr/>
          <p:nvPr/>
        </p:nvSpPr>
        <p:spPr>
          <a:xfrm>
            <a:off x="6353249" y="1863998"/>
            <a:ext cx="2388691" cy="1386334"/>
          </a:xfrm>
          <a:prstGeom prst="roundRect">
            <a:avLst>
              <a:gd fmla="val 1342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7"/>
          <p:cNvSpPr/>
          <p:nvPr/>
        </p:nvSpPr>
        <p:spPr>
          <a:xfrm>
            <a:off x="6477223" y="198797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우리 주방 열쇠 하나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6477223" y="2310557"/>
            <a:ext cx="2140744" cy="828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C:\dev\askback-clone-t03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안에 </a:t>
            </a:r>
            <a:r>
              <a:rPr b="0" i="0" lang="ko-KR" sz="9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package.json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ko-KR" sz="9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ko-KR" sz="9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가 보임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AI는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 폴더 안에서만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일함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7"/>
          <p:cNvSpPr/>
          <p:nvPr/>
        </p:nvSpPr>
        <p:spPr>
          <a:xfrm>
            <a:off x="4111154" y="3529385"/>
            <a:ext cx="4993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"폴더 = AI가 일할 수 있는 범위"예요. 집 전체 열쇠를 주면 안 돼요!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7"/>
          <p:cNvSpPr/>
          <p:nvPr/>
        </p:nvSpPr>
        <p:spPr>
          <a:xfrm>
            <a:off x="3925119" y="3389858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6" name="Google Shape;68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38"/>
          <p:cNvSpPr/>
          <p:nvPr/>
        </p:nvSpPr>
        <p:spPr>
          <a:xfrm>
            <a:off x="496119" y="890141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🚦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권한 모드 = 주방 신호등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496119" y="1478012"/>
            <a:ext cx="2299395" cy="917897"/>
          </a:xfrm>
          <a:prstGeom prst="roundRect">
            <a:avLst>
              <a:gd fmla="val 202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8"/>
          <p:cNvSpPr/>
          <p:nvPr/>
        </p:nvSpPr>
        <p:spPr>
          <a:xfrm>
            <a:off x="620092" y="1601986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매번 묻기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수업 기본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8"/>
          <p:cNvSpPr/>
          <p:nvPr/>
        </p:nvSpPr>
        <p:spPr>
          <a:xfrm>
            <a:off x="620092" y="1875011"/>
            <a:ext cx="20514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고치기 · 명령 전마다 허락.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오늘은 무조건 이걸로!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8"/>
          <p:cNvSpPr/>
          <p:nvPr/>
        </p:nvSpPr>
        <p:spPr>
          <a:xfrm>
            <a:off x="2919487" y="1478012"/>
            <a:ext cx="2299395" cy="917897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8"/>
          <p:cNvSpPr/>
          <p:nvPr/>
        </p:nvSpPr>
        <p:spPr>
          <a:xfrm>
            <a:off x="3043461" y="1601986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수정 자동 허락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8"/>
          <p:cNvSpPr/>
          <p:nvPr/>
        </p:nvSpPr>
        <p:spPr>
          <a:xfrm>
            <a:off x="3043461" y="1875011"/>
            <a:ext cx="20514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파일 수정은 바로, 명령은 물음 → 익숙해지면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8"/>
          <p:cNvSpPr/>
          <p:nvPr/>
        </p:nvSpPr>
        <p:spPr>
          <a:xfrm>
            <a:off x="496119" y="2519883"/>
            <a:ext cx="2299395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8"/>
          <p:cNvSpPr/>
          <p:nvPr/>
        </p:nvSpPr>
        <p:spPr>
          <a:xfrm>
            <a:off x="620092" y="2643857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계획 모드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8"/>
          <p:cNvSpPr/>
          <p:nvPr/>
        </p:nvSpPr>
        <p:spPr>
          <a:xfrm>
            <a:off x="620092" y="2916882"/>
            <a:ext cx="205144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아무것도 안 바꾸고 계획만 → 큰 일 전에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8"/>
          <p:cNvSpPr/>
          <p:nvPr/>
        </p:nvSpPr>
        <p:spPr>
          <a:xfrm>
            <a:off x="2919487" y="2519883"/>
            <a:ext cx="2299395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8"/>
          <p:cNvSpPr/>
          <p:nvPr/>
        </p:nvSpPr>
        <p:spPr>
          <a:xfrm>
            <a:off x="3043461" y="2643857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⚫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묻지 않고 전부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사용 금지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8"/>
          <p:cNvSpPr/>
          <p:nvPr/>
        </p:nvSpPr>
        <p:spPr>
          <a:xfrm>
            <a:off x="3043461" y="2916882"/>
            <a:ext cx="205144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수업에서는 절대 사용하지 않아요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8"/>
          <p:cNvSpPr/>
          <p:nvPr/>
        </p:nvSpPr>
        <p:spPr>
          <a:xfrm>
            <a:off x="682154" y="3518371"/>
            <a:ext cx="4536728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코딩에서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허락 버튼 = 우리의 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"요리사가 소금 넣기 전에 매번 물어보면 귀찮죠? 그런데 오늘은 그게 맞아요. 무엇이 바뀌는지 우리가 알아야 하니까요."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8"/>
          <p:cNvSpPr/>
          <p:nvPr/>
        </p:nvSpPr>
        <p:spPr>
          <a:xfrm>
            <a:off x="496119" y="3378845"/>
            <a:ext cx="14288" cy="87444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9"/>
          <p:cNvSpPr/>
          <p:nvPr/>
        </p:nvSpPr>
        <p:spPr>
          <a:xfrm>
            <a:off x="496119" y="651272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= 냉장고에 붙은 주방 규칙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9"/>
          <p:cNvSpPr/>
          <p:nvPr/>
        </p:nvSpPr>
        <p:spPr>
          <a:xfrm>
            <a:off x="496119" y="1936775"/>
            <a:ext cx="246325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🆕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새 대화 시작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9" name="Google Shape;7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130113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0" name="Google Shape;71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4141" y="1917688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9"/>
          <p:cNvSpPr/>
          <p:nvPr/>
        </p:nvSpPr>
        <p:spPr>
          <a:xfrm>
            <a:off x="6184553" y="1524372"/>
            <a:ext cx="246332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자동으로 읽기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9"/>
          <p:cNvSpPr/>
          <p:nvPr/>
        </p:nvSpPr>
        <p:spPr>
          <a:xfrm>
            <a:off x="6184553" y="1797397"/>
            <a:ext cx="246332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 · 폴더 지도 · 금지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3" name="Google Shape;71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130113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4" name="Google Shape;71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6340" y="1752265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39"/>
          <p:cNvSpPr/>
          <p:nvPr/>
        </p:nvSpPr>
        <p:spPr>
          <a:xfrm>
            <a:off x="6246540" y="2628379"/>
            <a:ext cx="240134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📐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분석.md 읽기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9"/>
          <p:cNvSpPr/>
          <p:nvPr/>
        </p:nvSpPr>
        <p:spPr>
          <a:xfrm>
            <a:off x="6246540" y="2901404"/>
            <a:ext cx="240134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필요하면 설계도 참고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7" name="Google Shape;717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130113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8" name="Google Shape;718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62848" y="2806489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9"/>
          <p:cNvSpPr/>
          <p:nvPr/>
        </p:nvSpPr>
        <p:spPr>
          <a:xfrm>
            <a:off x="6184553" y="3732386"/>
            <a:ext cx="246332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우리 부탁 처리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0" name="Google Shape;720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5408" y="130113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1" name="Google Shape;721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9811" y="3623407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39"/>
          <p:cNvSpPr/>
          <p:nvPr/>
        </p:nvSpPr>
        <p:spPr>
          <a:xfrm>
            <a:off x="496119" y="3319909"/>
            <a:ext cx="246325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규칙 한 줄 추가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9"/>
          <p:cNvSpPr/>
          <p:nvPr/>
        </p:nvSpPr>
        <p:spPr>
          <a:xfrm>
            <a:off x="496119" y="3592934"/>
            <a:ext cx="246325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실수 반복? → 규칙이 자란다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4" name="Google Shape;724;p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5408" y="130113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5" name="Google Shape;725;p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82330" y="3074157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39"/>
          <p:cNvSpPr/>
          <p:nvPr/>
        </p:nvSpPr>
        <p:spPr>
          <a:xfrm>
            <a:off x="496119" y="429376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매번 같은 말을 반복하지 않아도 돼요.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규칙서는 자랍니다!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회사 개발팀도 이렇게 규칙서를 키워요. AI가 실수할 때마다 화내지 말고 규칙을 한 줄 추가!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0"/>
          <p:cNvSpPr/>
          <p:nvPr/>
        </p:nvSpPr>
        <p:spPr>
          <a:xfrm>
            <a:off x="496119" y="1029072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틀 — 5칸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496119" y="1678930"/>
            <a:ext cx="2634555" cy="951235"/>
          </a:xfrm>
          <a:prstGeom prst="roundRect">
            <a:avLst>
              <a:gd fmla="val 195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0"/>
          <p:cNvSpPr/>
          <p:nvPr/>
        </p:nvSpPr>
        <p:spPr>
          <a:xfrm>
            <a:off x="634343" y="1817191"/>
            <a:ext cx="235803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이 프로젝트는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0"/>
          <p:cNvSpPr/>
          <p:nvPr/>
        </p:nvSpPr>
        <p:spPr>
          <a:xfrm>
            <a:off x="634380" y="2085454"/>
            <a:ext cx="235803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교육용 클론 · 서비스 이름 · 프론트만 · 설계도 = 분석.md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0"/>
          <p:cNvSpPr/>
          <p:nvPr/>
        </p:nvSpPr>
        <p:spPr>
          <a:xfrm>
            <a:off x="3254648" y="1678930"/>
            <a:ext cx="2634630" cy="951235"/>
          </a:xfrm>
          <a:prstGeom prst="roundRect">
            <a:avLst>
              <a:gd fmla="val 195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0"/>
          <p:cNvSpPr/>
          <p:nvPr/>
        </p:nvSpPr>
        <p:spPr>
          <a:xfrm>
            <a:off x="3392909" y="1817191"/>
            <a:ext cx="235810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폴더 지도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3392909" y="2085454"/>
            <a:ext cx="2358107" cy="4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lib/repo.ts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app/p/[id]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components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0"/>
          <p:cNvSpPr/>
          <p:nvPr/>
        </p:nvSpPr>
        <p:spPr>
          <a:xfrm>
            <a:off x="6013252" y="1678930"/>
            <a:ext cx="2634555" cy="951235"/>
          </a:xfrm>
          <a:prstGeom prst="roundRect">
            <a:avLst>
              <a:gd fmla="val 1956" name="adj"/>
            </a:avLst>
          </a:prstGeom>
          <a:solidFill>
            <a:srgbClr val="FBFCFE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0"/>
          <p:cNvSpPr/>
          <p:nvPr/>
        </p:nvSpPr>
        <p:spPr>
          <a:xfrm>
            <a:off x="6151476" y="1817191"/>
            <a:ext cx="235803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꼭 지킬 것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6151513" y="2090217"/>
            <a:ext cx="235803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번에 하나 · 서버·로그인·키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고친 뒤 build · push는 말할 때만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0"/>
          <p:cNvSpPr/>
          <p:nvPr/>
        </p:nvSpPr>
        <p:spPr>
          <a:xfrm>
            <a:off x="496119" y="2754139"/>
            <a:ext cx="4013820" cy="743248"/>
          </a:xfrm>
          <a:prstGeom prst="roundRect">
            <a:avLst>
              <a:gd fmla="val 2503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40"/>
          <p:cNvSpPr/>
          <p:nvPr/>
        </p:nvSpPr>
        <p:spPr>
          <a:xfrm>
            <a:off x="634380" y="2892400"/>
            <a:ext cx="3737297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디자인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0"/>
          <p:cNvSpPr/>
          <p:nvPr/>
        </p:nvSpPr>
        <p:spPr>
          <a:xfrm>
            <a:off x="634380" y="3160663"/>
            <a:ext cx="373729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남색 우주 · 노랑 강조 · 모서리 16px · 휴대폰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0"/>
          <p:cNvSpPr/>
          <p:nvPr/>
        </p:nvSpPr>
        <p:spPr>
          <a:xfrm>
            <a:off x="4633913" y="2754139"/>
            <a:ext cx="4013895" cy="743248"/>
          </a:xfrm>
          <a:prstGeom prst="roundRect">
            <a:avLst>
              <a:gd fmla="val 2503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0"/>
          <p:cNvSpPr/>
          <p:nvPr/>
        </p:nvSpPr>
        <p:spPr>
          <a:xfrm>
            <a:off x="4772137" y="2892400"/>
            <a:ext cx="373737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강조 순위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0"/>
          <p:cNvSpPr/>
          <p:nvPr/>
        </p:nvSpPr>
        <p:spPr>
          <a:xfrm>
            <a:off x="4772174" y="3160663"/>
            <a:ext cx="37373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🙋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되물음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5단계 → 결론 첫 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0"/>
          <p:cNvSpPr/>
          <p:nvPr/>
        </p:nvSpPr>
        <p:spPr>
          <a:xfrm>
            <a:off x="682154" y="3776439"/>
            <a:ext cx="8422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"분석.md 와 이 폴더를 읽고 CLAUDE.md 를 만들어 줘.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틀을 그대로 쓰고 ____ 칸과 폴더 지도는 실제 폴더를 보고 채워 줘. 다른 파일은 바꾸지 마."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0"/>
          <p:cNvSpPr/>
          <p:nvPr/>
        </p:nvSpPr>
        <p:spPr>
          <a:xfrm>
            <a:off x="496119" y="3636913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/>
          <p:nvPr/>
        </p:nvSpPr>
        <p:spPr>
          <a:xfrm>
            <a:off x="496119" y="554459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명령어 대신 한 마디 — 설치 · 서버 · 미리보기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1"/>
          <p:cNvSpPr/>
          <p:nvPr/>
        </p:nvSpPr>
        <p:spPr>
          <a:xfrm>
            <a:off x="682154" y="1343844"/>
            <a:ext cx="7965728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시작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(또는) 필요한 것을 설치하고 개발 서버를 켜서 오른쪽 미리보기 창에 보여 줘.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1"/>
          <p:cNvSpPr/>
          <p:nvPr/>
        </p:nvSpPr>
        <p:spPr>
          <a:xfrm>
            <a:off x="496119" y="1204317"/>
            <a:ext cx="14288" cy="68074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8" name="Google Shape;7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132" y="2024583"/>
            <a:ext cx="4465662" cy="1928887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1"/>
          <p:cNvSpPr/>
          <p:nvPr/>
        </p:nvSpPr>
        <p:spPr>
          <a:xfrm>
            <a:off x="3404772" y="3290715"/>
            <a:ext cx="663000" cy="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npm 허락?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1"/>
          <p:cNvSpPr/>
          <p:nvPr/>
        </p:nvSpPr>
        <p:spPr>
          <a:xfrm>
            <a:off x="3404772" y="3515651"/>
            <a:ext cx="6630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 실행을 허락받기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1"/>
          <p:cNvSpPr/>
          <p:nvPr/>
        </p:nvSpPr>
        <p:spPr>
          <a:xfrm>
            <a:off x="5107341" y="3290715"/>
            <a:ext cx="663000" cy="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 Slab"/>
              <a:buNone/>
            </a:pP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서버 허락?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1"/>
          <p:cNvSpPr/>
          <p:nvPr/>
        </p:nvSpPr>
        <p:spPr>
          <a:xfrm>
            <a:off x="5107341" y="3515651"/>
            <a:ext cx="6630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미리보기 서버 실행 허가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1"/>
          <p:cNvSpPr/>
          <p:nvPr/>
        </p:nvSpPr>
        <p:spPr>
          <a:xfrm>
            <a:off x="2555601" y="2198634"/>
            <a:ext cx="663061" cy="12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부탁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1"/>
          <p:cNvSpPr/>
          <p:nvPr/>
        </p:nvSpPr>
        <p:spPr>
          <a:xfrm>
            <a:off x="2555601" y="2435206"/>
            <a:ext cx="6630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설치와 미리보기 요청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1"/>
          <p:cNvSpPr/>
          <p:nvPr/>
        </p:nvSpPr>
        <p:spPr>
          <a:xfrm>
            <a:off x="5931218" y="2198634"/>
            <a:ext cx="663061" cy="12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클론 화면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1"/>
          <p:cNvSpPr/>
          <p:nvPr/>
        </p:nvSpPr>
        <p:spPr>
          <a:xfrm>
            <a:off x="5931218" y="2435206"/>
            <a:ext cx="663000" cy="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 미리보기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1"/>
          <p:cNvSpPr/>
          <p:nvPr/>
        </p:nvSpPr>
        <p:spPr>
          <a:xfrm>
            <a:off x="4266623" y="2198634"/>
            <a:ext cx="663061" cy="120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 Slab"/>
              <a:buNone/>
            </a:pP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재료 배달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1"/>
          <p:cNvSpPr/>
          <p:nvPr/>
        </p:nvSpPr>
        <p:spPr>
          <a:xfrm>
            <a:off x="4266623" y="2423569"/>
            <a:ext cx="663000" cy="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패키지 설치(1–3분)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1"/>
          <p:cNvSpPr/>
          <p:nvPr/>
        </p:nvSpPr>
        <p:spPr>
          <a:xfrm>
            <a:off x="496119" y="4092997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0" name="Google Shape;77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27278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1"/>
          <p:cNvSpPr/>
          <p:nvPr/>
        </p:nvSpPr>
        <p:spPr>
          <a:xfrm>
            <a:off x="899071" y="4247927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여기까지 오면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개발실 완성!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1교시에 직접 쳤던 npm 명령을 이제 AI가 허락받고 대신 해 줍니다.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7" name="Google Shape;77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2"/>
          <p:cNvSpPr/>
          <p:nvPr/>
        </p:nvSpPr>
        <p:spPr>
          <a:xfrm>
            <a:off x="3925119" y="423788"/>
            <a:ext cx="4722763" cy="353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EM"/>
              <a:buNone/>
            </a:pPr>
            <a:r>
              <a:rPr b="0" i="0" lang="ko-KR" sz="2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첫 부탁은 "구경만"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2"/>
          <p:cNvSpPr/>
          <p:nvPr/>
        </p:nvSpPr>
        <p:spPr>
          <a:xfrm>
            <a:off x="4087862" y="1026468"/>
            <a:ext cx="4560019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프로젝트를 초등학생도 알게 설명해 줘.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1) 6구역은 각각 어느 파일에 있어?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2) 데이터는 어디서 와?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3) 미리보기 화면과 분석.md 를 비교해서 다른 곳 3개를 목록으로만 알려 줘. 아직 아무것도 고치지 마.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2"/>
          <p:cNvSpPr/>
          <p:nvPr/>
        </p:nvSpPr>
        <p:spPr>
          <a:xfrm>
            <a:off x="3925119" y="919683"/>
            <a:ext cx="14288" cy="86484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1" name="Google Shape;78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100772"/>
            <a:ext cx="4722763" cy="216143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2"/>
          <p:cNvSpPr/>
          <p:nvPr/>
        </p:nvSpPr>
        <p:spPr>
          <a:xfrm>
            <a:off x="7541347" y="3644199"/>
            <a:ext cx="8868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다듬기 루프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2"/>
          <p:cNvSpPr/>
          <p:nvPr/>
        </p:nvSpPr>
        <p:spPr>
          <a:xfrm>
            <a:off x="6423920" y="3644199"/>
            <a:ext cx="8868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다른 곳 3개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2"/>
          <p:cNvSpPr/>
          <p:nvPr/>
        </p:nvSpPr>
        <p:spPr>
          <a:xfrm>
            <a:off x="5312565" y="3644199"/>
            <a:ext cx="8868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구역·파일 파악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2"/>
          <p:cNvSpPr/>
          <p:nvPr/>
        </p:nvSpPr>
        <p:spPr>
          <a:xfrm>
            <a:off x="4176919" y="3644199"/>
            <a:ext cx="8868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구경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2"/>
          <p:cNvSpPr/>
          <p:nvPr/>
        </p:nvSpPr>
        <p:spPr>
          <a:xfrm>
            <a:off x="3925119" y="4159523"/>
            <a:ext cx="4722763" cy="560189"/>
          </a:xfrm>
          <a:prstGeom prst="roundRect">
            <a:avLst>
              <a:gd fmla="val 290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7" name="Google Shape;78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3614" y="4296147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2"/>
          <p:cNvSpPr/>
          <p:nvPr/>
        </p:nvSpPr>
        <p:spPr>
          <a:xfrm>
            <a:off x="4277767" y="4281562"/>
            <a:ext cx="4261619" cy="325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새 요리사에게 주방 구경부터 시키는 것처럼,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AI가 무엇을 이해했는지 먼저 확인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해야 엉뚱하게 고치지 않아요!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3"/>
          <p:cNvSpPr/>
          <p:nvPr/>
        </p:nvSpPr>
        <p:spPr>
          <a:xfrm>
            <a:off x="496119" y="862236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📘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세션 시작 의식 — 매번 30초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5" name="Google Shape;79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12094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3"/>
          <p:cNvSpPr/>
          <p:nvPr/>
        </p:nvSpPr>
        <p:spPr>
          <a:xfrm>
            <a:off x="620092" y="2132186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＋ 새 세션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7" name="Google Shape;79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512094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43"/>
          <p:cNvSpPr/>
          <p:nvPr/>
        </p:nvSpPr>
        <p:spPr>
          <a:xfrm>
            <a:off x="3337322" y="2132186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폴더 선택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3"/>
          <p:cNvSpPr/>
          <p:nvPr/>
        </p:nvSpPr>
        <p:spPr>
          <a:xfrm>
            <a:off x="3337322" y="2405211"/>
            <a:ext cx="24692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저장소?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0" name="Google Shape;80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512094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43"/>
          <p:cNvSpPr/>
          <p:nvPr/>
        </p:nvSpPr>
        <p:spPr>
          <a:xfrm>
            <a:off x="6054551" y="2132186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매번 묻기?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3"/>
          <p:cNvSpPr/>
          <p:nvPr/>
        </p:nvSpPr>
        <p:spPr>
          <a:xfrm>
            <a:off x="6054551" y="2405211"/>
            <a:ext cx="24692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권한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3" name="Google Shape;803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4696" y="2727647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3"/>
          <p:cNvSpPr/>
          <p:nvPr/>
        </p:nvSpPr>
        <p:spPr>
          <a:xfrm>
            <a:off x="1978633" y="3347740"/>
            <a:ext cx="24692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/vibe-class-coach 시작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5" name="Google Shape;80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1926" y="2727647"/>
            <a:ext cx="2717304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3"/>
          <p:cNvSpPr/>
          <p:nvPr/>
        </p:nvSpPr>
        <p:spPr>
          <a:xfrm>
            <a:off x="4695862" y="3347740"/>
            <a:ext cx="246935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미리보기 화면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3"/>
          <p:cNvSpPr/>
          <p:nvPr/>
        </p:nvSpPr>
        <p:spPr>
          <a:xfrm>
            <a:off x="4695899" y="3620765"/>
            <a:ext cx="246935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이게 되면 시작!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3"/>
          <p:cNvSpPr/>
          <p:nvPr/>
        </p:nvSpPr>
        <p:spPr>
          <a:xfrm>
            <a:off x="496119" y="4082728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잘못되면: 다른 팀 폴더 → 세션 닫고 다시 / 권한이 다른 모드</a:t>
            </a:r>
            <a:br>
              <a:rPr lang="ko-KR" sz="12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입력창 아래에서 바꾸기 / 미리보기가 빈 화면 → </a:t>
            </a:r>
            <a:r>
              <a:rPr b="0" i="1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"개발 서버 로그를 보고 왜 안 나오는지 알려 줘."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4"/>
          <p:cNvSpPr/>
          <p:nvPr/>
        </p:nvSpPr>
        <p:spPr>
          <a:xfrm>
            <a:off x="496119" y="1231925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⌨️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입력창 도구 5가지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5" name="Google Shape;8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81783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4"/>
          <p:cNvSpPr/>
          <p:nvPr/>
        </p:nvSpPr>
        <p:spPr>
          <a:xfrm>
            <a:off x="961206" y="1881783"/>
            <a:ext cx="214878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/ 슬래시 — 매뉴얼 펼치기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961206" y="2150046"/>
            <a:ext cx="2148780" cy="2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저장하고 올려 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8" name="Google Shape;81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881783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4"/>
          <p:cNvSpPr/>
          <p:nvPr/>
        </p:nvSpPr>
        <p:spPr>
          <a:xfrm>
            <a:off x="3730079" y="1881783"/>
            <a:ext cx="214885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@ 파일 지목 — 가장 강력!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3730079" y="2150046"/>
            <a:ext cx="2148855" cy="4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@components/StageCards.tsx 화살표만 키워 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1" name="Google Shape;82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881783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4"/>
          <p:cNvSpPr/>
          <p:nvPr/>
        </p:nvSpPr>
        <p:spPr>
          <a:xfrm>
            <a:off x="6499027" y="1881783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📎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스크린샷 — 사진으로 설명!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4"/>
          <p:cNvSpPr/>
          <p:nvPr/>
        </p:nvSpPr>
        <p:spPr>
          <a:xfrm>
            <a:off x="6499027" y="2154808"/>
            <a:ext cx="21488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빨간 동그라미 친 곳이 잘려. 고쳐 줘.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804517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44"/>
          <p:cNvSpPr/>
          <p:nvPr/>
        </p:nvSpPr>
        <p:spPr>
          <a:xfrm>
            <a:off x="961206" y="2804517"/>
            <a:ext cx="214878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⏹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멈춤 · Esc — "스톱!"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961206" y="3077542"/>
            <a:ext cx="21487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잠깐, ○○만 고쳐 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7" name="Google Shape;827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2804517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4"/>
          <p:cNvSpPr/>
          <p:nvPr/>
        </p:nvSpPr>
        <p:spPr>
          <a:xfrm>
            <a:off x="3730079" y="2804517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권한 모드 — 신호 바꾸기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4"/>
          <p:cNvSpPr/>
          <p:nvPr/>
        </p:nvSpPr>
        <p:spPr>
          <a:xfrm>
            <a:off x="3730079" y="3077542"/>
            <a:ext cx="21488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큰 일 전 계획 모드로 전환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4"/>
          <p:cNvSpPr/>
          <p:nvPr/>
        </p:nvSpPr>
        <p:spPr>
          <a:xfrm>
            <a:off x="496119" y="3415531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1" name="Google Shape;831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092" y="359531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44"/>
          <p:cNvSpPr/>
          <p:nvPr/>
        </p:nvSpPr>
        <p:spPr>
          <a:xfrm>
            <a:off x="899071" y="3570461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@ 와 스크린샷이 가장 강력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"어디"를 정확히 알려줄 수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/>
          <p:nvPr/>
        </p:nvSpPr>
        <p:spPr>
          <a:xfrm>
            <a:off x="496119" y="478408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허락 창 3초 체크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9" name="Google Shape;8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407" y="1128266"/>
            <a:ext cx="6339185" cy="29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45"/>
          <p:cNvSpPr/>
          <p:nvPr/>
        </p:nvSpPr>
        <p:spPr>
          <a:xfrm>
            <a:off x="6256361" y="3340565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허락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5"/>
          <p:cNvSpPr/>
          <p:nvPr/>
        </p:nvSpPr>
        <p:spPr>
          <a:xfrm>
            <a:off x="4756456" y="3340565"/>
            <a:ext cx="1190143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얼마나?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5"/>
          <p:cNvSpPr/>
          <p:nvPr/>
        </p:nvSpPr>
        <p:spPr>
          <a:xfrm>
            <a:off x="3264702" y="3340565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어디를?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5"/>
          <p:cNvSpPr/>
          <p:nvPr/>
        </p:nvSpPr>
        <p:spPr>
          <a:xfrm>
            <a:off x="1740341" y="3340565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무엇을?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5"/>
          <p:cNvSpPr/>
          <p:nvPr/>
        </p:nvSpPr>
        <p:spPr>
          <a:xfrm>
            <a:off x="496119" y="4169048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5" name="Google Shape;84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34883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45"/>
          <p:cNvSpPr/>
          <p:nvPr/>
        </p:nvSpPr>
        <p:spPr>
          <a:xfrm>
            <a:off x="899071" y="4323978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허락 창을 안 읽고 연속 클릭하는 것 = 지휘자가 악보를 안 보는 것. </a:t>
            </a:r>
            <a:r>
              <a:rPr b="1" i="0" lang="ko-KR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팀이 함께 3초!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6"/>
          <p:cNvSpPr/>
          <p:nvPr/>
        </p:nvSpPr>
        <p:spPr>
          <a:xfrm>
            <a:off x="496119" y="865436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🪟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오른쪽 패널 +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🙅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하지 않을 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3" name="Google Shape;853;p46"/>
          <p:cNvGraphicFramePr/>
          <p:nvPr/>
        </p:nvGraphicFramePr>
        <p:xfrm>
          <a:off x="496119" y="15152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{63AED4A8-E7DA-4069-A96D-CFE5099F2BEA}</a:tableStyleId>
              </a:tblPr>
              <a:tblGrid>
                <a:gridCol w="2380275"/>
                <a:gridCol w="2495900"/>
                <a:gridCol w="32755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패널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언제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확인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👀 미리보기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고친 직후 매번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바뀐 곳 ·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다른 곳 안 깨졌나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· 좁은 폭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🔍 바뀐 내용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저장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전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부탁한 파일만?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⌨️ 터미널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빈 화면 · 에러 빨간 글씨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→ Claude에게 보여 주기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4" name="Google Shape;854;p46"/>
          <p:cNvSpPr/>
          <p:nvPr/>
        </p:nvSpPr>
        <p:spPr>
          <a:xfrm>
            <a:off x="496119" y="3229868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하지 않을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6"/>
          <p:cNvSpPr/>
          <p:nvPr/>
        </p:nvSpPr>
        <p:spPr>
          <a:xfrm>
            <a:off x="496119" y="3552453"/>
            <a:ext cx="392459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세션에서 하루 종일 (큰 일 끝 + 저장 → 새 세션)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"다 알아서 해 줘" (부탁 공식 · 한 번에 하나)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대화창에 이름 · 학교 · 비밀번호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6"/>
          <p:cNvSpPr/>
          <p:nvPr/>
        </p:nvSpPr>
        <p:spPr>
          <a:xfrm>
            <a:off x="4638749" y="3105894"/>
            <a:ext cx="4103191" cy="1172096"/>
          </a:xfrm>
          <a:prstGeom prst="roundRect">
            <a:avLst>
              <a:gd fmla="val 158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6"/>
          <p:cNvSpPr/>
          <p:nvPr/>
        </p:nvSpPr>
        <p:spPr>
          <a:xfrm>
            <a:off x="4762723" y="3229868"/>
            <a:ext cx="38552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대신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6"/>
          <p:cNvSpPr/>
          <p:nvPr/>
        </p:nvSpPr>
        <p:spPr>
          <a:xfrm>
            <a:off x="4762723" y="3552453"/>
            <a:ext cx="38552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큰 일 끝 + 저장 →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새 세션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부탁 공식 · 한 번에 하나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가짜 이름 · 예시 데이터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7"/>
          <p:cNvSpPr/>
          <p:nvPr/>
        </p:nvSpPr>
        <p:spPr>
          <a:xfrm>
            <a:off x="496119" y="421556"/>
            <a:ext cx="869454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7"/>
          <p:cNvSpPr/>
          <p:nvPr/>
        </p:nvSpPr>
        <p:spPr>
          <a:xfrm>
            <a:off x="570533" y="462444"/>
            <a:ext cx="1177826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④ 네 번째 정거장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7"/>
          <p:cNvSpPr/>
          <p:nvPr/>
        </p:nvSpPr>
        <p:spPr>
          <a:xfrm>
            <a:off x="496119" y="659681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④ 다듬기 루프 — 조금씩, 한 번에 하나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7"/>
          <p:cNvSpPr/>
          <p:nvPr/>
        </p:nvSpPr>
        <p:spPr>
          <a:xfrm>
            <a:off x="496119" y="1640997"/>
            <a:ext cx="246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말하기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7"/>
          <p:cNvSpPr/>
          <p:nvPr/>
        </p:nvSpPr>
        <p:spPr>
          <a:xfrm>
            <a:off x="496119" y="1937296"/>
            <a:ext cx="246325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하나만 부탁 (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🎩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기획자)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9" name="Google Shape;86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1233264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0" name="Google Shape;87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4141" y="1849822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47"/>
          <p:cNvSpPr/>
          <p:nvPr/>
        </p:nvSpPr>
        <p:spPr>
          <a:xfrm>
            <a:off x="6184553" y="1387691"/>
            <a:ext cx="246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🛡️</a:t>
            </a: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허락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7"/>
          <p:cNvSpPr/>
          <p:nvPr/>
        </p:nvSpPr>
        <p:spPr>
          <a:xfrm>
            <a:off x="6184553" y="1683990"/>
            <a:ext cx="246332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계획 · 바뀐 내용 읽기 (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🎩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탐정)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3" name="Google Shape;87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1233264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4" name="Google Shape;874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6340" y="1684400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47"/>
          <p:cNvSpPr/>
          <p:nvPr/>
        </p:nvSpPr>
        <p:spPr>
          <a:xfrm>
            <a:off x="6246540" y="2400764"/>
            <a:ext cx="2401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확인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7"/>
          <p:cNvSpPr/>
          <p:nvPr/>
        </p:nvSpPr>
        <p:spPr>
          <a:xfrm>
            <a:off x="6246540" y="2697063"/>
            <a:ext cx="240134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미리보기 · 휴대폰 폭 (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🎩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실행자)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7" name="Google Shape;877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1233264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8" name="Google Shape;878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62848" y="2738624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47"/>
          <p:cNvSpPr/>
          <p:nvPr/>
        </p:nvSpPr>
        <p:spPr>
          <a:xfrm>
            <a:off x="6184553" y="3413837"/>
            <a:ext cx="246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저장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7"/>
          <p:cNvSpPr/>
          <p:nvPr/>
        </p:nvSpPr>
        <p:spPr>
          <a:xfrm>
            <a:off x="6184553" y="3710136"/>
            <a:ext cx="246332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"저장하고 올려 줘" (모두 동의)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1" name="Google Shape;881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5408" y="1233264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2" name="Google Shape;882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9811" y="3555541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7"/>
          <p:cNvSpPr/>
          <p:nvPr/>
        </p:nvSpPr>
        <p:spPr>
          <a:xfrm>
            <a:off x="496119" y="3160532"/>
            <a:ext cx="2463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자동 배포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7"/>
          <p:cNvSpPr/>
          <p:nvPr/>
        </p:nvSpPr>
        <p:spPr>
          <a:xfrm>
            <a:off x="496119" y="3456831"/>
            <a:ext cx="246325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가게 새로고침 → 다시 1로!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5" name="Google Shape;885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5408" y="1233264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6" name="Google Shape;886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82330" y="3006291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47"/>
          <p:cNvSpPr/>
          <p:nvPr/>
        </p:nvSpPr>
        <p:spPr>
          <a:xfrm>
            <a:off x="496119" y="4225900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8" name="Google Shape;888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0092" y="440568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7"/>
          <p:cNvSpPr/>
          <p:nvPr/>
        </p:nvSpPr>
        <p:spPr>
          <a:xfrm>
            <a:off x="899071" y="4380830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이상하면? → </a:t>
            </a:r>
            <a:r>
              <a:rPr b="0" i="1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"방금 바꾼 거 되돌려 줘."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→ 다시 1로. 팀원 세 명이 역할을 나눠 루프를 돕니다. 한 바퀴 = 3~4분이 목표!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5" name="Google Shape;89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48"/>
          <p:cNvSpPr/>
          <p:nvPr/>
        </p:nvSpPr>
        <p:spPr>
          <a:xfrm>
            <a:off x="496119" y="569342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부탁 공식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8"/>
          <p:cNvSpPr/>
          <p:nvPr/>
        </p:nvSpPr>
        <p:spPr>
          <a:xfrm>
            <a:off x="682154" y="1296739"/>
            <a:ext cx="4993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"[어디]의 [무엇]이 지금 [이래]. [이렇게] 바꿔 줘. 다른 건 바꾸지 마."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8"/>
          <p:cNvSpPr/>
          <p:nvPr/>
        </p:nvSpPr>
        <p:spPr>
          <a:xfrm>
            <a:off x="496119" y="1157213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8"/>
          <p:cNvSpPr/>
          <p:nvPr/>
        </p:nvSpPr>
        <p:spPr>
          <a:xfrm>
            <a:off x="496119" y="1898228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흐릿한 부탁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8"/>
          <p:cNvSpPr/>
          <p:nvPr/>
        </p:nvSpPr>
        <p:spPr>
          <a:xfrm>
            <a:off x="496119" y="2220813"/>
            <a:ext cx="221009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 예쁘게 해 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되물음 강조해 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휴대폰 고쳐 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8"/>
          <p:cNvSpPr/>
          <p:nvPr/>
        </p:nvSpPr>
        <p:spPr>
          <a:xfrm>
            <a:off x="2924250" y="1774250"/>
            <a:ext cx="2388600" cy="2326500"/>
          </a:xfrm>
          <a:prstGeom prst="roundRect">
            <a:avLst>
              <a:gd fmla="val 94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8"/>
          <p:cNvSpPr/>
          <p:nvPr/>
        </p:nvSpPr>
        <p:spPr>
          <a:xfrm>
            <a:off x="3048223" y="1898228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⭕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공식 부탁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8"/>
          <p:cNvSpPr/>
          <p:nvPr/>
        </p:nvSpPr>
        <p:spPr>
          <a:xfrm>
            <a:off x="3048223" y="2220813"/>
            <a:ext cx="2140744" cy="147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5단계 카드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의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화살표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가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너무 작아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2배 크게, 노란색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으로. 다른 건 바꾸지 마.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답 카드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의 "하나만 되물을게"가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다른 글과 같아 보여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노란 왼쪽 띠 + 연노랑 배경 + 큰 글씨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로.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폭 375px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일 때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5단계 카드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가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잘려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카드 줄만 가로 스크롤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로.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8"/>
          <p:cNvSpPr/>
          <p:nvPr/>
        </p:nvSpPr>
        <p:spPr>
          <a:xfrm>
            <a:off x="496125" y="4177254"/>
            <a:ext cx="4722900" cy="396900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5" name="Google Shape;90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31552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8"/>
          <p:cNvSpPr/>
          <p:nvPr/>
        </p:nvSpPr>
        <p:spPr>
          <a:xfrm>
            <a:off x="864171" y="4279031"/>
            <a:ext cx="4195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공식의 네 칸 = 어디 · 무엇 · 지금 · 바꿀 모습.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마지막 "다른 건 바꾸지 마"는 매번 붙여요!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9"/>
          <p:cNvSpPr/>
          <p:nvPr/>
        </p:nvSpPr>
        <p:spPr>
          <a:xfrm>
            <a:off x="496119" y="342602"/>
            <a:ext cx="8151763" cy="400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다듬기 메뉴판 +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계획 모드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9"/>
          <p:cNvSpPr/>
          <p:nvPr/>
        </p:nvSpPr>
        <p:spPr>
          <a:xfrm>
            <a:off x="496119" y="983531"/>
            <a:ext cx="1018952" cy="705520"/>
          </a:xfrm>
          <a:prstGeom prst="roundRect">
            <a:avLst>
              <a:gd fmla="val 259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9"/>
          <p:cNvSpPr/>
          <p:nvPr/>
        </p:nvSpPr>
        <p:spPr>
          <a:xfrm>
            <a:off x="919758" y="1228948"/>
            <a:ext cx="171673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9"/>
          <p:cNvSpPr/>
          <p:nvPr/>
        </p:nvSpPr>
        <p:spPr>
          <a:xfrm>
            <a:off x="1637109" y="1105570"/>
            <a:ext cx="6888733" cy="19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제목 · 알림 문구 바꾸기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9"/>
          <p:cNvSpPr/>
          <p:nvPr/>
        </p:nvSpPr>
        <p:spPr>
          <a:xfrm>
            <a:off x="1637109" y="1373163"/>
            <a:ext cx="688873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· 글자 수정 (가장 쉬운 것부터)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9"/>
          <p:cNvSpPr/>
          <p:nvPr/>
        </p:nvSpPr>
        <p:spPr>
          <a:xfrm>
            <a:off x="1576090" y="1683097"/>
            <a:ext cx="7010772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9"/>
          <p:cNvSpPr/>
          <p:nvPr/>
        </p:nvSpPr>
        <p:spPr>
          <a:xfrm>
            <a:off x="496119" y="1750070"/>
            <a:ext cx="2037904" cy="705520"/>
          </a:xfrm>
          <a:prstGeom prst="roundRect">
            <a:avLst>
              <a:gd fmla="val 259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9"/>
          <p:cNvSpPr/>
          <p:nvPr/>
        </p:nvSpPr>
        <p:spPr>
          <a:xfrm>
            <a:off x="1429196" y="1995488"/>
            <a:ext cx="171673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9"/>
          <p:cNvSpPr/>
          <p:nvPr/>
        </p:nvSpPr>
        <p:spPr>
          <a:xfrm>
            <a:off x="2656061" y="1872109"/>
            <a:ext cx="5869781" cy="19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⭐⭐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되물음 강조 · 화살표 키우기 · 휴대폰 가로 스크롤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9"/>
          <p:cNvSpPr/>
          <p:nvPr/>
        </p:nvSpPr>
        <p:spPr>
          <a:xfrm>
            <a:off x="2656061" y="2139702"/>
            <a:ext cx="586978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컴포넌트 스타일 수정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9"/>
          <p:cNvSpPr/>
          <p:nvPr/>
        </p:nvSpPr>
        <p:spPr>
          <a:xfrm>
            <a:off x="2595042" y="2449637"/>
            <a:ext cx="5991820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49"/>
          <p:cNvSpPr/>
          <p:nvPr/>
        </p:nvSpPr>
        <p:spPr>
          <a:xfrm>
            <a:off x="496119" y="2516609"/>
            <a:ext cx="3056855" cy="705520"/>
          </a:xfrm>
          <a:prstGeom prst="roundRect">
            <a:avLst>
              <a:gd fmla="val 259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9"/>
          <p:cNvSpPr/>
          <p:nvPr/>
        </p:nvSpPr>
        <p:spPr>
          <a:xfrm>
            <a:off x="1938710" y="2762027"/>
            <a:ext cx="171673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9"/>
          <p:cNvSpPr/>
          <p:nvPr/>
        </p:nvSpPr>
        <p:spPr>
          <a:xfrm>
            <a:off x="3675013" y="2638648"/>
            <a:ext cx="4850829" cy="19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⭐⭐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우리 팀 아이템으로 질문 · 답 1개 추가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9"/>
          <p:cNvSpPr/>
          <p:nvPr/>
        </p:nvSpPr>
        <p:spPr>
          <a:xfrm>
            <a:off x="3675013" y="2906241"/>
            <a:ext cx="485082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추가 + 연결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9"/>
          <p:cNvSpPr/>
          <p:nvPr/>
        </p:nvSpPr>
        <p:spPr>
          <a:xfrm>
            <a:off x="3613993" y="3216176"/>
            <a:ext cx="4972869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9"/>
          <p:cNvSpPr/>
          <p:nvPr/>
        </p:nvSpPr>
        <p:spPr>
          <a:xfrm>
            <a:off x="496119" y="3283148"/>
            <a:ext cx="4075881" cy="899368"/>
          </a:xfrm>
          <a:prstGeom prst="roundRect">
            <a:avLst>
              <a:gd fmla="val 203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9"/>
          <p:cNvSpPr/>
          <p:nvPr/>
        </p:nvSpPr>
        <p:spPr>
          <a:xfrm>
            <a:off x="2448223" y="3625528"/>
            <a:ext cx="171673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9"/>
          <p:cNvSpPr/>
          <p:nvPr/>
        </p:nvSpPr>
        <p:spPr>
          <a:xfrm>
            <a:off x="4694039" y="3405188"/>
            <a:ext cx="3831803" cy="19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⭐⭐⭐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입력창 데모 답 카드 → </a:t>
            </a:r>
            <a:r>
              <a:rPr b="1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계획 모드 먼저!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9"/>
          <p:cNvSpPr/>
          <p:nvPr/>
        </p:nvSpPr>
        <p:spPr>
          <a:xfrm>
            <a:off x="4694039" y="3672780"/>
            <a:ext cx="3831803" cy="38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"입력창에 글을 보내면 타임라인 맨 아래에 질문 카드, 1초 뒤 답 카드가 나오게. 계획만 먼저 보여 줘."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9"/>
          <p:cNvSpPr/>
          <p:nvPr/>
        </p:nvSpPr>
        <p:spPr>
          <a:xfrm>
            <a:off x="496119" y="4317727"/>
            <a:ext cx="8151763" cy="483171"/>
          </a:xfrm>
          <a:prstGeom prst="roundRect">
            <a:avLst>
              <a:gd fmla="val 379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3" name="Google Shape;9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58" y="4490219"/>
            <a:ext cx="152623" cy="122039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49"/>
          <p:cNvSpPr/>
          <p:nvPr/>
        </p:nvSpPr>
        <p:spPr>
          <a:xfrm>
            <a:off x="892820" y="4468416"/>
            <a:ext cx="809022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파일 2개 이상이 바뀔 것 같은 큰 일 = 계획 모드. 벽을 허물기 전에 설계도부터! → 계획 OK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매번 묻기로 돌아와 계획대로 해 줘.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0"/>
          <p:cNvSpPr/>
          <p:nvPr/>
        </p:nvSpPr>
        <p:spPr>
          <a:xfrm>
            <a:off x="496119" y="345058"/>
            <a:ext cx="8151763" cy="3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REM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저장하고 올리기 → 가게가 저절로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50"/>
          <p:cNvSpPr/>
          <p:nvPr/>
        </p:nvSpPr>
        <p:spPr>
          <a:xfrm>
            <a:off x="673447" y="1076102"/>
            <a:ext cx="7974434" cy="378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Consolas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저장하고 올려 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(또는) 바뀐 파일과 내용을 3줄로 보여 주고, 한 일을 알 수 있는 한국어 메시지로 commit · push 해 줘.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0"/>
          <p:cNvSpPr/>
          <p:nvPr/>
        </p:nvSpPr>
        <p:spPr>
          <a:xfrm>
            <a:off x="496119" y="949375"/>
            <a:ext cx="14288" cy="632371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3" name="Google Shape;94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404" y="1708472"/>
            <a:ext cx="5157118" cy="232067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0"/>
          <p:cNvSpPr/>
          <p:nvPr/>
        </p:nvSpPr>
        <p:spPr>
          <a:xfrm>
            <a:off x="2770246" y="1861960"/>
            <a:ext cx="902486" cy="139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변경 요약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0"/>
          <p:cNvSpPr/>
          <p:nvPr/>
        </p:nvSpPr>
        <p:spPr>
          <a:xfrm>
            <a:off x="2770246" y="2041093"/>
            <a:ext cx="902486" cy="10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바뀐 내용 3줄로 요약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0"/>
          <p:cNvSpPr/>
          <p:nvPr/>
        </p:nvSpPr>
        <p:spPr>
          <a:xfrm>
            <a:off x="3662814" y="3547999"/>
            <a:ext cx="907444" cy="139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커밋 확인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0"/>
          <p:cNvSpPr/>
          <p:nvPr/>
        </p:nvSpPr>
        <p:spPr>
          <a:xfrm>
            <a:off x="3662814" y="3727133"/>
            <a:ext cx="907444" cy="217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commit 메시지와 카드 강조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50"/>
          <p:cNvSpPr/>
          <p:nvPr/>
        </p:nvSpPr>
        <p:spPr>
          <a:xfrm>
            <a:off x="4545465" y="1844605"/>
            <a:ext cx="902485" cy="139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푸시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0"/>
          <p:cNvSpPr/>
          <p:nvPr/>
        </p:nvSpPr>
        <p:spPr>
          <a:xfrm>
            <a:off x="4545465" y="2023738"/>
            <a:ext cx="902485" cy="10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원격 저장소로 push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0"/>
          <p:cNvSpPr/>
          <p:nvPr/>
        </p:nvSpPr>
        <p:spPr>
          <a:xfrm>
            <a:off x="5438033" y="3547999"/>
            <a:ext cx="902486" cy="139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배포 확인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0"/>
          <p:cNvSpPr/>
          <p:nvPr/>
        </p:nvSpPr>
        <p:spPr>
          <a:xfrm>
            <a:off x="5438033" y="3727133"/>
            <a:ext cx="902486" cy="217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GitHub→Vercel→새로고침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0"/>
          <p:cNvSpPr/>
          <p:nvPr/>
        </p:nvSpPr>
        <p:spPr>
          <a:xfrm>
            <a:off x="496119" y="4155877"/>
            <a:ext cx="8151763" cy="642491"/>
          </a:xfrm>
          <a:prstGeom prst="roundRect">
            <a:avLst>
              <a:gd fmla="val 276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3" name="Google Shape;95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288" y="4318471"/>
            <a:ext cx="147786" cy="11817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50"/>
          <p:cNvSpPr/>
          <p:nvPr/>
        </p:nvSpPr>
        <p:spPr>
          <a:xfrm>
            <a:off x="880244" y="4298082"/>
            <a:ext cx="7649468" cy="369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Error면? 가게는 </a:t>
            </a:r>
            <a:r>
              <a:rPr b="1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예전 그대로 안전</a:t>
            </a:r>
            <a:r>
              <a:rPr b="0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→ 로그 빨간 줄 복사 → </a:t>
            </a:r>
            <a:r>
              <a:rPr b="0" i="1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"쉽게 설명하고 고쳐 줘"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"오늘의 모든 퍼즐이 맞춰지는 순간!" 휴대폰 새로고침을 팀 모두가 함께 보게 하세요.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1"/>
          <p:cNvSpPr/>
          <p:nvPr/>
        </p:nvSpPr>
        <p:spPr>
          <a:xfrm>
            <a:off x="496119" y="719733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프롬프트 3층 집 — 전체 프롬프트를 어떻게 가져가나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1" name="Google Shape;9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468" y="1369591"/>
            <a:ext cx="1345034" cy="719435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1"/>
          <p:cNvSpPr/>
          <p:nvPr/>
        </p:nvSpPr>
        <p:spPr>
          <a:xfrm>
            <a:off x="2446734" y="1709589"/>
            <a:ext cx="174427" cy="218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1"/>
          <p:cNvSpPr/>
          <p:nvPr/>
        </p:nvSpPr>
        <p:spPr>
          <a:xfrm>
            <a:off x="3330476" y="1493565"/>
            <a:ext cx="519343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3층 · 그때그때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1"/>
          <p:cNvSpPr/>
          <p:nvPr/>
        </p:nvSpPr>
        <p:spPr>
          <a:xfrm>
            <a:off x="3330476" y="1766590"/>
            <a:ext cx="519343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번의 부탁 — 짧게 · 하나만 · 매번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1"/>
          <p:cNvSpPr/>
          <p:nvPr/>
        </p:nvSpPr>
        <p:spPr>
          <a:xfrm>
            <a:off x="3237458" y="2098551"/>
            <a:ext cx="5379467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6" name="Google Shape;96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988" y="2119982"/>
            <a:ext cx="2690068" cy="719435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51"/>
          <p:cNvSpPr/>
          <p:nvPr/>
        </p:nvSpPr>
        <p:spPr>
          <a:xfrm>
            <a:off x="2446734" y="2370683"/>
            <a:ext cx="174427" cy="218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1"/>
          <p:cNvSpPr/>
          <p:nvPr/>
        </p:nvSpPr>
        <p:spPr>
          <a:xfrm>
            <a:off x="4003030" y="2243956"/>
            <a:ext cx="452087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📐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2층 · 설계도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1"/>
          <p:cNvSpPr/>
          <p:nvPr/>
        </p:nvSpPr>
        <p:spPr>
          <a:xfrm>
            <a:off x="4003030" y="2516981"/>
            <a:ext cx="452087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분석.md — 구역 · 흐름 · 데이터. v0 · Claude 모두에게 같은 설계도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1"/>
          <p:cNvSpPr/>
          <p:nvPr/>
        </p:nvSpPr>
        <p:spPr>
          <a:xfrm>
            <a:off x="3910012" y="2848942"/>
            <a:ext cx="4706913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1" name="Google Shape;97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434" y="2870374"/>
            <a:ext cx="4035103" cy="719435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51"/>
          <p:cNvSpPr/>
          <p:nvPr/>
        </p:nvSpPr>
        <p:spPr>
          <a:xfrm>
            <a:off x="2446734" y="3121075"/>
            <a:ext cx="174427" cy="218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51"/>
          <p:cNvSpPr/>
          <p:nvPr/>
        </p:nvSpPr>
        <p:spPr>
          <a:xfrm>
            <a:off x="4675510" y="2994347"/>
            <a:ext cx="38483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🧱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1층 · 늘 그대로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1"/>
          <p:cNvSpPr/>
          <p:nvPr/>
        </p:nvSpPr>
        <p:spPr>
          <a:xfrm>
            <a:off x="4675510" y="3267373"/>
            <a:ext cx="384839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CLAUDE.md — 규칙 · 폴더 지도 · 금지 · 디자인. 대화마다 자동으로 읽힘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51"/>
          <p:cNvSpPr/>
          <p:nvPr/>
        </p:nvSpPr>
        <p:spPr>
          <a:xfrm>
            <a:off x="496119" y="3729335"/>
            <a:ext cx="8151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6" name="Google Shape;976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092" y="390912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51"/>
          <p:cNvSpPr/>
          <p:nvPr/>
        </p:nvSpPr>
        <p:spPr>
          <a:xfrm>
            <a:off x="899071" y="3884265"/>
            <a:ext cx="7624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스킬(vibe-class-coach)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은 이 집 전체를 감싸는 본사 매뉴얼. 프롬프트를 매번 길게 쓰는 게 아니에요. </a:t>
            </a:r>
            <a:b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변하지 않는 건 파일에 한 번(1·2층), 그때그때 바뀌는 것만 짧게(3층).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3" name="Google Shape;98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52"/>
          <p:cNvSpPr/>
          <p:nvPr/>
        </p:nvSpPr>
        <p:spPr>
          <a:xfrm>
            <a:off x="496119" y="347514"/>
            <a:ext cx="4722763" cy="3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EM"/>
              <a:buNone/>
            </a:pPr>
            <a:r>
              <a:rPr b="0" i="0" lang="ko-KR" sz="1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🪞</a:t>
            </a: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닫기 — 오늘 우리가 만든 개발실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5" name="Google Shape;98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788789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52"/>
          <p:cNvSpPr/>
          <p:nvPr/>
        </p:nvSpPr>
        <p:spPr>
          <a:xfrm>
            <a:off x="4312044" y="2130749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확인·저장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2"/>
          <p:cNvSpPr/>
          <p:nvPr/>
        </p:nvSpPr>
        <p:spPr>
          <a:xfrm>
            <a:off x="3414322" y="2130749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말로 부탁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2"/>
          <p:cNvSpPr/>
          <p:nvPr/>
        </p:nvSpPr>
        <p:spPr>
          <a:xfrm>
            <a:off x="2521479" y="2130749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Claude 세팅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2"/>
          <p:cNvSpPr/>
          <p:nvPr/>
        </p:nvSpPr>
        <p:spPr>
          <a:xfrm>
            <a:off x="1628635" y="2130749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GitHub 버튼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2"/>
          <p:cNvSpPr/>
          <p:nvPr/>
        </p:nvSpPr>
        <p:spPr>
          <a:xfrm>
            <a:off x="716276" y="2130749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뼈대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1" name="Google Shape;99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649513"/>
            <a:ext cx="1121643" cy="1591866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52"/>
          <p:cNvSpPr/>
          <p:nvPr/>
        </p:nvSpPr>
        <p:spPr>
          <a:xfrm>
            <a:off x="997558" y="2723629"/>
            <a:ext cx="118616" cy="148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2"/>
          <p:cNvSpPr/>
          <p:nvPr/>
        </p:nvSpPr>
        <p:spPr>
          <a:xfrm>
            <a:off x="609228" y="3044800"/>
            <a:ext cx="895424" cy="313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저장하고 올리기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52"/>
          <p:cNvSpPr/>
          <p:nvPr/>
        </p:nvSpPr>
        <p:spPr>
          <a:xfrm>
            <a:off x="609228" y="3405634"/>
            <a:ext cx="895424" cy="29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저장하고 올려 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5" name="Google Shape;995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6492" y="2649513"/>
            <a:ext cx="1121643" cy="1591866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52"/>
          <p:cNvSpPr/>
          <p:nvPr/>
        </p:nvSpPr>
        <p:spPr>
          <a:xfrm>
            <a:off x="2197931" y="2723629"/>
            <a:ext cx="118616" cy="148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2"/>
          <p:cNvSpPr/>
          <p:nvPr/>
        </p:nvSpPr>
        <p:spPr>
          <a:xfrm>
            <a:off x="1809601" y="3044800"/>
            <a:ext cx="895424" cy="46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CLAUDE.md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2"/>
          <p:cNvSpPr/>
          <p:nvPr/>
        </p:nvSpPr>
        <p:spPr>
          <a:xfrm>
            <a:off x="1809601" y="3560043"/>
            <a:ext cx="895424" cy="568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한 일 3줄 + 다음 할 일 3개를 CLAUDE.md 맨 아래에 적어 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9" name="Google Shape;99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6865" y="2649513"/>
            <a:ext cx="1121643" cy="1591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52"/>
          <p:cNvSpPr/>
          <p:nvPr/>
        </p:nvSpPr>
        <p:spPr>
          <a:xfrm>
            <a:off x="3398304" y="2723629"/>
            <a:ext cx="118616" cy="148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2"/>
          <p:cNvSpPr/>
          <p:nvPr/>
        </p:nvSpPr>
        <p:spPr>
          <a:xfrm>
            <a:off x="3009974" y="3044800"/>
            <a:ext cx="895424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서버 끄기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2"/>
          <p:cNvSpPr/>
          <p:nvPr/>
        </p:nvSpPr>
        <p:spPr>
          <a:xfrm>
            <a:off x="3009974" y="3251225"/>
            <a:ext cx="895424" cy="284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"개발 서버 꺼 줘." → 세션 닫기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3" name="Google Shape;1003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7238" y="2649513"/>
            <a:ext cx="1121643" cy="1591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52"/>
          <p:cNvSpPr/>
          <p:nvPr/>
        </p:nvSpPr>
        <p:spPr>
          <a:xfrm>
            <a:off x="4598677" y="2723629"/>
            <a:ext cx="118616" cy="148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2"/>
          <p:cNvSpPr/>
          <p:nvPr/>
        </p:nvSpPr>
        <p:spPr>
          <a:xfrm>
            <a:off x="4210348" y="3044800"/>
            <a:ext cx="895424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🪞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회고 한 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2"/>
          <p:cNvSpPr/>
          <p:nvPr/>
        </p:nvSpPr>
        <p:spPr>
          <a:xfrm>
            <a:off x="4210348" y="3251225"/>
            <a:ext cx="895424" cy="426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"바이브 코딩에서 사람이 하는 일은 _______ 이다"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52"/>
          <p:cNvSpPr/>
          <p:nvPr/>
        </p:nvSpPr>
        <p:spPr>
          <a:xfrm>
            <a:off x="644351" y="4418484"/>
            <a:ext cx="4574530" cy="28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"오늘 여러분은 코드를 한 줄도 직접 안 썼어요. </a:t>
            </a:r>
            <a:r>
              <a:rPr b="1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대신 설계도를 그리고, 규칙서를 쓰고, 하나씩 부탁하고, 허락하고, 눈으로 확인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했어요. 다음 시간엔 폴더 열고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/vibe-class-coach 시작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한 마디면 바로 이어서 시작이에요."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2"/>
          <p:cNvSpPr/>
          <p:nvPr/>
        </p:nvSpPr>
        <p:spPr>
          <a:xfrm>
            <a:off x="496119" y="4329931"/>
            <a:ext cx="14288" cy="465981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